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7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52722E-0D19-4997-AADE-EEDB13BB53B8}" v="21" dt="2025-12-03T10:55:28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5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d, Amrita" userId="3e44ea28-c1bf-4e05-9792-b9013f630cc0" providerId="ADAL" clId="{8F07ED04-B9A2-4C0D-9575-B8E0488EB9DD}"/>
    <pc:docChg chg="undo custSel modSld">
      <pc:chgData name="Prasad, Amrita" userId="3e44ea28-c1bf-4e05-9792-b9013f630cc0" providerId="ADAL" clId="{8F07ED04-B9A2-4C0D-9575-B8E0488EB9DD}" dt="2025-03-26T23:32:32.305" v="11" actId="22"/>
      <pc:docMkLst>
        <pc:docMk/>
      </pc:docMkLst>
      <pc:sldChg chg="addSp delSp modSp mod">
        <pc:chgData name="Prasad, Amrita" userId="3e44ea28-c1bf-4e05-9792-b9013f630cc0" providerId="ADAL" clId="{8F07ED04-B9A2-4C0D-9575-B8E0488EB9DD}" dt="2025-03-26T23:32:32.305" v="11" actId="22"/>
        <pc:sldMkLst>
          <pc:docMk/>
          <pc:sldMk cId="2199062608" sldId="257"/>
        </pc:sldMkLst>
      </pc:sldChg>
    </pc:docChg>
  </pc:docChgLst>
  <pc:docChgLst>
    <pc:chgData name="Prasad, Amrita" userId="3e44ea28-c1bf-4e05-9792-b9013f630cc0" providerId="ADAL" clId="{D5FCD9AB-9B08-41F7-898D-21ABAB897DD1}"/>
    <pc:docChg chg="undo custSel modSld">
      <pc:chgData name="Prasad, Amrita" userId="3e44ea28-c1bf-4e05-9792-b9013f630cc0" providerId="ADAL" clId="{D5FCD9AB-9B08-41F7-898D-21ABAB897DD1}" dt="2025-12-03T10:56:20.285" v="223" actId="13926"/>
      <pc:docMkLst>
        <pc:docMk/>
      </pc:docMkLst>
      <pc:sldChg chg="addSp delSp modSp mod">
        <pc:chgData name="Prasad, Amrita" userId="3e44ea28-c1bf-4e05-9792-b9013f630cc0" providerId="ADAL" clId="{D5FCD9AB-9B08-41F7-898D-21ABAB897DD1}" dt="2025-12-03T10:56:20.285" v="223" actId="13926"/>
        <pc:sldMkLst>
          <pc:docMk/>
          <pc:sldMk cId="2199062608" sldId="257"/>
        </pc:sldMkLst>
        <pc:spChg chg="mod">
          <ac:chgData name="Prasad, Amrita" userId="3e44ea28-c1bf-4e05-9792-b9013f630cc0" providerId="ADAL" clId="{D5FCD9AB-9B08-41F7-898D-21ABAB897DD1}" dt="2025-12-03T10:56:20.285" v="223" actId="13926"/>
          <ac:spMkLst>
            <pc:docMk/>
            <pc:sldMk cId="2199062608" sldId="257"/>
            <ac:spMk id="10" creationId="{FB58399B-CAAB-4C32-FB47-3F78610224D6}"/>
          </ac:spMkLst>
        </pc:spChg>
        <pc:spChg chg="mod">
          <ac:chgData name="Prasad, Amrita" userId="3e44ea28-c1bf-4e05-9792-b9013f630cc0" providerId="ADAL" clId="{D5FCD9AB-9B08-41F7-898D-21ABAB897DD1}" dt="2025-12-03T10:48:37.205" v="27" actId="14100"/>
          <ac:spMkLst>
            <pc:docMk/>
            <pc:sldMk cId="2199062608" sldId="257"/>
            <ac:spMk id="23" creationId="{9B944D5C-A83B-C3A3-969F-46D6932BF8F4}"/>
          </ac:spMkLst>
        </pc:spChg>
        <pc:picChg chg="add mod">
          <ac:chgData name="Prasad, Amrita" userId="3e44ea28-c1bf-4e05-9792-b9013f630cc0" providerId="ADAL" clId="{D5FCD9AB-9B08-41F7-898D-21ABAB897DD1}" dt="2025-12-03T10:48:33.621" v="26" actId="1076"/>
          <ac:picMkLst>
            <pc:docMk/>
            <pc:sldMk cId="2199062608" sldId="257"/>
            <ac:picMk id="11" creationId="{05CBA955-376B-27DF-C044-7E1EA9F9B313}"/>
          </ac:picMkLst>
        </pc:picChg>
        <pc:picChg chg="del">
          <ac:chgData name="Prasad, Amrita" userId="3e44ea28-c1bf-4e05-9792-b9013f630cc0" providerId="ADAL" clId="{D5FCD9AB-9B08-41F7-898D-21ABAB897DD1}" dt="2025-12-03T10:45:16.405" v="0" actId="478"/>
          <ac:picMkLst>
            <pc:docMk/>
            <pc:sldMk cId="2199062608" sldId="257"/>
            <ac:picMk id="12" creationId="{C2E6BD7A-D3AF-201C-AF2E-CF59A75897E9}"/>
          </ac:picMkLst>
        </pc:picChg>
      </pc:sldChg>
    </pc:docChg>
  </pc:docChgLst>
  <pc:docChgLst>
    <pc:chgData name="Prasad, Amrita" userId="3e44ea28-c1bf-4e05-9792-b9013f630cc0" providerId="ADAL" clId="{1E4C6211-D813-4132-9FEB-2D33798058B7}"/>
    <pc:docChg chg="undo redo custSel modSld">
      <pc:chgData name="Prasad, Amrita" userId="3e44ea28-c1bf-4e05-9792-b9013f630cc0" providerId="ADAL" clId="{1E4C6211-D813-4132-9FEB-2D33798058B7}" dt="2025-03-30T21:49:41.221" v="44" actId="113"/>
      <pc:docMkLst>
        <pc:docMk/>
      </pc:docMkLst>
      <pc:sldChg chg="modSp mod">
        <pc:chgData name="Prasad, Amrita" userId="3e44ea28-c1bf-4e05-9792-b9013f630cc0" providerId="ADAL" clId="{1E4C6211-D813-4132-9FEB-2D33798058B7}" dt="2025-03-30T21:49:41.221" v="44" actId="113"/>
        <pc:sldMkLst>
          <pc:docMk/>
          <pc:sldMk cId="2199062608" sldId="257"/>
        </pc:sldMkLst>
      </pc:sldChg>
    </pc:docChg>
  </pc:docChgLst>
  <pc:docChgLst>
    <pc:chgData name="Prasad, Amrita" userId="3e44ea28-c1bf-4e05-9792-b9013f630cc0" providerId="ADAL" clId="{A4D3389C-73B7-473A-A4AF-48D4FF9AB1F6}"/>
    <pc:docChg chg="undo redo custSel modSld">
      <pc:chgData name="Prasad, Amrita" userId="3e44ea28-c1bf-4e05-9792-b9013f630cc0" providerId="ADAL" clId="{A4D3389C-73B7-473A-A4AF-48D4FF9AB1F6}" dt="2025-03-26T23:46:04.544" v="203" actId="20577"/>
      <pc:docMkLst>
        <pc:docMk/>
      </pc:docMkLst>
      <pc:sldChg chg="addSp delSp modSp mod">
        <pc:chgData name="Prasad, Amrita" userId="3e44ea28-c1bf-4e05-9792-b9013f630cc0" providerId="ADAL" clId="{A4D3389C-73B7-473A-A4AF-48D4FF9AB1F6}" dt="2025-03-26T23:46:04.544" v="203" actId="20577"/>
        <pc:sldMkLst>
          <pc:docMk/>
          <pc:sldMk cId="2199062608" sldId="257"/>
        </pc:sldMkLst>
      </pc:sldChg>
    </pc:docChg>
  </pc:docChgLst>
  <pc:docChgLst>
    <pc:chgData name="Prasad, Amrita" userId="3e44ea28-c1bf-4e05-9792-b9013f630cc0" providerId="ADAL" clId="{496505A6-6C19-4AAB-A6D9-0D8B931885F9}"/>
    <pc:docChg chg="undo redo custSel delSld modSld modMainMaster">
      <pc:chgData name="Prasad, Amrita" userId="3e44ea28-c1bf-4e05-9792-b9013f630cc0" providerId="ADAL" clId="{496505A6-6C19-4AAB-A6D9-0D8B931885F9}" dt="2024-11-20T23:01:55.392" v="844" actId="20577"/>
      <pc:docMkLst>
        <pc:docMk/>
      </pc:docMkLst>
      <pc:sldChg chg="del">
        <pc:chgData name="Prasad, Amrita" userId="3e44ea28-c1bf-4e05-9792-b9013f630cc0" providerId="ADAL" clId="{496505A6-6C19-4AAB-A6D9-0D8B931885F9}" dt="2024-11-20T19:45:03.367" v="0" actId="2696"/>
        <pc:sldMkLst>
          <pc:docMk/>
          <pc:sldMk cId="3530408724" sldId="256"/>
        </pc:sldMkLst>
      </pc:sldChg>
      <pc:sldChg chg="addSp delSp modSp mod">
        <pc:chgData name="Prasad, Amrita" userId="3e44ea28-c1bf-4e05-9792-b9013f630cc0" providerId="ADAL" clId="{496505A6-6C19-4AAB-A6D9-0D8B931885F9}" dt="2024-11-20T23:01:55.392" v="844" actId="20577"/>
        <pc:sldMkLst>
          <pc:docMk/>
          <pc:sldMk cId="2199062608" sldId="257"/>
        </pc:sldMkLst>
      </pc:sldChg>
      <pc:sldMasterChg chg="modSp modSldLayout">
        <pc:chgData name="Prasad, Amrita" userId="3e44ea28-c1bf-4e05-9792-b9013f630cc0" providerId="ADAL" clId="{496505A6-6C19-4AAB-A6D9-0D8B931885F9}" dt="2024-11-20T21:22:23.099" v="8"/>
        <pc:sldMasterMkLst>
          <pc:docMk/>
          <pc:sldMasterMk cId="691473177" sldId="2147483648"/>
        </pc:sldMasterMkLst>
        <pc:sldLayoutChg chg="modSp">
          <pc:chgData name="Prasad, Amrita" userId="3e44ea28-c1bf-4e05-9792-b9013f630cc0" providerId="ADAL" clId="{496505A6-6C19-4AAB-A6D9-0D8B931885F9}" dt="2024-11-20T21:22:23.099" v="8"/>
          <pc:sldLayoutMkLst>
            <pc:docMk/>
            <pc:sldMasterMk cId="691473177" sldId="2147483648"/>
            <pc:sldLayoutMk cId="3932702364" sldId="2147483649"/>
          </pc:sldLayoutMkLst>
        </pc:sldLayoutChg>
        <pc:sldLayoutChg chg="modSp">
          <pc:chgData name="Prasad, Amrita" userId="3e44ea28-c1bf-4e05-9792-b9013f630cc0" providerId="ADAL" clId="{496505A6-6C19-4AAB-A6D9-0D8B931885F9}" dt="2024-11-20T21:22:23.099" v="8"/>
          <pc:sldLayoutMkLst>
            <pc:docMk/>
            <pc:sldMasterMk cId="691473177" sldId="2147483648"/>
            <pc:sldLayoutMk cId="1925652484" sldId="2147483651"/>
          </pc:sldLayoutMkLst>
        </pc:sldLayoutChg>
        <pc:sldLayoutChg chg="modSp">
          <pc:chgData name="Prasad, Amrita" userId="3e44ea28-c1bf-4e05-9792-b9013f630cc0" providerId="ADAL" clId="{496505A6-6C19-4AAB-A6D9-0D8B931885F9}" dt="2024-11-20T21:22:23.099" v="8"/>
          <pc:sldLayoutMkLst>
            <pc:docMk/>
            <pc:sldMasterMk cId="691473177" sldId="2147483648"/>
            <pc:sldLayoutMk cId="1528364158" sldId="2147483652"/>
          </pc:sldLayoutMkLst>
        </pc:sldLayoutChg>
        <pc:sldLayoutChg chg="modSp">
          <pc:chgData name="Prasad, Amrita" userId="3e44ea28-c1bf-4e05-9792-b9013f630cc0" providerId="ADAL" clId="{496505A6-6C19-4AAB-A6D9-0D8B931885F9}" dt="2024-11-20T21:22:23.099" v="8"/>
          <pc:sldLayoutMkLst>
            <pc:docMk/>
            <pc:sldMasterMk cId="691473177" sldId="2147483648"/>
            <pc:sldLayoutMk cId="2967235637" sldId="2147483653"/>
          </pc:sldLayoutMkLst>
        </pc:sldLayoutChg>
        <pc:sldLayoutChg chg="modSp">
          <pc:chgData name="Prasad, Amrita" userId="3e44ea28-c1bf-4e05-9792-b9013f630cc0" providerId="ADAL" clId="{496505A6-6C19-4AAB-A6D9-0D8B931885F9}" dt="2024-11-20T21:22:23.099" v="8"/>
          <pc:sldLayoutMkLst>
            <pc:docMk/>
            <pc:sldMasterMk cId="691473177" sldId="2147483648"/>
            <pc:sldLayoutMk cId="1203476192" sldId="2147483656"/>
          </pc:sldLayoutMkLst>
        </pc:sldLayoutChg>
        <pc:sldLayoutChg chg="modSp">
          <pc:chgData name="Prasad, Amrita" userId="3e44ea28-c1bf-4e05-9792-b9013f630cc0" providerId="ADAL" clId="{496505A6-6C19-4AAB-A6D9-0D8B931885F9}" dt="2024-11-20T21:22:23.099" v="8"/>
          <pc:sldLayoutMkLst>
            <pc:docMk/>
            <pc:sldMasterMk cId="691473177" sldId="2147483648"/>
            <pc:sldLayoutMk cId="2028655872" sldId="2147483657"/>
          </pc:sldLayoutMkLst>
        </pc:sldLayoutChg>
        <pc:sldLayoutChg chg="modSp">
          <pc:chgData name="Prasad, Amrita" userId="3e44ea28-c1bf-4e05-9792-b9013f630cc0" providerId="ADAL" clId="{496505A6-6C19-4AAB-A6D9-0D8B931885F9}" dt="2024-11-20T21:22:23.099" v="8"/>
          <pc:sldLayoutMkLst>
            <pc:docMk/>
            <pc:sldMasterMk cId="691473177" sldId="2147483648"/>
            <pc:sldLayoutMk cId="2417502509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A7824-D43C-4DBF-990F-734BD913A73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1EA71-4C59-48E2-8E91-0AC78D4B4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86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79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E42D-4EF6-6CC4-B671-BBBAE9F4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C6497-1C1B-210A-F77B-E8732DEF0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48C18-DD2E-6305-5567-4AC45BCD6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8EE58-E1A7-DC94-D0FA-A14D45C19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29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2332-84ED-B5CE-E608-ED194649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8840A-6A7C-4B52-4D47-C46647BD4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E4BBF-7D61-8394-6DC2-F63B5E84C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A0E80-7361-CF3A-4271-A9FF6DD04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43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1B835-935B-796E-00E4-CB1EA072D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C4FAA-50A9-DCE3-FA44-A2B6C85F3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59E68-3E3E-51B6-DE8E-6F1349A7C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7082B-617E-C4E9-2548-5B16FBC04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28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15BF-9A09-D86B-7358-5267EA1A8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CF7DB-8497-CC8E-1D0A-35C0026DD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901AA-0195-72D5-A72F-6F04218AB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B7BFD-DBFB-6F5B-8343-0AB3677CE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38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35B9-D918-03BA-D021-B2794552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D042D-1393-8B15-E1D8-F3581EB70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88BB1-C151-2AC2-BF05-A8319F0D9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4EFBB-39A2-7D33-AE62-F091A402A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18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B7F79-3446-4A08-DFE2-DDF252F0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80F53-F387-142D-BCB8-6AABBA2A3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5CC94-90DB-1BE4-B3FA-952BFA37B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68057-8967-6E31-CB8C-64A6EE469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29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4C167-C2FC-9517-3717-783EC947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6C497-E915-7E09-7DCC-70B0B16A7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B671B-A5F4-FBAD-086F-50B869FA4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4F01E-6D03-2497-9A96-078D7B1B3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20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BA82F-0468-189A-CA36-95179CDF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F7621-C4EF-2816-2A42-D037BE040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43806-CF14-D8FF-AA64-0B689F110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5 – Use Cases Overview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Use Case 1 – Wildfires</a:t>
            </a:r>
            <a:endParaRPr lang="en-US" dirty="0"/>
          </a:p>
          <a:p>
            <a:r>
              <a:rPr lang="en-US" dirty="0"/>
              <a:t>Detect fires &amp; map risk</a:t>
            </a:r>
          </a:p>
          <a:p>
            <a:r>
              <a:rPr lang="en-US" dirty="0"/>
              <a:t>Predict spread &amp; intensity</a:t>
            </a:r>
          </a:p>
          <a:p>
            <a:r>
              <a:rPr lang="en-US" b="1" dirty="0"/>
              <a:t>Use Case 2 – Mental Health via Mobile Sensing</a:t>
            </a:r>
            <a:endParaRPr lang="en-US" dirty="0"/>
          </a:p>
          <a:p>
            <a:r>
              <a:rPr lang="en-US" dirty="0"/>
              <a:t>Predict depression/PTSD symptom severity</a:t>
            </a:r>
          </a:p>
          <a:p>
            <a:r>
              <a:rPr lang="en-US" dirty="0"/>
              <a:t>Monitor behavior changes over time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why both were chosen:</a:t>
            </a:r>
          </a:p>
          <a:p>
            <a:pPr lvl="1"/>
            <a:r>
              <a:rPr lang="en-US" dirty="0"/>
              <a:t>Wildfires: tangible physical risk, climate, public safety. </a:t>
            </a:r>
          </a:p>
          <a:p>
            <a:pPr lvl="1"/>
            <a:r>
              <a:rPr lang="en-US" dirty="0"/>
              <a:t>Mental health: growing global burden, hard to detect early, mobile devices as scalable sensors. </a:t>
            </a:r>
          </a:p>
          <a:p>
            <a:r>
              <a:rPr lang="en-US" dirty="0"/>
              <a:t>Highlight: both use </a:t>
            </a:r>
            <a:r>
              <a:rPr lang="en-US" b="1" dirty="0"/>
              <a:t>large-scale, real-world data</a:t>
            </a:r>
            <a:r>
              <a:rPr lang="en-US" dirty="0"/>
              <a:t> and </a:t>
            </a:r>
            <a:r>
              <a:rPr lang="en-US" b="1" dirty="0"/>
              <a:t>ML models</a:t>
            </a:r>
            <a:r>
              <a:rPr lang="en-US" dirty="0"/>
              <a:t> to find patterns humans can’t see easily.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02_problem_definitions.md (or a markdown within repo)</a:t>
            </a:r>
          </a:p>
          <a:p>
            <a:pPr lvl="1"/>
            <a:r>
              <a:rPr lang="en-US" dirty="0"/>
              <a:t>Clear formulation: classification, regression, forecasting tasks for each use case</a:t>
            </a:r>
          </a:p>
          <a:p>
            <a:pPr lvl="1"/>
            <a:r>
              <a:rPr lang="en-US" dirty="0"/>
              <a:t>Definitions of targets/labels and evaluation metrics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Wildfires Section</a:t>
            </a:r>
          </a:p>
          <a:p>
            <a:r>
              <a:rPr lang="en-US" b="1" dirty="0"/>
              <a:t>Slide 6 – Wildfires: Problem Framing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Key questions:</a:t>
            </a:r>
          </a:p>
          <a:p>
            <a:pPr lvl="1"/>
            <a:r>
              <a:rPr lang="en-US" dirty="0"/>
              <a:t>Where are fires likely to start?</a:t>
            </a:r>
          </a:p>
          <a:p>
            <a:pPr lvl="1"/>
            <a:r>
              <a:rPr lang="en-US" dirty="0"/>
              <a:t>How fast and where will they spread?</a:t>
            </a:r>
          </a:p>
          <a:p>
            <a:pPr lvl="1"/>
            <a:r>
              <a:rPr lang="en-US" dirty="0"/>
              <a:t>Which areas are high risk?</a:t>
            </a:r>
          </a:p>
          <a:p>
            <a:r>
              <a:rPr lang="en-US" dirty="0"/>
              <a:t>AI helps with:</a:t>
            </a:r>
          </a:p>
          <a:p>
            <a:pPr lvl="1"/>
            <a:r>
              <a:rPr lang="en-US" dirty="0"/>
              <a:t>Detection</a:t>
            </a:r>
          </a:p>
          <a:p>
            <a:pPr lvl="1"/>
            <a:r>
              <a:rPr lang="en-US" dirty="0"/>
              <a:t>Spread prediction</a:t>
            </a:r>
          </a:p>
          <a:p>
            <a:pPr lvl="1"/>
            <a:r>
              <a:rPr lang="en-US" dirty="0"/>
              <a:t>Risk/susceptibility mapping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Describe a real scenario: policymakers, firefighters, insurance companies all need </a:t>
            </a:r>
            <a:r>
              <a:rPr lang="en-US" i="1" dirty="0"/>
              <a:t>probabilistic</a:t>
            </a:r>
            <a:r>
              <a:rPr lang="en-US" dirty="0"/>
              <a:t> insights.</a:t>
            </a:r>
          </a:p>
          <a:p>
            <a:r>
              <a:rPr lang="en-US" dirty="0"/>
              <a:t>Clarify problem types:</a:t>
            </a:r>
          </a:p>
          <a:p>
            <a:pPr lvl="1"/>
            <a:r>
              <a:rPr lang="en-US" b="1" dirty="0"/>
              <a:t>Detection:</a:t>
            </a:r>
            <a:r>
              <a:rPr lang="en-US" dirty="0"/>
              <a:t> image-based classification (smoke/flame vs no fire).</a:t>
            </a:r>
          </a:p>
          <a:p>
            <a:pPr lvl="1"/>
            <a:r>
              <a:rPr lang="en-US" b="1" dirty="0"/>
              <a:t>Risk mapping:</a:t>
            </a:r>
            <a:r>
              <a:rPr lang="en-US" dirty="0"/>
              <a:t> supervised learning on grids/pixels with features (weather, vegetation, topography).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10_wildfire_problem_setup.ipynb</a:t>
            </a:r>
          </a:p>
          <a:p>
            <a:pPr lvl="1"/>
            <a:r>
              <a:rPr lang="en-US" dirty="0"/>
              <a:t>Define label columns: </a:t>
            </a:r>
            <a:r>
              <a:rPr lang="en-US" dirty="0" err="1"/>
              <a:t>fire_occurred</a:t>
            </a:r>
            <a:r>
              <a:rPr lang="en-US" dirty="0"/>
              <a:t>, </a:t>
            </a:r>
            <a:r>
              <a:rPr lang="en-US" dirty="0" err="1"/>
              <a:t>burned_area</a:t>
            </a:r>
            <a:r>
              <a:rPr lang="en-US" dirty="0"/>
              <a:t>, </a:t>
            </a:r>
            <a:r>
              <a:rPr lang="en-US" dirty="0" err="1"/>
              <a:t>risk_score</a:t>
            </a:r>
            <a:endParaRPr lang="en-US" dirty="0"/>
          </a:p>
          <a:p>
            <a:pPr lvl="1"/>
            <a:r>
              <a:rPr lang="en-US" dirty="0"/>
              <a:t>Encode problem types: binary classification, regression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7 – Wildfire Data Sources &amp; Features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Data Sources (examples)</a:t>
            </a:r>
            <a:r>
              <a:rPr lang="en-US" dirty="0"/>
              <a:t> </a:t>
            </a:r>
          </a:p>
          <a:p>
            <a:r>
              <a:rPr lang="en-US" dirty="0"/>
              <a:t>USGS Combined Wildland Fire Dataset (fire perimeters)</a:t>
            </a:r>
          </a:p>
          <a:p>
            <a:r>
              <a:rPr lang="en-US" dirty="0"/>
              <a:t>NASA FIRMS (VIIRS/MODIS active fire points)</a:t>
            </a:r>
          </a:p>
          <a:p>
            <a:r>
              <a:rPr lang="en-US" dirty="0"/>
              <a:t>Weather data (temperature, wind, humidity)</a:t>
            </a:r>
          </a:p>
          <a:p>
            <a:r>
              <a:rPr lang="en-US" dirty="0"/>
              <a:t>Land cover &amp; terrain (slope, aspect, vegetation)</a:t>
            </a:r>
          </a:p>
          <a:p>
            <a:r>
              <a:rPr lang="en-US" dirty="0"/>
              <a:t>Kaggle / satellite image datasets for fire/smoke detection</a:t>
            </a:r>
          </a:p>
          <a:p>
            <a:r>
              <a:rPr lang="en-US" b="1" dirty="0"/>
              <a:t>Key Feature Types</a:t>
            </a:r>
            <a:endParaRPr lang="en-US" dirty="0"/>
          </a:p>
          <a:p>
            <a:r>
              <a:rPr lang="en-US" dirty="0"/>
              <a:t>Spatial: elevation, slope, distance to roads</a:t>
            </a:r>
          </a:p>
          <a:p>
            <a:r>
              <a:rPr lang="en-US" dirty="0"/>
              <a:t>Temporal: seasonality, drought index, recent rainfall</a:t>
            </a:r>
          </a:p>
          <a:p>
            <a:r>
              <a:rPr lang="en-US" dirty="0"/>
              <a:t>Human: population density, power lines, past fire history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how geospatial + temporal data create a </a:t>
            </a:r>
            <a:r>
              <a:rPr lang="en-US" b="1" dirty="0"/>
              <a:t>feature cube</a:t>
            </a:r>
            <a:r>
              <a:rPr lang="en-US" dirty="0"/>
              <a:t> for each grid cell or image patch.</a:t>
            </a:r>
          </a:p>
          <a:p>
            <a:r>
              <a:rPr lang="en-US" dirty="0"/>
              <a:t>Stress data engineering complexity: reprojection, joining datasets, resampling time and space grids.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11_wildfire_data_ingestion.ipynb</a:t>
            </a:r>
          </a:p>
          <a:p>
            <a:pPr lvl="1"/>
            <a:r>
              <a:rPr lang="en-US" dirty="0"/>
              <a:t>Download/read USGS shapefiles, NASA FIRMS CSVs/</a:t>
            </a:r>
            <a:r>
              <a:rPr lang="en-US" dirty="0" err="1"/>
              <a:t>GeoTIFFs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geopandas</a:t>
            </a:r>
            <a:r>
              <a:rPr lang="en-US" dirty="0"/>
              <a:t> and </a:t>
            </a:r>
            <a:r>
              <a:rPr lang="en-US" dirty="0" err="1"/>
              <a:t>rasterio</a:t>
            </a:r>
            <a:r>
              <a:rPr lang="en-US" dirty="0"/>
              <a:t> to:</a:t>
            </a:r>
          </a:p>
          <a:p>
            <a:pPr lvl="2"/>
            <a:r>
              <a:rPr lang="en-US" dirty="0"/>
              <a:t>Reproject to common CRS</a:t>
            </a:r>
          </a:p>
          <a:p>
            <a:pPr lvl="2"/>
            <a:r>
              <a:rPr lang="en-US" dirty="0"/>
              <a:t>Clip to region of interest</a:t>
            </a:r>
          </a:p>
          <a:p>
            <a:pPr lvl="2"/>
            <a:r>
              <a:rPr lang="en-US" dirty="0"/>
              <a:t>Rasterize fire perimeters to a grid</a:t>
            </a:r>
          </a:p>
          <a:p>
            <a:r>
              <a:rPr lang="en-US" dirty="0"/>
              <a:t>12_wildfire_feature_engineering.ipynb</a:t>
            </a:r>
          </a:p>
          <a:p>
            <a:pPr lvl="1"/>
            <a:r>
              <a:rPr lang="en-US" dirty="0"/>
              <a:t>Compute:</a:t>
            </a:r>
          </a:p>
          <a:p>
            <a:pPr lvl="2"/>
            <a:r>
              <a:rPr lang="en-US" dirty="0" err="1"/>
              <a:t>days_since_last_fire</a:t>
            </a:r>
            <a:endParaRPr lang="en-US" dirty="0"/>
          </a:p>
          <a:p>
            <a:pPr lvl="2"/>
            <a:r>
              <a:rPr lang="en-US" dirty="0"/>
              <a:t>Rolling mean of temperature/humidity</a:t>
            </a:r>
          </a:p>
          <a:p>
            <a:pPr lvl="2"/>
            <a:r>
              <a:rPr lang="en-US" dirty="0"/>
              <a:t>Vegetation indices (if using multispectral imagery)</a:t>
            </a:r>
          </a:p>
          <a:p>
            <a:pPr lvl="1"/>
            <a:r>
              <a:rPr lang="en-US" dirty="0"/>
              <a:t>Join all features into a single tabular dataset (X) with labels (y).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8 – Wildfire Models &amp; Techniques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Tabular Risk Models</a:t>
            </a:r>
            <a:endParaRPr lang="en-US" dirty="0"/>
          </a:p>
          <a:p>
            <a:r>
              <a:rPr lang="en-US" dirty="0"/>
              <a:t>Algorithms: Logistic Regression, Random Forest, </a:t>
            </a: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r>
              <a:rPr lang="en-US" dirty="0"/>
              <a:t>Task: Predict fire occurrence or risk score per grid cell</a:t>
            </a:r>
          </a:p>
          <a:p>
            <a:r>
              <a:rPr lang="en-US" b="1" dirty="0"/>
              <a:t>Image-based Detection</a:t>
            </a:r>
            <a:endParaRPr lang="en-US" dirty="0"/>
          </a:p>
          <a:p>
            <a:r>
              <a:rPr lang="en-US" dirty="0"/>
              <a:t>CNNs, Vision Transformers, YOLOv5 for smoke/flame detection</a:t>
            </a:r>
          </a:p>
          <a:p>
            <a:r>
              <a:rPr lang="en-US" dirty="0"/>
              <a:t>Task: Fire/no-fire classification on patches or frames</a:t>
            </a:r>
          </a:p>
          <a:p>
            <a:r>
              <a:rPr lang="en-US" b="1" dirty="0"/>
              <a:t>Spread Modeling + ML</a:t>
            </a:r>
            <a:endParaRPr lang="en-US" dirty="0"/>
          </a:p>
          <a:p>
            <a:r>
              <a:rPr lang="en-US" dirty="0"/>
              <a:t>Use physics-based models; ML for post-processing (e.g., </a:t>
            </a:r>
            <a:r>
              <a:rPr lang="en-US" dirty="0" err="1"/>
              <a:t>PostBP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why you start with </a:t>
            </a:r>
            <a:r>
              <a:rPr lang="en-US" b="1" dirty="0"/>
              <a:t>simple models</a:t>
            </a:r>
            <a:r>
              <a:rPr lang="en-US" dirty="0"/>
              <a:t> (logistic regression, Random Forest) and only then move to deep learning.</a:t>
            </a:r>
          </a:p>
          <a:p>
            <a:r>
              <a:rPr lang="en-US" dirty="0"/>
              <a:t>For detection: show how labeled image datasets (Kaggle wildfire datasets, CWGID) are used with CNN-based architectures.</a:t>
            </a:r>
          </a:p>
          <a:p>
            <a:r>
              <a:rPr lang="en-US" dirty="0"/>
              <a:t>Mention trade-offs: accuracy vs interpretability vs computational cost.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20_wildfire_ml_models.ipynb</a:t>
            </a:r>
          </a:p>
          <a:p>
            <a:r>
              <a:rPr lang="en-US" b="1" dirty="0"/>
              <a:t>Tabular part:</a:t>
            </a:r>
            <a:endParaRPr lang="en-US" dirty="0"/>
          </a:p>
          <a:p>
            <a:pPr lvl="1"/>
            <a:r>
              <a:rPr lang="en-US" dirty="0"/>
              <a:t>Train/validation split (by time &amp; space, e.g. train on 2010–2018, test on 2019–2020).</a:t>
            </a:r>
          </a:p>
          <a:p>
            <a:pPr lvl="1"/>
            <a:r>
              <a:rPr lang="en-US" dirty="0"/>
              <a:t>Baseline logistic regression.</a:t>
            </a:r>
          </a:p>
          <a:p>
            <a:pPr lvl="1"/>
            <a:r>
              <a:rPr lang="en-US" dirty="0"/>
              <a:t>Random Forest / </a:t>
            </a:r>
            <a:r>
              <a:rPr lang="en-US" dirty="0" err="1"/>
              <a:t>XGBoost</a:t>
            </a:r>
            <a:r>
              <a:rPr lang="en-US" dirty="0"/>
              <a:t> models with hyperparameter tuning (</a:t>
            </a:r>
            <a:r>
              <a:rPr lang="en-US" dirty="0" err="1"/>
              <a:t>RandomizedSearchCV</a:t>
            </a:r>
            <a:r>
              <a:rPr lang="en-US" dirty="0"/>
              <a:t> / </a:t>
            </a:r>
            <a:r>
              <a:rPr lang="en-US" dirty="0" err="1"/>
              <a:t>Optuna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Feature importance plots.</a:t>
            </a:r>
          </a:p>
          <a:p>
            <a:r>
              <a:rPr lang="en-US" b="1" dirty="0"/>
              <a:t>Image-based part:</a:t>
            </a:r>
            <a:endParaRPr lang="en-US" dirty="0"/>
          </a:p>
          <a:p>
            <a:pPr lvl="1"/>
            <a:r>
              <a:rPr lang="en-US" dirty="0"/>
              <a:t>Load wildfire image dataset (train/</a:t>
            </a:r>
            <a:r>
              <a:rPr lang="en-US" dirty="0" err="1"/>
              <a:t>val</a:t>
            </a:r>
            <a:r>
              <a:rPr lang="en-US" dirty="0"/>
              <a:t>/test folders).</a:t>
            </a:r>
          </a:p>
          <a:p>
            <a:pPr lvl="1"/>
            <a:r>
              <a:rPr lang="en-US" dirty="0"/>
              <a:t>Build a small CNN (or fine-tune a pretrained model).</a:t>
            </a:r>
          </a:p>
          <a:p>
            <a:pPr lvl="1"/>
            <a:r>
              <a:rPr lang="en-US" dirty="0"/>
              <a:t>Data augmentation: random crops, flips, brightness jitter.</a:t>
            </a:r>
          </a:p>
          <a:p>
            <a:pPr lvl="1"/>
            <a:r>
              <a:rPr lang="en-US" dirty="0"/>
              <a:t>Metrics: accuracy, ROC-AUC, confusion matrix, precision-recall.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9 – Wildfires: Evaluation, Explainability &amp; Deployment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Metrics: ROC-AUC, Precision/Recall, F1, PR curves</a:t>
            </a:r>
          </a:p>
          <a:p>
            <a:r>
              <a:rPr lang="en-US" dirty="0"/>
              <a:t>Spatial &amp; temporal generalization: new years / regions</a:t>
            </a:r>
          </a:p>
          <a:p>
            <a:r>
              <a:rPr lang="en-US" b="1" dirty="0"/>
              <a:t>Explainability</a:t>
            </a:r>
            <a:endParaRPr lang="en-US" dirty="0"/>
          </a:p>
          <a:p>
            <a:r>
              <a:rPr lang="en-US" dirty="0"/>
              <a:t>Feature importance, permutation importance</a:t>
            </a:r>
          </a:p>
          <a:p>
            <a:r>
              <a:rPr lang="en-US" dirty="0"/>
              <a:t>SHAP values (risk drivers: wind, vegetation, drought)</a:t>
            </a:r>
          </a:p>
          <a:p>
            <a:r>
              <a:rPr lang="en-US" b="1" dirty="0"/>
              <a:t>Deployment</a:t>
            </a:r>
            <a:endParaRPr lang="en-US" dirty="0"/>
          </a:p>
          <a:p>
            <a:r>
              <a:rPr lang="en-US" dirty="0"/>
              <a:t>Batch risk maps (daily/weekly)</a:t>
            </a:r>
          </a:p>
          <a:p>
            <a:r>
              <a:rPr lang="en-US" dirty="0"/>
              <a:t>API to query risk for coordinates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Highlight the gap between “good offline metrics” and “useful in the field”; e.g., false positives vs false negatives.</a:t>
            </a:r>
          </a:p>
          <a:p>
            <a:r>
              <a:rPr lang="en-US" dirty="0"/>
              <a:t>Explain how SHAP helps communicate to non-technical stakeholders </a:t>
            </a:r>
            <a:r>
              <a:rPr lang="en-US" i="1" dirty="0"/>
              <a:t>why</a:t>
            </a:r>
            <a:r>
              <a:rPr lang="en-US" dirty="0"/>
              <a:t> certain areas are high risk.</a:t>
            </a:r>
          </a:p>
          <a:p>
            <a:r>
              <a:rPr lang="en-US" dirty="0"/>
              <a:t>Briefly mention deployment pattern: scheduled pipeline generates maps → stored in object storage → consumed by dashboards/services.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21_wildfire_evaluation_explainability.ipynb</a:t>
            </a:r>
          </a:p>
          <a:p>
            <a:pPr lvl="1"/>
            <a:r>
              <a:rPr lang="en-US" dirty="0"/>
              <a:t>ROC/PR curves for test set.</a:t>
            </a:r>
          </a:p>
          <a:p>
            <a:pPr lvl="1"/>
            <a:r>
              <a:rPr lang="en-US" dirty="0"/>
              <a:t>SHAP for tree-based models (global + local plots).</a:t>
            </a:r>
          </a:p>
          <a:p>
            <a:pPr lvl="1"/>
            <a:r>
              <a:rPr lang="en-US" dirty="0"/>
              <a:t>Map predicted risk over geography with </a:t>
            </a:r>
            <a:r>
              <a:rPr lang="en-US" dirty="0" err="1"/>
              <a:t>geopandas</a:t>
            </a:r>
            <a:r>
              <a:rPr lang="en-US" dirty="0"/>
              <a:t> and matplotlib.</a:t>
            </a:r>
          </a:p>
          <a:p>
            <a:r>
              <a:rPr lang="en-US" dirty="0"/>
              <a:t>22_wildfire_batch_scoring.py</a:t>
            </a:r>
          </a:p>
          <a:p>
            <a:pPr lvl="1"/>
            <a:r>
              <a:rPr lang="en-US" dirty="0"/>
              <a:t>Script to read latest weather/land cover data.</a:t>
            </a:r>
          </a:p>
          <a:p>
            <a:pPr lvl="1"/>
            <a:r>
              <a:rPr lang="en-US" dirty="0"/>
              <a:t>Generate risk scores for grid cells.</a:t>
            </a:r>
          </a:p>
          <a:p>
            <a:pPr lvl="1"/>
            <a:r>
              <a:rPr lang="en-US" dirty="0"/>
              <a:t>Save results as </a:t>
            </a:r>
            <a:r>
              <a:rPr lang="en-US" dirty="0" err="1"/>
              <a:t>GeoJSON</a:t>
            </a:r>
            <a:r>
              <a:rPr lang="en-US" dirty="0"/>
              <a:t> / shapefiles.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Mental Health via Mobile Sensing Section</a:t>
            </a:r>
          </a:p>
          <a:p>
            <a:r>
              <a:rPr lang="en-US" b="1" dirty="0"/>
              <a:t>Slide 10 – Mental Health: Problem Framing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Global burden of depression, PTSD, chronic stress</a:t>
            </a:r>
          </a:p>
          <a:p>
            <a:r>
              <a:rPr lang="en-US" dirty="0"/>
              <a:t>Traditional detection: surveys, clinical visits</a:t>
            </a:r>
          </a:p>
          <a:p>
            <a:r>
              <a:rPr lang="en-US" dirty="0"/>
              <a:t>New opportunity:</a:t>
            </a:r>
          </a:p>
          <a:p>
            <a:pPr lvl="1"/>
            <a:r>
              <a:rPr lang="en-US" dirty="0"/>
              <a:t>Use passive sensing from phones/wearables</a:t>
            </a:r>
          </a:p>
          <a:p>
            <a:pPr lvl="1"/>
            <a:r>
              <a:rPr lang="en-US" dirty="0"/>
              <a:t>Predict symptom severity &amp; detect changes early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Introduce MIT/“Social Physics” work: using mobile and social sensing to predict mental health symptoms. </a:t>
            </a:r>
          </a:p>
          <a:p>
            <a:r>
              <a:rPr lang="en-US" dirty="0"/>
              <a:t>Clarify: goal is </a:t>
            </a:r>
            <a:r>
              <a:rPr lang="en-US" i="1" dirty="0"/>
              <a:t>not</a:t>
            </a:r>
            <a:r>
              <a:rPr lang="en-US" dirty="0"/>
              <a:t> to diagnose, but to support clinicians and individuals with </a:t>
            </a:r>
            <a:r>
              <a:rPr lang="en-US" i="1" dirty="0"/>
              <a:t>signals</a:t>
            </a:r>
            <a:r>
              <a:rPr lang="en-US" dirty="0"/>
              <a:t> and trends.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30_mental_health_problem_setup.ipynb</a:t>
            </a:r>
          </a:p>
          <a:p>
            <a:pPr lvl="1"/>
            <a:r>
              <a:rPr lang="en-US" dirty="0"/>
              <a:t>Define labels (e.g., weekly PHQ-9 scores, PTSD symptom scores).</a:t>
            </a:r>
          </a:p>
          <a:p>
            <a:pPr lvl="1"/>
            <a:r>
              <a:rPr lang="en-US" dirty="0"/>
              <a:t>Set tasks: regression (predict score) or classification (high vs low risk).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11 – Mobile Sensing Data &amp; Behavioral Features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Data Types</a:t>
            </a:r>
            <a:r>
              <a:rPr lang="en-US" dirty="0"/>
              <a:t> </a:t>
            </a:r>
          </a:p>
          <a:p>
            <a:r>
              <a:rPr lang="en-US" dirty="0"/>
              <a:t>Mobility: GPS location, distance traveled, time at home</a:t>
            </a:r>
          </a:p>
          <a:p>
            <a:r>
              <a:rPr lang="en-US" dirty="0"/>
              <a:t>Communication: call/text durations (metadata only)</a:t>
            </a:r>
          </a:p>
          <a:p>
            <a:r>
              <a:rPr lang="en-US" dirty="0"/>
              <a:t>Sleep &amp; circadian rhythms (phone inactivity, wearables)</a:t>
            </a:r>
          </a:p>
          <a:p>
            <a:r>
              <a:rPr lang="en-US" dirty="0"/>
              <a:t>Social interaction: proximity, conversations (via “Reality” app/badges)</a:t>
            </a:r>
          </a:p>
          <a:p>
            <a:r>
              <a:rPr lang="en-US" dirty="0"/>
              <a:t>Phone usage: app usage patterns, screen time</a:t>
            </a:r>
          </a:p>
          <a:p>
            <a:r>
              <a:rPr lang="en-US" b="1" dirty="0"/>
              <a:t>Derived Features</a:t>
            </a:r>
            <a:endParaRPr lang="en-US" dirty="0"/>
          </a:p>
          <a:p>
            <a:r>
              <a:rPr lang="en-US" dirty="0"/>
              <a:t>Routine regularity / entropy of locations</a:t>
            </a:r>
          </a:p>
          <a:p>
            <a:r>
              <a:rPr lang="en-US" dirty="0"/>
              <a:t>Social isolation vs engagement</a:t>
            </a:r>
          </a:p>
          <a:p>
            <a:r>
              <a:rPr lang="en-US" dirty="0"/>
              <a:t>Sleep regularity and duration</a:t>
            </a:r>
          </a:p>
          <a:p>
            <a:r>
              <a:rPr lang="en-US" dirty="0"/>
              <a:t>Weekend vs weekday behavior changes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</a:t>
            </a:r>
            <a:r>
              <a:rPr lang="en-US" i="1" dirty="0"/>
              <a:t>passive sensing</a:t>
            </a:r>
            <a:r>
              <a:rPr lang="en-US" dirty="0"/>
              <a:t>: data collected continuously without active user input.</a:t>
            </a:r>
          </a:p>
          <a:p>
            <a:r>
              <a:rPr lang="en-US" dirty="0"/>
              <a:t>Mention research use cases:</a:t>
            </a:r>
          </a:p>
          <a:p>
            <a:pPr lvl="1"/>
            <a:r>
              <a:rPr lang="en-US" dirty="0"/>
              <a:t>Predict weekly depression/PTSD severity.</a:t>
            </a:r>
          </a:p>
          <a:p>
            <a:pPr lvl="1"/>
            <a:r>
              <a:rPr lang="en-US" dirty="0"/>
              <a:t>Epidemiological behavior change analysis.</a:t>
            </a:r>
          </a:p>
          <a:p>
            <a:pPr lvl="1"/>
            <a:r>
              <a:rPr lang="en-US" dirty="0"/>
              <a:t>Schizophrenia symptom tracking and relapse prediction.</a:t>
            </a:r>
          </a:p>
          <a:p>
            <a:pPr lvl="1"/>
            <a:r>
              <a:rPr lang="en-US" dirty="0"/>
              <a:t>Worker wellbeing monitoring.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31_mobile_data_ingestion.ipynb</a:t>
            </a:r>
          </a:p>
          <a:p>
            <a:pPr lvl="1"/>
            <a:r>
              <a:rPr lang="en-US" dirty="0"/>
              <a:t>Parse raw logs: GPS pings, call/text metadata, accelerometer, app usage.</a:t>
            </a:r>
          </a:p>
          <a:p>
            <a:pPr lvl="1"/>
            <a:r>
              <a:rPr lang="en-US" dirty="0"/>
              <a:t>De-identification/anonymization utilities (hashing IDs, removing PII).</a:t>
            </a:r>
          </a:p>
          <a:p>
            <a:r>
              <a:rPr lang="en-US" dirty="0"/>
              <a:t>32_behavioral_feature_engineering.ipynb</a:t>
            </a:r>
          </a:p>
          <a:p>
            <a:pPr lvl="1"/>
            <a:r>
              <a:rPr lang="en-US" dirty="0"/>
              <a:t>Compute:</a:t>
            </a:r>
          </a:p>
          <a:p>
            <a:pPr lvl="2"/>
            <a:r>
              <a:rPr lang="en-US" dirty="0"/>
              <a:t>Daily distance traveled, number of unique locations.</a:t>
            </a:r>
          </a:p>
          <a:p>
            <a:pPr lvl="2"/>
            <a:r>
              <a:rPr lang="en-US" dirty="0"/>
              <a:t>Time at “home” vs “work” vs “other clusters”.</a:t>
            </a:r>
          </a:p>
          <a:p>
            <a:pPr lvl="2"/>
            <a:r>
              <a:rPr lang="en-US" dirty="0"/>
              <a:t>Sleep onset/wake-up estimates (based on inactivity/screen-lock).</a:t>
            </a:r>
          </a:p>
          <a:p>
            <a:pPr lvl="2"/>
            <a:r>
              <a:rPr lang="en-US" dirty="0"/>
              <a:t>Social interaction frequency from proximity/conversation durations.</a:t>
            </a:r>
          </a:p>
          <a:p>
            <a:pPr lvl="1"/>
            <a:r>
              <a:rPr lang="en-US" dirty="0"/>
              <a:t>Aggregate to weekly features aligned with mental health survey dates.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12 – Modeling Mental Health Symptoms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Tasks</a:t>
            </a:r>
            <a:r>
              <a:rPr lang="en-US" dirty="0"/>
              <a:t> </a:t>
            </a:r>
          </a:p>
          <a:p>
            <a:r>
              <a:rPr lang="en-US" dirty="0"/>
              <a:t>Regression: predict weekly scores (e.g., PHQ-9)</a:t>
            </a:r>
          </a:p>
          <a:p>
            <a:r>
              <a:rPr lang="en-US" dirty="0"/>
              <a:t>Classification: predict high-risk vs low-risk weeks</a:t>
            </a:r>
          </a:p>
          <a:p>
            <a:r>
              <a:rPr lang="en-US" b="1" dirty="0"/>
              <a:t>Models</a:t>
            </a:r>
            <a:endParaRPr lang="en-US" dirty="0"/>
          </a:p>
          <a:p>
            <a:r>
              <a:rPr lang="en-US" dirty="0"/>
              <a:t>Linear regression / Elastic Net (simple baselines)</a:t>
            </a:r>
          </a:p>
          <a:p>
            <a:r>
              <a:rPr lang="en-US" dirty="0"/>
              <a:t>Random Forest / Gradient Boosted Trees</a:t>
            </a:r>
          </a:p>
          <a:p>
            <a:r>
              <a:rPr lang="en-US" dirty="0"/>
              <a:t>Sequence models (RNN/LSTM/Temporal CNN) for time series</a:t>
            </a:r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MAE / RMSE for regression</a:t>
            </a:r>
          </a:p>
          <a:p>
            <a:r>
              <a:rPr lang="en-US" dirty="0"/>
              <a:t>ROC-AUC, F1 for classification</a:t>
            </a:r>
          </a:p>
          <a:p>
            <a:r>
              <a:rPr lang="en-US" dirty="0"/>
              <a:t>Per-person vs global models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Start from simpler models to get interpretability.</a:t>
            </a:r>
          </a:p>
          <a:p>
            <a:r>
              <a:rPr lang="en-US" dirty="0"/>
              <a:t>Discuss how features like reduced mobility + reduced social interactions often correlate with higher depression scores.</a:t>
            </a:r>
          </a:p>
          <a:p>
            <a:r>
              <a:rPr lang="en-US" dirty="0"/>
              <a:t>Mention </a:t>
            </a:r>
            <a:r>
              <a:rPr lang="en-US" b="1" dirty="0"/>
              <a:t>individual vs population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Per-person personalized models.</a:t>
            </a:r>
          </a:p>
          <a:p>
            <a:pPr lvl="1"/>
            <a:r>
              <a:rPr lang="en-US" dirty="0"/>
              <a:t>Single global model with person-level embeddings.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40_mental_health_ml_models.ipynb</a:t>
            </a:r>
          </a:p>
          <a:p>
            <a:pPr lvl="1"/>
            <a:r>
              <a:rPr lang="en-US" dirty="0"/>
              <a:t>Train/test splits with careful leakage control (train on early weeks, test on later weeks).</a:t>
            </a:r>
          </a:p>
          <a:p>
            <a:pPr lvl="1"/>
            <a:r>
              <a:rPr lang="en-US" dirty="0"/>
              <a:t>Baseline linear/Elastic Net model.</a:t>
            </a:r>
          </a:p>
          <a:p>
            <a:pPr lvl="1"/>
            <a:r>
              <a:rPr lang="en-US" dirty="0"/>
              <a:t>Tree-based models with cross-validation.</a:t>
            </a:r>
          </a:p>
          <a:p>
            <a:pPr lvl="1"/>
            <a:r>
              <a:rPr lang="en-US" dirty="0"/>
              <a:t>Optional: basic RNN/LSTM model over sequences of weekly features.</a:t>
            </a:r>
          </a:p>
          <a:p>
            <a:r>
              <a:rPr lang="en-US" dirty="0"/>
              <a:t>41_mental_health_model_evaluation.ipynb</a:t>
            </a:r>
          </a:p>
          <a:p>
            <a:pPr lvl="1"/>
            <a:r>
              <a:rPr lang="en-US" dirty="0"/>
              <a:t>Individual vs global evaluation metrics.</a:t>
            </a:r>
          </a:p>
          <a:p>
            <a:pPr lvl="1"/>
            <a:r>
              <a:rPr lang="en-US" dirty="0"/>
              <a:t>Calibration curves to understand probability estimates.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13 – Real-Time Monitoring &amp; Clinical Integration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Real-time monitoring</a:t>
            </a:r>
            <a:r>
              <a:rPr lang="en-US" dirty="0"/>
              <a:t> </a:t>
            </a:r>
          </a:p>
          <a:p>
            <a:r>
              <a:rPr lang="en-US" dirty="0"/>
              <a:t>Stream behavioral features daily/weekly</a:t>
            </a:r>
          </a:p>
          <a:p>
            <a:r>
              <a:rPr lang="en-US" dirty="0"/>
              <a:t>Trigger alerts when risk crosses threshold</a:t>
            </a:r>
          </a:p>
          <a:p>
            <a:r>
              <a:rPr lang="en-US" dirty="0"/>
              <a:t>Provide feedback dashboards for clinicians &amp; users</a:t>
            </a:r>
          </a:p>
          <a:p>
            <a:r>
              <a:rPr lang="en-US" b="1" dirty="0"/>
              <a:t>Integration</a:t>
            </a:r>
            <a:endParaRPr lang="en-US" dirty="0"/>
          </a:p>
          <a:p>
            <a:r>
              <a:rPr lang="en-US" dirty="0"/>
              <a:t>Embed in mobile apps for self-tracking</a:t>
            </a:r>
          </a:p>
          <a:p>
            <a:r>
              <a:rPr lang="en-US" dirty="0"/>
              <a:t>Use as decision support, not replacement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concept of “sensing → features → risk score → intervention”.</a:t>
            </a:r>
          </a:p>
          <a:p>
            <a:r>
              <a:rPr lang="en-US" dirty="0"/>
              <a:t>Give example: “If we see a sustained drop in mobility + social interaction + sleep disruption, the system might suggest a check-in.”</a:t>
            </a:r>
          </a:p>
          <a:p>
            <a:r>
              <a:rPr lang="en-US" dirty="0"/>
              <a:t>Emphasize this research aims to </a:t>
            </a:r>
            <a:r>
              <a:rPr lang="en-US" i="1" dirty="0"/>
              <a:t>reduce impact of chronic psychological distress</a:t>
            </a:r>
            <a:r>
              <a:rPr lang="en-US" dirty="0"/>
              <a:t> through earlier recognition and support.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42_mental_health_streaming_and_alerts.ipynb (or .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Simple example of rolling window feature computation over daily events.</a:t>
            </a:r>
          </a:p>
          <a:p>
            <a:pPr lvl="1"/>
            <a:r>
              <a:rPr lang="en-US" dirty="0"/>
              <a:t>Threshold-based alerts + optional basic anomaly detection.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5418D-098A-0D76-2E78-C9BFD93C5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66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EA78D-1B92-10B3-7788-45AE734BC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05EDE-2E7F-7690-47CB-F3174935F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AB2A5-4F9C-F087-860D-F765297C4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Wildfires Section</a:t>
            </a:r>
          </a:p>
          <a:p>
            <a:r>
              <a:rPr lang="en-US" b="1" dirty="0"/>
              <a:t>Slide 6 – Wildfires: Problem Framing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Key questions:</a:t>
            </a:r>
          </a:p>
          <a:p>
            <a:pPr lvl="1"/>
            <a:r>
              <a:rPr lang="en-US" dirty="0"/>
              <a:t>Where are fires likely to start?</a:t>
            </a:r>
          </a:p>
          <a:p>
            <a:pPr lvl="1"/>
            <a:r>
              <a:rPr lang="en-US" dirty="0"/>
              <a:t>How fast and where will they spread?</a:t>
            </a:r>
          </a:p>
          <a:p>
            <a:pPr lvl="1"/>
            <a:r>
              <a:rPr lang="en-US" dirty="0"/>
              <a:t>Which areas are high risk?</a:t>
            </a:r>
          </a:p>
          <a:p>
            <a:r>
              <a:rPr lang="en-US" dirty="0"/>
              <a:t>AI helps with:</a:t>
            </a:r>
          </a:p>
          <a:p>
            <a:pPr lvl="1"/>
            <a:r>
              <a:rPr lang="en-US" dirty="0"/>
              <a:t>Detection</a:t>
            </a:r>
          </a:p>
          <a:p>
            <a:pPr lvl="1"/>
            <a:r>
              <a:rPr lang="en-US" dirty="0"/>
              <a:t>Spread prediction</a:t>
            </a:r>
          </a:p>
          <a:p>
            <a:pPr lvl="1"/>
            <a:r>
              <a:rPr lang="en-US" dirty="0"/>
              <a:t>Risk/susceptibility mapping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Describe a real scenario: policymakers, firefighters, insurance companies all need </a:t>
            </a:r>
            <a:r>
              <a:rPr lang="en-US" i="1" dirty="0"/>
              <a:t>probabilistic</a:t>
            </a:r>
            <a:r>
              <a:rPr lang="en-US" dirty="0"/>
              <a:t> insights.</a:t>
            </a:r>
          </a:p>
          <a:p>
            <a:r>
              <a:rPr lang="en-US" dirty="0"/>
              <a:t>Clarify problem types:</a:t>
            </a:r>
          </a:p>
          <a:p>
            <a:pPr lvl="1"/>
            <a:r>
              <a:rPr lang="en-US" b="1" dirty="0"/>
              <a:t>Detection:</a:t>
            </a:r>
            <a:r>
              <a:rPr lang="en-US" dirty="0"/>
              <a:t> image-based classification (smoke/flame vs no fire).</a:t>
            </a:r>
          </a:p>
          <a:p>
            <a:pPr lvl="1"/>
            <a:r>
              <a:rPr lang="en-US" b="1" dirty="0"/>
              <a:t>Risk mapping:</a:t>
            </a:r>
            <a:r>
              <a:rPr lang="en-US" dirty="0"/>
              <a:t> supervised learning on grids/pixels with features (weather, vegetation, topography).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10_wildfire_problem_setup.ipynb</a:t>
            </a:r>
          </a:p>
          <a:p>
            <a:pPr lvl="1"/>
            <a:r>
              <a:rPr lang="en-US" dirty="0"/>
              <a:t>Define label columns: </a:t>
            </a:r>
            <a:r>
              <a:rPr lang="en-US" dirty="0" err="1"/>
              <a:t>fire_occurred</a:t>
            </a:r>
            <a:r>
              <a:rPr lang="en-US" dirty="0"/>
              <a:t>, </a:t>
            </a:r>
            <a:r>
              <a:rPr lang="en-US" dirty="0" err="1"/>
              <a:t>burned_area</a:t>
            </a:r>
            <a:r>
              <a:rPr lang="en-US" dirty="0"/>
              <a:t>, </a:t>
            </a:r>
            <a:r>
              <a:rPr lang="en-US" dirty="0" err="1"/>
              <a:t>risk_score</a:t>
            </a:r>
            <a:endParaRPr lang="en-US" dirty="0"/>
          </a:p>
          <a:p>
            <a:pPr lvl="1"/>
            <a:r>
              <a:rPr lang="en-US" dirty="0"/>
              <a:t>Encode problem types: binary classification, regression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7 – Wildfire Data Sources &amp; Features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Data Sources (examples)</a:t>
            </a:r>
            <a:r>
              <a:rPr lang="en-US" dirty="0"/>
              <a:t> </a:t>
            </a:r>
          </a:p>
          <a:p>
            <a:r>
              <a:rPr lang="en-US" dirty="0"/>
              <a:t>USGS Combined Wildland Fire Dataset (fire perimeters)</a:t>
            </a:r>
          </a:p>
          <a:p>
            <a:r>
              <a:rPr lang="en-US" dirty="0"/>
              <a:t>NASA FIRMS (VIIRS/MODIS active fire points)</a:t>
            </a:r>
          </a:p>
          <a:p>
            <a:r>
              <a:rPr lang="en-US" dirty="0"/>
              <a:t>Weather data (temperature, wind, humidity)</a:t>
            </a:r>
          </a:p>
          <a:p>
            <a:r>
              <a:rPr lang="en-US" dirty="0"/>
              <a:t>Land cover &amp; terrain (slope, aspect, vegetation)</a:t>
            </a:r>
          </a:p>
          <a:p>
            <a:r>
              <a:rPr lang="en-US" dirty="0"/>
              <a:t>Kaggle / satellite image datasets for fire/smoke detection</a:t>
            </a:r>
          </a:p>
          <a:p>
            <a:r>
              <a:rPr lang="en-US" b="1" dirty="0"/>
              <a:t>Key Feature Types</a:t>
            </a:r>
            <a:endParaRPr lang="en-US" dirty="0"/>
          </a:p>
          <a:p>
            <a:r>
              <a:rPr lang="en-US" dirty="0"/>
              <a:t>Spatial: elevation, slope, distance to roads</a:t>
            </a:r>
          </a:p>
          <a:p>
            <a:r>
              <a:rPr lang="en-US" dirty="0"/>
              <a:t>Temporal: seasonality, drought index, recent rainfall</a:t>
            </a:r>
          </a:p>
          <a:p>
            <a:r>
              <a:rPr lang="en-US" dirty="0"/>
              <a:t>Human: population density, power lines, past fire history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how geospatial + temporal data create a </a:t>
            </a:r>
            <a:r>
              <a:rPr lang="en-US" b="1" dirty="0"/>
              <a:t>feature cube</a:t>
            </a:r>
            <a:r>
              <a:rPr lang="en-US" dirty="0"/>
              <a:t> for each grid cell or image patch.</a:t>
            </a:r>
          </a:p>
          <a:p>
            <a:r>
              <a:rPr lang="en-US" dirty="0"/>
              <a:t>Stress data engineering complexity: reprojection, joining datasets, resampling time and space grids.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11_wildfire_data_ingestion.ipynb</a:t>
            </a:r>
          </a:p>
          <a:p>
            <a:pPr lvl="1"/>
            <a:r>
              <a:rPr lang="en-US" dirty="0"/>
              <a:t>Download/read USGS shapefiles, NASA FIRMS CSVs/</a:t>
            </a:r>
            <a:r>
              <a:rPr lang="en-US" dirty="0" err="1"/>
              <a:t>GeoTIFFs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geopandas</a:t>
            </a:r>
            <a:r>
              <a:rPr lang="en-US" dirty="0"/>
              <a:t> and </a:t>
            </a:r>
            <a:r>
              <a:rPr lang="en-US" dirty="0" err="1"/>
              <a:t>rasterio</a:t>
            </a:r>
            <a:r>
              <a:rPr lang="en-US" dirty="0"/>
              <a:t> to:</a:t>
            </a:r>
          </a:p>
          <a:p>
            <a:pPr lvl="2"/>
            <a:r>
              <a:rPr lang="en-US" dirty="0"/>
              <a:t>Reproject to common CRS</a:t>
            </a:r>
          </a:p>
          <a:p>
            <a:pPr lvl="2"/>
            <a:r>
              <a:rPr lang="en-US" dirty="0"/>
              <a:t>Clip to region of interest</a:t>
            </a:r>
          </a:p>
          <a:p>
            <a:pPr lvl="2"/>
            <a:r>
              <a:rPr lang="en-US" dirty="0"/>
              <a:t>Rasterize fire perimeters to a grid</a:t>
            </a:r>
          </a:p>
          <a:p>
            <a:r>
              <a:rPr lang="en-US" dirty="0"/>
              <a:t>12_wildfire_feature_engineering.ipynb</a:t>
            </a:r>
          </a:p>
          <a:p>
            <a:pPr lvl="1"/>
            <a:r>
              <a:rPr lang="en-US" dirty="0"/>
              <a:t>Compute:</a:t>
            </a:r>
          </a:p>
          <a:p>
            <a:pPr lvl="2"/>
            <a:r>
              <a:rPr lang="en-US" dirty="0" err="1"/>
              <a:t>days_since_last_fire</a:t>
            </a:r>
            <a:endParaRPr lang="en-US" dirty="0"/>
          </a:p>
          <a:p>
            <a:pPr lvl="2"/>
            <a:r>
              <a:rPr lang="en-US" dirty="0"/>
              <a:t>Rolling mean of temperature/humidity</a:t>
            </a:r>
          </a:p>
          <a:p>
            <a:pPr lvl="2"/>
            <a:r>
              <a:rPr lang="en-US" dirty="0"/>
              <a:t>Vegetation indices (if using multispectral imagery)</a:t>
            </a:r>
          </a:p>
          <a:p>
            <a:pPr lvl="1"/>
            <a:r>
              <a:rPr lang="en-US" dirty="0"/>
              <a:t>Join all features into a single tabular dataset (X) with labels (y).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8 – Wildfire Models &amp; Techniques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Tabular Risk Models</a:t>
            </a:r>
            <a:endParaRPr lang="en-US" dirty="0"/>
          </a:p>
          <a:p>
            <a:r>
              <a:rPr lang="en-US" dirty="0"/>
              <a:t>Algorithms: Logistic Regression, Random Forest, </a:t>
            </a: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r>
              <a:rPr lang="en-US" dirty="0"/>
              <a:t>Task: Predict fire occurrence or risk score per grid cell</a:t>
            </a:r>
          </a:p>
          <a:p>
            <a:r>
              <a:rPr lang="en-US" b="1" dirty="0"/>
              <a:t>Image-based Detection</a:t>
            </a:r>
            <a:endParaRPr lang="en-US" dirty="0"/>
          </a:p>
          <a:p>
            <a:r>
              <a:rPr lang="en-US" dirty="0"/>
              <a:t>CNNs, Vision Transformers, YOLOv5 for smoke/flame detection</a:t>
            </a:r>
          </a:p>
          <a:p>
            <a:r>
              <a:rPr lang="en-US" dirty="0"/>
              <a:t>Task: Fire/no-fire classification on patches or frames</a:t>
            </a:r>
          </a:p>
          <a:p>
            <a:r>
              <a:rPr lang="en-US" b="1" dirty="0"/>
              <a:t>Spread Modeling + ML</a:t>
            </a:r>
            <a:endParaRPr lang="en-US" dirty="0"/>
          </a:p>
          <a:p>
            <a:r>
              <a:rPr lang="en-US" dirty="0"/>
              <a:t>Use physics-based models; ML for post-processing (e.g., </a:t>
            </a:r>
            <a:r>
              <a:rPr lang="en-US" dirty="0" err="1"/>
              <a:t>PostBP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why you start with </a:t>
            </a:r>
            <a:r>
              <a:rPr lang="en-US" b="1" dirty="0"/>
              <a:t>simple models</a:t>
            </a:r>
            <a:r>
              <a:rPr lang="en-US" dirty="0"/>
              <a:t> (logistic regression, Random Forest) and only then move to deep learning.</a:t>
            </a:r>
          </a:p>
          <a:p>
            <a:r>
              <a:rPr lang="en-US" dirty="0"/>
              <a:t>For detection: show how labeled image datasets (Kaggle wildfire datasets, CWGID) are used with CNN-based architectures.</a:t>
            </a:r>
          </a:p>
          <a:p>
            <a:r>
              <a:rPr lang="en-US" dirty="0"/>
              <a:t>Mention trade-offs: accuracy vs interpretability vs computational cost.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20_wildfire_ml_models.ipynb</a:t>
            </a:r>
          </a:p>
          <a:p>
            <a:r>
              <a:rPr lang="en-US" b="1" dirty="0"/>
              <a:t>Tabular part:</a:t>
            </a:r>
            <a:endParaRPr lang="en-US" dirty="0"/>
          </a:p>
          <a:p>
            <a:pPr lvl="1"/>
            <a:r>
              <a:rPr lang="en-US" dirty="0"/>
              <a:t>Train/validation split (by time &amp; space, e.g. train on 2010–2018, test on 2019–2020).</a:t>
            </a:r>
          </a:p>
          <a:p>
            <a:pPr lvl="1"/>
            <a:r>
              <a:rPr lang="en-US" dirty="0"/>
              <a:t>Baseline logistic regression.</a:t>
            </a:r>
          </a:p>
          <a:p>
            <a:pPr lvl="1"/>
            <a:r>
              <a:rPr lang="en-US" dirty="0"/>
              <a:t>Random Forest / </a:t>
            </a:r>
            <a:r>
              <a:rPr lang="en-US" dirty="0" err="1"/>
              <a:t>XGBoost</a:t>
            </a:r>
            <a:r>
              <a:rPr lang="en-US" dirty="0"/>
              <a:t> models with hyperparameter tuning (</a:t>
            </a:r>
            <a:r>
              <a:rPr lang="en-US" dirty="0" err="1"/>
              <a:t>RandomizedSearchCV</a:t>
            </a:r>
            <a:r>
              <a:rPr lang="en-US" dirty="0"/>
              <a:t> / </a:t>
            </a:r>
            <a:r>
              <a:rPr lang="en-US" dirty="0" err="1"/>
              <a:t>Optuna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Feature importance plots.</a:t>
            </a:r>
          </a:p>
          <a:p>
            <a:r>
              <a:rPr lang="en-US" b="1" dirty="0"/>
              <a:t>Image-based part:</a:t>
            </a:r>
            <a:endParaRPr lang="en-US" dirty="0"/>
          </a:p>
          <a:p>
            <a:pPr lvl="1"/>
            <a:r>
              <a:rPr lang="en-US" dirty="0"/>
              <a:t>Load wildfire image dataset (train/</a:t>
            </a:r>
            <a:r>
              <a:rPr lang="en-US" dirty="0" err="1"/>
              <a:t>val</a:t>
            </a:r>
            <a:r>
              <a:rPr lang="en-US" dirty="0"/>
              <a:t>/test folders).</a:t>
            </a:r>
          </a:p>
          <a:p>
            <a:pPr lvl="1"/>
            <a:r>
              <a:rPr lang="en-US" dirty="0"/>
              <a:t>Build a small CNN (or fine-tune a pretrained model).</a:t>
            </a:r>
          </a:p>
          <a:p>
            <a:pPr lvl="1"/>
            <a:r>
              <a:rPr lang="en-US" dirty="0"/>
              <a:t>Data augmentation: random crops, flips, brightness jitter.</a:t>
            </a:r>
          </a:p>
          <a:p>
            <a:pPr lvl="1"/>
            <a:r>
              <a:rPr lang="en-US" dirty="0"/>
              <a:t>Metrics: accuracy, ROC-AUC, confusion matrix, precision-recall.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9 – Wildfires: Evaluation, Explainability &amp; Deployment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Metrics: ROC-AUC, Precision/Recall, F1, PR curves</a:t>
            </a:r>
          </a:p>
          <a:p>
            <a:r>
              <a:rPr lang="en-US" dirty="0"/>
              <a:t>Spatial &amp; temporal generalization: new years / regions</a:t>
            </a:r>
          </a:p>
          <a:p>
            <a:r>
              <a:rPr lang="en-US" b="1" dirty="0"/>
              <a:t>Explainability</a:t>
            </a:r>
            <a:endParaRPr lang="en-US" dirty="0"/>
          </a:p>
          <a:p>
            <a:r>
              <a:rPr lang="en-US" dirty="0"/>
              <a:t>Feature importance, permutation importance</a:t>
            </a:r>
          </a:p>
          <a:p>
            <a:r>
              <a:rPr lang="en-US" dirty="0"/>
              <a:t>SHAP values (risk drivers: wind, vegetation, drought)</a:t>
            </a:r>
          </a:p>
          <a:p>
            <a:r>
              <a:rPr lang="en-US" b="1" dirty="0"/>
              <a:t>Deployment</a:t>
            </a:r>
            <a:endParaRPr lang="en-US" dirty="0"/>
          </a:p>
          <a:p>
            <a:r>
              <a:rPr lang="en-US" dirty="0"/>
              <a:t>Batch risk maps (daily/weekly)</a:t>
            </a:r>
          </a:p>
          <a:p>
            <a:r>
              <a:rPr lang="en-US" dirty="0"/>
              <a:t>API to query risk for coordinates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Highlight the gap between “good offline metrics” and “useful in the field”; e.g., false positives vs false negatives.</a:t>
            </a:r>
          </a:p>
          <a:p>
            <a:r>
              <a:rPr lang="en-US" dirty="0"/>
              <a:t>Explain how SHAP helps communicate to non-technical stakeholders </a:t>
            </a:r>
            <a:r>
              <a:rPr lang="en-US" i="1" dirty="0"/>
              <a:t>why</a:t>
            </a:r>
            <a:r>
              <a:rPr lang="en-US" dirty="0"/>
              <a:t> certain areas are high risk.</a:t>
            </a:r>
          </a:p>
          <a:p>
            <a:r>
              <a:rPr lang="en-US" dirty="0"/>
              <a:t>Briefly mention deployment pattern: scheduled pipeline generates maps → stored in object storage → consumed by dashboards/services.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21_wildfire_evaluation_explainability.ipynb</a:t>
            </a:r>
          </a:p>
          <a:p>
            <a:pPr lvl="1"/>
            <a:r>
              <a:rPr lang="en-US" dirty="0"/>
              <a:t>ROC/PR curves for test set.</a:t>
            </a:r>
          </a:p>
          <a:p>
            <a:pPr lvl="1"/>
            <a:r>
              <a:rPr lang="en-US" dirty="0"/>
              <a:t>SHAP for tree-based models (global + local plots).</a:t>
            </a:r>
          </a:p>
          <a:p>
            <a:pPr lvl="1"/>
            <a:r>
              <a:rPr lang="en-US" dirty="0"/>
              <a:t>Map predicted risk over geography with </a:t>
            </a:r>
            <a:r>
              <a:rPr lang="en-US" dirty="0" err="1"/>
              <a:t>geopandas</a:t>
            </a:r>
            <a:r>
              <a:rPr lang="en-US" dirty="0"/>
              <a:t> and matplotlib.</a:t>
            </a:r>
          </a:p>
          <a:p>
            <a:r>
              <a:rPr lang="en-US" dirty="0"/>
              <a:t>22_wildfire_batch_scoring.py</a:t>
            </a:r>
          </a:p>
          <a:p>
            <a:pPr lvl="1"/>
            <a:r>
              <a:rPr lang="en-US" dirty="0"/>
              <a:t>Script to read latest weather/land cover data.</a:t>
            </a:r>
          </a:p>
          <a:p>
            <a:pPr lvl="1"/>
            <a:r>
              <a:rPr lang="en-US" dirty="0"/>
              <a:t>Generate risk scores for grid cells.</a:t>
            </a:r>
          </a:p>
          <a:p>
            <a:pPr lvl="1"/>
            <a:r>
              <a:rPr lang="en-US" dirty="0"/>
              <a:t>Save results as </a:t>
            </a:r>
            <a:r>
              <a:rPr lang="en-US" dirty="0" err="1"/>
              <a:t>GeoJSON</a:t>
            </a:r>
            <a:r>
              <a:rPr lang="en-US" dirty="0"/>
              <a:t> / shapefiles.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Mental Health via Mobile Sensing Section</a:t>
            </a:r>
          </a:p>
          <a:p>
            <a:r>
              <a:rPr lang="en-US" b="1" dirty="0"/>
              <a:t>Slide 10 – Mental Health: Problem Framing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Global burden of depression, PTSD, chronic stress</a:t>
            </a:r>
          </a:p>
          <a:p>
            <a:r>
              <a:rPr lang="en-US" dirty="0"/>
              <a:t>Traditional detection: surveys, clinical visits</a:t>
            </a:r>
          </a:p>
          <a:p>
            <a:r>
              <a:rPr lang="en-US" dirty="0"/>
              <a:t>New opportunity:</a:t>
            </a:r>
          </a:p>
          <a:p>
            <a:pPr lvl="1"/>
            <a:r>
              <a:rPr lang="en-US" dirty="0"/>
              <a:t>Use passive sensing from phones/wearables</a:t>
            </a:r>
          </a:p>
          <a:p>
            <a:pPr lvl="1"/>
            <a:r>
              <a:rPr lang="en-US" dirty="0"/>
              <a:t>Predict symptom severity &amp; detect changes early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Introduce MIT/“Social Physics” work: using mobile and social sensing to predict mental health symptoms. </a:t>
            </a:r>
          </a:p>
          <a:p>
            <a:r>
              <a:rPr lang="en-US" dirty="0"/>
              <a:t>Clarify: goal is </a:t>
            </a:r>
            <a:r>
              <a:rPr lang="en-US" i="1" dirty="0"/>
              <a:t>not</a:t>
            </a:r>
            <a:r>
              <a:rPr lang="en-US" dirty="0"/>
              <a:t> to diagnose, but to support clinicians and individuals with </a:t>
            </a:r>
            <a:r>
              <a:rPr lang="en-US" i="1" dirty="0"/>
              <a:t>signals</a:t>
            </a:r>
            <a:r>
              <a:rPr lang="en-US" dirty="0"/>
              <a:t> and trends.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30_mental_health_problem_setup.ipynb</a:t>
            </a:r>
          </a:p>
          <a:p>
            <a:pPr lvl="1"/>
            <a:r>
              <a:rPr lang="en-US" dirty="0"/>
              <a:t>Define labels (e.g., weekly PHQ-9 scores, PTSD symptom scores).</a:t>
            </a:r>
          </a:p>
          <a:p>
            <a:pPr lvl="1"/>
            <a:r>
              <a:rPr lang="en-US" dirty="0"/>
              <a:t>Set tasks: regression (predict score) or classification (high vs low risk).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11 – Mobile Sensing Data &amp; Behavioral Features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Data Types</a:t>
            </a:r>
            <a:r>
              <a:rPr lang="en-US" dirty="0"/>
              <a:t> </a:t>
            </a:r>
          </a:p>
          <a:p>
            <a:r>
              <a:rPr lang="en-US" dirty="0"/>
              <a:t>Mobility: GPS location, distance traveled, time at home</a:t>
            </a:r>
          </a:p>
          <a:p>
            <a:r>
              <a:rPr lang="en-US" dirty="0"/>
              <a:t>Communication: call/text durations (metadata only)</a:t>
            </a:r>
          </a:p>
          <a:p>
            <a:r>
              <a:rPr lang="en-US" dirty="0"/>
              <a:t>Sleep &amp; circadian rhythms (phone inactivity, wearables)</a:t>
            </a:r>
          </a:p>
          <a:p>
            <a:r>
              <a:rPr lang="en-US" dirty="0"/>
              <a:t>Social interaction: proximity, conversations (via “Reality” app/badges)</a:t>
            </a:r>
          </a:p>
          <a:p>
            <a:r>
              <a:rPr lang="en-US" dirty="0"/>
              <a:t>Phone usage: app usage patterns, screen time</a:t>
            </a:r>
          </a:p>
          <a:p>
            <a:r>
              <a:rPr lang="en-US" b="1" dirty="0"/>
              <a:t>Derived Features</a:t>
            </a:r>
            <a:endParaRPr lang="en-US" dirty="0"/>
          </a:p>
          <a:p>
            <a:r>
              <a:rPr lang="en-US" dirty="0"/>
              <a:t>Routine regularity / entropy of locations</a:t>
            </a:r>
          </a:p>
          <a:p>
            <a:r>
              <a:rPr lang="en-US" dirty="0"/>
              <a:t>Social isolation vs engagement</a:t>
            </a:r>
          </a:p>
          <a:p>
            <a:r>
              <a:rPr lang="en-US" dirty="0"/>
              <a:t>Sleep regularity and duration</a:t>
            </a:r>
          </a:p>
          <a:p>
            <a:r>
              <a:rPr lang="en-US" dirty="0"/>
              <a:t>Weekend vs weekday behavior changes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</a:t>
            </a:r>
            <a:r>
              <a:rPr lang="en-US" i="1" dirty="0"/>
              <a:t>passive sensing</a:t>
            </a:r>
            <a:r>
              <a:rPr lang="en-US" dirty="0"/>
              <a:t>: data collected continuously without active user input.</a:t>
            </a:r>
          </a:p>
          <a:p>
            <a:r>
              <a:rPr lang="en-US" dirty="0"/>
              <a:t>Mention research use cases:</a:t>
            </a:r>
          </a:p>
          <a:p>
            <a:pPr lvl="1"/>
            <a:r>
              <a:rPr lang="en-US" dirty="0"/>
              <a:t>Predict weekly depression/PTSD severity.</a:t>
            </a:r>
          </a:p>
          <a:p>
            <a:pPr lvl="1"/>
            <a:r>
              <a:rPr lang="en-US" dirty="0"/>
              <a:t>Epidemiological behavior change analysis.</a:t>
            </a:r>
          </a:p>
          <a:p>
            <a:pPr lvl="1"/>
            <a:r>
              <a:rPr lang="en-US" dirty="0"/>
              <a:t>Schizophrenia symptom tracking and relapse prediction.</a:t>
            </a:r>
          </a:p>
          <a:p>
            <a:pPr lvl="1"/>
            <a:r>
              <a:rPr lang="en-US" dirty="0"/>
              <a:t>Worker wellbeing monitoring.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31_mobile_data_ingestion.ipynb</a:t>
            </a:r>
          </a:p>
          <a:p>
            <a:pPr lvl="1"/>
            <a:r>
              <a:rPr lang="en-US" dirty="0"/>
              <a:t>Parse raw logs: GPS pings, call/text metadata, accelerometer, app usage.</a:t>
            </a:r>
          </a:p>
          <a:p>
            <a:pPr lvl="1"/>
            <a:r>
              <a:rPr lang="en-US" dirty="0"/>
              <a:t>De-identification/anonymization utilities (hashing IDs, removing PII).</a:t>
            </a:r>
          </a:p>
          <a:p>
            <a:r>
              <a:rPr lang="en-US" dirty="0"/>
              <a:t>32_behavioral_feature_engineering.ipynb</a:t>
            </a:r>
          </a:p>
          <a:p>
            <a:pPr lvl="1"/>
            <a:r>
              <a:rPr lang="en-US" dirty="0"/>
              <a:t>Compute:</a:t>
            </a:r>
          </a:p>
          <a:p>
            <a:pPr lvl="2"/>
            <a:r>
              <a:rPr lang="en-US" dirty="0"/>
              <a:t>Daily distance traveled, number of unique locations.</a:t>
            </a:r>
          </a:p>
          <a:p>
            <a:pPr lvl="2"/>
            <a:r>
              <a:rPr lang="en-US" dirty="0"/>
              <a:t>Time at “home” vs “work” vs “other clusters”.</a:t>
            </a:r>
          </a:p>
          <a:p>
            <a:pPr lvl="2"/>
            <a:r>
              <a:rPr lang="en-US" dirty="0"/>
              <a:t>Sleep onset/wake-up estimates (based on inactivity/screen-lock).</a:t>
            </a:r>
          </a:p>
          <a:p>
            <a:pPr lvl="2"/>
            <a:r>
              <a:rPr lang="en-US" dirty="0"/>
              <a:t>Social interaction frequency from proximity/conversation durations.</a:t>
            </a:r>
          </a:p>
          <a:p>
            <a:pPr lvl="1"/>
            <a:r>
              <a:rPr lang="en-US" dirty="0"/>
              <a:t>Aggregate to weekly features aligned with mental health survey dates.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12 – Modeling Mental Health Symptoms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Tasks</a:t>
            </a:r>
            <a:r>
              <a:rPr lang="en-US" dirty="0"/>
              <a:t> </a:t>
            </a:r>
          </a:p>
          <a:p>
            <a:r>
              <a:rPr lang="en-US" dirty="0"/>
              <a:t>Regression: predict weekly scores (e.g., PHQ-9)</a:t>
            </a:r>
          </a:p>
          <a:p>
            <a:r>
              <a:rPr lang="en-US" dirty="0"/>
              <a:t>Classification: predict high-risk vs low-risk weeks</a:t>
            </a:r>
          </a:p>
          <a:p>
            <a:r>
              <a:rPr lang="en-US" b="1" dirty="0"/>
              <a:t>Models</a:t>
            </a:r>
            <a:endParaRPr lang="en-US" dirty="0"/>
          </a:p>
          <a:p>
            <a:r>
              <a:rPr lang="en-US" dirty="0"/>
              <a:t>Linear regression / Elastic Net (simple baselines)</a:t>
            </a:r>
          </a:p>
          <a:p>
            <a:r>
              <a:rPr lang="en-US" dirty="0"/>
              <a:t>Random Forest / Gradient Boosted Trees</a:t>
            </a:r>
          </a:p>
          <a:p>
            <a:r>
              <a:rPr lang="en-US" dirty="0"/>
              <a:t>Sequence models (RNN/LSTM/Temporal CNN) for time series</a:t>
            </a:r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MAE / RMSE for regression</a:t>
            </a:r>
          </a:p>
          <a:p>
            <a:r>
              <a:rPr lang="en-US" dirty="0"/>
              <a:t>ROC-AUC, F1 for classification</a:t>
            </a:r>
          </a:p>
          <a:p>
            <a:r>
              <a:rPr lang="en-US" dirty="0"/>
              <a:t>Per-person vs global models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Start from simpler models to get interpretability.</a:t>
            </a:r>
          </a:p>
          <a:p>
            <a:r>
              <a:rPr lang="en-US" dirty="0"/>
              <a:t>Discuss how features like reduced mobility + reduced social interactions often correlate with higher depression scores.</a:t>
            </a:r>
          </a:p>
          <a:p>
            <a:r>
              <a:rPr lang="en-US" dirty="0"/>
              <a:t>Mention </a:t>
            </a:r>
            <a:r>
              <a:rPr lang="en-US" b="1" dirty="0"/>
              <a:t>individual vs population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Per-person personalized models.</a:t>
            </a:r>
          </a:p>
          <a:p>
            <a:pPr lvl="1"/>
            <a:r>
              <a:rPr lang="en-US" dirty="0"/>
              <a:t>Single global model with person-level embeddings.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40_mental_health_ml_models.ipynb</a:t>
            </a:r>
          </a:p>
          <a:p>
            <a:pPr lvl="1"/>
            <a:r>
              <a:rPr lang="en-US" dirty="0"/>
              <a:t>Train/test splits with careful leakage control (train on early weeks, test on later weeks).</a:t>
            </a:r>
          </a:p>
          <a:p>
            <a:pPr lvl="1"/>
            <a:r>
              <a:rPr lang="en-US" dirty="0"/>
              <a:t>Baseline linear/Elastic Net model.</a:t>
            </a:r>
          </a:p>
          <a:p>
            <a:pPr lvl="1"/>
            <a:r>
              <a:rPr lang="en-US" dirty="0"/>
              <a:t>Tree-based models with cross-validation.</a:t>
            </a:r>
          </a:p>
          <a:p>
            <a:pPr lvl="1"/>
            <a:r>
              <a:rPr lang="en-US" dirty="0"/>
              <a:t>Optional: basic RNN/LSTM model over sequences of weekly features.</a:t>
            </a:r>
          </a:p>
          <a:p>
            <a:r>
              <a:rPr lang="en-US" dirty="0"/>
              <a:t>41_mental_health_model_evaluation.ipynb</a:t>
            </a:r>
          </a:p>
          <a:p>
            <a:pPr lvl="1"/>
            <a:r>
              <a:rPr lang="en-US" dirty="0"/>
              <a:t>Individual vs global evaluation metrics.</a:t>
            </a:r>
          </a:p>
          <a:p>
            <a:pPr lvl="1"/>
            <a:r>
              <a:rPr lang="en-US" dirty="0"/>
              <a:t>Calibration curves to understand probability estimates.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13 – Real-Time Monitoring &amp; Clinical Integration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Real-time monitoring</a:t>
            </a:r>
            <a:r>
              <a:rPr lang="en-US" dirty="0"/>
              <a:t> </a:t>
            </a:r>
          </a:p>
          <a:p>
            <a:r>
              <a:rPr lang="en-US" dirty="0"/>
              <a:t>Stream behavioral features daily/weekly</a:t>
            </a:r>
          </a:p>
          <a:p>
            <a:r>
              <a:rPr lang="en-US" dirty="0"/>
              <a:t>Trigger alerts when risk crosses threshold</a:t>
            </a:r>
          </a:p>
          <a:p>
            <a:r>
              <a:rPr lang="en-US" dirty="0"/>
              <a:t>Provide feedback dashboards for clinicians &amp; users</a:t>
            </a:r>
          </a:p>
          <a:p>
            <a:r>
              <a:rPr lang="en-US" b="1" dirty="0"/>
              <a:t>Integration</a:t>
            </a:r>
            <a:endParaRPr lang="en-US" dirty="0"/>
          </a:p>
          <a:p>
            <a:r>
              <a:rPr lang="en-US" dirty="0"/>
              <a:t>Embed in mobile apps for self-tracking</a:t>
            </a:r>
          </a:p>
          <a:p>
            <a:r>
              <a:rPr lang="en-US" dirty="0"/>
              <a:t>Use as decision support, not replacement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concept of “sensing → features → risk score → intervention”.</a:t>
            </a:r>
          </a:p>
          <a:p>
            <a:r>
              <a:rPr lang="en-US" dirty="0"/>
              <a:t>Give example: “If we see a sustained drop in mobility + social interaction + sleep disruption, the system might suggest a check-in.”</a:t>
            </a:r>
          </a:p>
          <a:p>
            <a:r>
              <a:rPr lang="en-US" dirty="0"/>
              <a:t>Emphasize this research aims to </a:t>
            </a:r>
            <a:r>
              <a:rPr lang="en-US" i="1" dirty="0"/>
              <a:t>reduce impact of chronic psychological distress</a:t>
            </a:r>
            <a:r>
              <a:rPr lang="en-US" dirty="0"/>
              <a:t> through earlier recognition and support.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42_mental_health_streaming_and_alerts.ipynb (or .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Simple example of rolling window feature computation over daily events.</a:t>
            </a:r>
          </a:p>
          <a:p>
            <a:pPr lvl="1"/>
            <a:r>
              <a:rPr lang="en-US" dirty="0"/>
              <a:t>Threshold-based alerts + optional basic anomaly detection.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0919D-E8A1-9A95-146B-AF7034517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2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20F92-5DFC-AA8E-C244-D039A7305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2C0D9-66BC-63E5-122C-6C471362D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CA129-C301-C75E-5AFF-8D23F46DC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8 – Wildfire Models &amp; Techniques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Tabular Risk Models</a:t>
            </a:r>
            <a:endParaRPr lang="en-US" dirty="0"/>
          </a:p>
          <a:p>
            <a:r>
              <a:rPr lang="en-US" dirty="0"/>
              <a:t>Algorithms: Logistic Regression, Random Forest, </a:t>
            </a: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r>
              <a:rPr lang="en-US" dirty="0"/>
              <a:t>Task: Predict fire occurrence or risk score per grid cell</a:t>
            </a:r>
          </a:p>
          <a:p>
            <a:r>
              <a:rPr lang="en-US" b="1" dirty="0"/>
              <a:t>Image-based Detection</a:t>
            </a:r>
            <a:endParaRPr lang="en-US" dirty="0"/>
          </a:p>
          <a:p>
            <a:r>
              <a:rPr lang="en-US" dirty="0"/>
              <a:t>CNNs, Vision Transformers, YOLOv5 for smoke/flame detection</a:t>
            </a:r>
          </a:p>
          <a:p>
            <a:r>
              <a:rPr lang="en-US" dirty="0"/>
              <a:t>Task: Fire/no-fire classification on patches or frames</a:t>
            </a:r>
          </a:p>
          <a:p>
            <a:r>
              <a:rPr lang="en-US" b="1" dirty="0"/>
              <a:t>Spread Modeling + ML</a:t>
            </a:r>
            <a:endParaRPr lang="en-US" dirty="0"/>
          </a:p>
          <a:p>
            <a:r>
              <a:rPr lang="en-US" dirty="0"/>
              <a:t>Use physics-based models; ML for post-processing (e.g., </a:t>
            </a:r>
            <a:r>
              <a:rPr lang="en-US" dirty="0" err="1"/>
              <a:t>PostBP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why you start with </a:t>
            </a:r>
            <a:r>
              <a:rPr lang="en-US" b="1" dirty="0"/>
              <a:t>simple models</a:t>
            </a:r>
            <a:r>
              <a:rPr lang="en-US" dirty="0"/>
              <a:t> (logistic regression, Random Forest) and only then move to deep learning.</a:t>
            </a:r>
          </a:p>
          <a:p>
            <a:r>
              <a:rPr lang="en-US" dirty="0"/>
              <a:t>For detection: show how labeled image datasets (Kaggle wildfire datasets, CWGID) are used with CNN-based architectures.</a:t>
            </a:r>
          </a:p>
          <a:p>
            <a:r>
              <a:rPr lang="en-US" dirty="0"/>
              <a:t>Mention trade-offs: accuracy vs interpretability vs computational cost.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20_wildfire_ml_models.ipynb</a:t>
            </a:r>
          </a:p>
          <a:p>
            <a:r>
              <a:rPr lang="en-US" b="1" dirty="0"/>
              <a:t>Tabular part:</a:t>
            </a:r>
            <a:endParaRPr lang="en-US" dirty="0"/>
          </a:p>
          <a:p>
            <a:pPr lvl="1"/>
            <a:r>
              <a:rPr lang="en-US" dirty="0"/>
              <a:t>Train/validation split (by time &amp; space, e.g. train on 2010–2018, test on 2019–2020).</a:t>
            </a:r>
          </a:p>
          <a:p>
            <a:pPr lvl="1"/>
            <a:r>
              <a:rPr lang="en-US" dirty="0"/>
              <a:t>Baseline logistic regression.</a:t>
            </a:r>
          </a:p>
          <a:p>
            <a:pPr lvl="1"/>
            <a:r>
              <a:rPr lang="en-US" dirty="0"/>
              <a:t>Random Forest / </a:t>
            </a:r>
            <a:r>
              <a:rPr lang="en-US" dirty="0" err="1"/>
              <a:t>XGBoost</a:t>
            </a:r>
            <a:r>
              <a:rPr lang="en-US" dirty="0"/>
              <a:t> models with hyperparameter tuning (</a:t>
            </a:r>
            <a:r>
              <a:rPr lang="en-US" dirty="0" err="1"/>
              <a:t>RandomizedSearchCV</a:t>
            </a:r>
            <a:r>
              <a:rPr lang="en-US" dirty="0"/>
              <a:t> / </a:t>
            </a:r>
            <a:r>
              <a:rPr lang="en-US" dirty="0" err="1"/>
              <a:t>Optuna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Feature importance plots.</a:t>
            </a:r>
          </a:p>
          <a:p>
            <a:r>
              <a:rPr lang="en-US" b="1" dirty="0"/>
              <a:t>Image-based part:</a:t>
            </a:r>
            <a:endParaRPr lang="en-US" dirty="0"/>
          </a:p>
          <a:p>
            <a:pPr lvl="1"/>
            <a:r>
              <a:rPr lang="en-US" dirty="0"/>
              <a:t>Load wildfire image dataset (train/</a:t>
            </a:r>
            <a:r>
              <a:rPr lang="en-US" dirty="0" err="1"/>
              <a:t>val</a:t>
            </a:r>
            <a:r>
              <a:rPr lang="en-US" dirty="0"/>
              <a:t>/test folders).</a:t>
            </a:r>
          </a:p>
          <a:p>
            <a:pPr lvl="1"/>
            <a:r>
              <a:rPr lang="en-US" dirty="0"/>
              <a:t>Build a small CNN (or fine-tune a pretrained model).</a:t>
            </a:r>
          </a:p>
          <a:p>
            <a:pPr lvl="1"/>
            <a:r>
              <a:rPr lang="en-US" dirty="0"/>
              <a:t>Data augmentation: random crops, flips, brightness jitter.</a:t>
            </a:r>
          </a:p>
          <a:p>
            <a:pPr lvl="1"/>
            <a:r>
              <a:rPr lang="en-US" dirty="0"/>
              <a:t>Metrics: accuracy, ROC-AUC, confusion matrix, precision-recall.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9 – Wildfires: Evaluation, Explainability &amp; Deployment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Metrics: ROC-AUC, Precision/Recall, F1, PR curves</a:t>
            </a:r>
          </a:p>
          <a:p>
            <a:r>
              <a:rPr lang="en-US" dirty="0"/>
              <a:t>Spatial &amp; temporal generalization: new years / regions</a:t>
            </a:r>
          </a:p>
          <a:p>
            <a:r>
              <a:rPr lang="en-US" b="1" dirty="0"/>
              <a:t>Explainability</a:t>
            </a:r>
            <a:endParaRPr lang="en-US" dirty="0"/>
          </a:p>
          <a:p>
            <a:r>
              <a:rPr lang="en-US" dirty="0"/>
              <a:t>Feature importance, permutation importance</a:t>
            </a:r>
          </a:p>
          <a:p>
            <a:r>
              <a:rPr lang="en-US" dirty="0"/>
              <a:t>SHAP values (risk drivers: wind, vegetation, drought)</a:t>
            </a:r>
          </a:p>
          <a:p>
            <a:r>
              <a:rPr lang="en-US" b="1" dirty="0"/>
              <a:t>Deployment</a:t>
            </a:r>
            <a:endParaRPr lang="en-US" dirty="0"/>
          </a:p>
          <a:p>
            <a:r>
              <a:rPr lang="en-US" dirty="0"/>
              <a:t>Batch risk maps (daily/weekly)</a:t>
            </a:r>
          </a:p>
          <a:p>
            <a:r>
              <a:rPr lang="en-US" dirty="0"/>
              <a:t>API to query risk for coordinates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Highlight the gap between “good offline metrics” and “useful in the field”; e.g., false positives vs false negatives.</a:t>
            </a:r>
          </a:p>
          <a:p>
            <a:r>
              <a:rPr lang="en-US" dirty="0"/>
              <a:t>Explain how SHAP helps communicate to non-technical stakeholders </a:t>
            </a:r>
            <a:r>
              <a:rPr lang="en-US" i="1" dirty="0"/>
              <a:t>why</a:t>
            </a:r>
            <a:r>
              <a:rPr lang="en-US" dirty="0"/>
              <a:t> certain areas are high risk.</a:t>
            </a:r>
          </a:p>
          <a:p>
            <a:r>
              <a:rPr lang="en-US" dirty="0"/>
              <a:t>Briefly mention deployment pattern: scheduled pipeline generates maps → stored in object storage → consumed by dashboards/services.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21_wildfire_evaluation_explainability.ipynb</a:t>
            </a:r>
          </a:p>
          <a:p>
            <a:pPr lvl="1"/>
            <a:r>
              <a:rPr lang="en-US" dirty="0"/>
              <a:t>ROC/PR curves for test set.</a:t>
            </a:r>
          </a:p>
          <a:p>
            <a:pPr lvl="1"/>
            <a:r>
              <a:rPr lang="en-US" dirty="0"/>
              <a:t>SHAP for tree-based models (global + local plots).</a:t>
            </a:r>
          </a:p>
          <a:p>
            <a:pPr lvl="1"/>
            <a:r>
              <a:rPr lang="en-US" dirty="0"/>
              <a:t>Map predicted risk over geography with </a:t>
            </a:r>
            <a:r>
              <a:rPr lang="en-US" dirty="0" err="1"/>
              <a:t>geopandas</a:t>
            </a:r>
            <a:r>
              <a:rPr lang="en-US" dirty="0"/>
              <a:t> and matplotlib.</a:t>
            </a:r>
          </a:p>
          <a:p>
            <a:r>
              <a:rPr lang="en-US" dirty="0"/>
              <a:t>22_wildfire_batch_scoring.py</a:t>
            </a:r>
          </a:p>
          <a:p>
            <a:pPr lvl="1"/>
            <a:r>
              <a:rPr lang="en-US" dirty="0"/>
              <a:t>Script to read latest weather/land cover data.</a:t>
            </a:r>
          </a:p>
          <a:p>
            <a:pPr lvl="1"/>
            <a:r>
              <a:rPr lang="en-US" dirty="0"/>
              <a:t>Generate risk scores for grid cells.</a:t>
            </a:r>
          </a:p>
          <a:p>
            <a:pPr lvl="1"/>
            <a:r>
              <a:rPr lang="en-US" dirty="0"/>
              <a:t>Save results as </a:t>
            </a:r>
            <a:r>
              <a:rPr lang="en-US" dirty="0" err="1"/>
              <a:t>GeoJSON</a:t>
            </a:r>
            <a:r>
              <a:rPr lang="en-US" dirty="0"/>
              <a:t> / shapefiles.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Mental Health via Mobile Sensing Section</a:t>
            </a:r>
          </a:p>
          <a:p>
            <a:r>
              <a:rPr lang="en-US" b="1" dirty="0"/>
              <a:t>Slide 10 – Mental Health: Problem Framing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Global burden of depression, PTSD, chronic stress</a:t>
            </a:r>
          </a:p>
          <a:p>
            <a:r>
              <a:rPr lang="en-US" dirty="0"/>
              <a:t>Traditional detection: surveys, clinical visits</a:t>
            </a:r>
          </a:p>
          <a:p>
            <a:r>
              <a:rPr lang="en-US" dirty="0"/>
              <a:t>New opportunity:</a:t>
            </a:r>
          </a:p>
          <a:p>
            <a:pPr lvl="1"/>
            <a:r>
              <a:rPr lang="en-US" dirty="0"/>
              <a:t>Use passive sensing from phones/wearables</a:t>
            </a:r>
          </a:p>
          <a:p>
            <a:pPr lvl="1"/>
            <a:r>
              <a:rPr lang="en-US" dirty="0"/>
              <a:t>Predict symptom severity &amp; detect changes early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Introduce MIT/“Social Physics” work: using mobile and social sensing to predict mental health symptoms. </a:t>
            </a:r>
          </a:p>
          <a:p>
            <a:r>
              <a:rPr lang="en-US" dirty="0"/>
              <a:t>Clarify: goal is </a:t>
            </a:r>
            <a:r>
              <a:rPr lang="en-US" i="1" dirty="0"/>
              <a:t>not</a:t>
            </a:r>
            <a:r>
              <a:rPr lang="en-US" dirty="0"/>
              <a:t> to diagnose, but to support clinicians and individuals with </a:t>
            </a:r>
            <a:r>
              <a:rPr lang="en-US" i="1" dirty="0"/>
              <a:t>signals</a:t>
            </a:r>
            <a:r>
              <a:rPr lang="en-US" dirty="0"/>
              <a:t> and trends.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30_mental_health_problem_setup.ipynb</a:t>
            </a:r>
          </a:p>
          <a:p>
            <a:pPr lvl="1"/>
            <a:r>
              <a:rPr lang="en-US" dirty="0"/>
              <a:t>Define labels (e.g., weekly PHQ-9 scores, PTSD symptom scores).</a:t>
            </a:r>
          </a:p>
          <a:p>
            <a:pPr lvl="1"/>
            <a:r>
              <a:rPr lang="en-US" dirty="0"/>
              <a:t>Set tasks: regression (predict score) or classification (high vs low risk).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11 – Mobile Sensing Data &amp; Behavioral Features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Data Types</a:t>
            </a:r>
            <a:r>
              <a:rPr lang="en-US" dirty="0"/>
              <a:t> </a:t>
            </a:r>
          </a:p>
          <a:p>
            <a:r>
              <a:rPr lang="en-US" dirty="0"/>
              <a:t>Mobility: GPS location, distance traveled, time at home</a:t>
            </a:r>
          </a:p>
          <a:p>
            <a:r>
              <a:rPr lang="en-US" dirty="0"/>
              <a:t>Communication: call/text durations (metadata only)</a:t>
            </a:r>
          </a:p>
          <a:p>
            <a:r>
              <a:rPr lang="en-US" dirty="0"/>
              <a:t>Sleep &amp; circadian rhythms (phone inactivity, wearables)</a:t>
            </a:r>
          </a:p>
          <a:p>
            <a:r>
              <a:rPr lang="en-US" dirty="0"/>
              <a:t>Social interaction: proximity, conversations (via “Reality” app/badges)</a:t>
            </a:r>
          </a:p>
          <a:p>
            <a:r>
              <a:rPr lang="en-US" dirty="0"/>
              <a:t>Phone usage: app usage patterns, screen time</a:t>
            </a:r>
          </a:p>
          <a:p>
            <a:r>
              <a:rPr lang="en-US" b="1" dirty="0"/>
              <a:t>Derived Features</a:t>
            </a:r>
            <a:endParaRPr lang="en-US" dirty="0"/>
          </a:p>
          <a:p>
            <a:r>
              <a:rPr lang="en-US" dirty="0"/>
              <a:t>Routine regularity / entropy of locations</a:t>
            </a:r>
          </a:p>
          <a:p>
            <a:r>
              <a:rPr lang="en-US" dirty="0"/>
              <a:t>Social isolation vs engagement</a:t>
            </a:r>
          </a:p>
          <a:p>
            <a:r>
              <a:rPr lang="en-US" dirty="0"/>
              <a:t>Sleep regularity and duration</a:t>
            </a:r>
          </a:p>
          <a:p>
            <a:r>
              <a:rPr lang="en-US" dirty="0"/>
              <a:t>Weekend vs weekday behavior changes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</a:t>
            </a:r>
            <a:r>
              <a:rPr lang="en-US" i="1" dirty="0"/>
              <a:t>passive sensing</a:t>
            </a:r>
            <a:r>
              <a:rPr lang="en-US" dirty="0"/>
              <a:t>: data collected continuously without active user input.</a:t>
            </a:r>
          </a:p>
          <a:p>
            <a:r>
              <a:rPr lang="en-US" dirty="0"/>
              <a:t>Mention research use cases:</a:t>
            </a:r>
          </a:p>
          <a:p>
            <a:pPr lvl="1"/>
            <a:r>
              <a:rPr lang="en-US" dirty="0"/>
              <a:t>Predict weekly depression/PTSD severity.</a:t>
            </a:r>
          </a:p>
          <a:p>
            <a:pPr lvl="1"/>
            <a:r>
              <a:rPr lang="en-US" dirty="0"/>
              <a:t>Epidemiological behavior change analysis.</a:t>
            </a:r>
          </a:p>
          <a:p>
            <a:pPr lvl="1"/>
            <a:r>
              <a:rPr lang="en-US" dirty="0"/>
              <a:t>Schizophrenia symptom tracking and relapse prediction.</a:t>
            </a:r>
          </a:p>
          <a:p>
            <a:pPr lvl="1"/>
            <a:r>
              <a:rPr lang="en-US" dirty="0"/>
              <a:t>Worker wellbeing monitoring.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31_mobile_data_ingestion.ipynb</a:t>
            </a:r>
          </a:p>
          <a:p>
            <a:pPr lvl="1"/>
            <a:r>
              <a:rPr lang="en-US" dirty="0"/>
              <a:t>Parse raw logs: GPS pings, call/text metadata, accelerometer, app usage.</a:t>
            </a:r>
          </a:p>
          <a:p>
            <a:pPr lvl="1"/>
            <a:r>
              <a:rPr lang="en-US" dirty="0"/>
              <a:t>De-identification/anonymization utilities (hashing IDs, removing PII).</a:t>
            </a:r>
          </a:p>
          <a:p>
            <a:r>
              <a:rPr lang="en-US" dirty="0"/>
              <a:t>32_behavioral_feature_engineering.ipynb</a:t>
            </a:r>
          </a:p>
          <a:p>
            <a:pPr lvl="1"/>
            <a:r>
              <a:rPr lang="en-US" dirty="0"/>
              <a:t>Compute:</a:t>
            </a:r>
          </a:p>
          <a:p>
            <a:pPr lvl="2"/>
            <a:r>
              <a:rPr lang="en-US" dirty="0"/>
              <a:t>Daily distance traveled, number of unique locations.</a:t>
            </a:r>
          </a:p>
          <a:p>
            <a:pPr lvl="2"/>
            <a:r>
              <a:rPr lang="en-US" dirty="0"/>
              <a:t>Time at “home” vs “work” vs “other clusters”.</a:t>
            </a:r>
          </a:p>
          <a:p>
            <a:pPr lvl="2"/>
            <a:r>
              <a:rPr lang="en-US" dirty="0"/>
              <a:t>Sleep onset/wake-up estimates (based on inactivity/screen-lock).</a:t>
            </a:r>
          </a:p>
          <a:p>
            <a:pPr lvl="2"/>
            <a:r>
              <a:rPr lang="en-US" dirty="0"/>
              <a:t>Social interaction frequency from proximity/conversation durations.</a:t>
            </a:r>
          </a:p>
          <a:p>
            <a:pPr lvl="1"/>
            <a:r>
              <a:rPr lang="en-US" dirty="0"/>
              <a:t>Aggregate to weekly features aligned with mental health survey dates.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12 – Modeling Mental Health Symptoms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Tasks</a:t>
            </a:r>
            <a:r>
              <a:rPr lang="en-US" dirty="0"/>
              <a:t> </a:t>
            </a:r>
          </a:p>
          <a:p>
            <a:r>
              <a:rPr lang="en-US" dirty="0"/>
              <a:t>Regression: predict weekly scores (e.g., PHQ-9)</a:t>
            </a:r>
          </a:p>
          <a:p>
            <a:r>
              <a:rPr lang="en-US" dirty="0"/>
              <a:t>Classification: predict high-risk vs low-risk weeks</a:t>
            </a:r>
          </a:p>
          <a:p>
            <a:r>
              <a:rPr lang="en-US" b="1" dirty="0"/>
              <a:t>Models</a:t>
            </a:r>
            <a:endParaRPr lang="en-US" dirty="0"/>
          </a:p>
          <a:p>
            <a:r>
              <a:rPr lang="en-US" dirty="0"/>
              <a:t>Linear regression / Elastic Net (simple baselines)</a:t>
            </a:r>
          </a:p>
          <a:p>
            <a:r>
              <a:rPr lang="en-US" dirty="0"/>
              <a:t>Random Forest / Gradient Boosted Trees</a:t>
            </a:r>
          </a:p>
          <a:p>
            <a:r>
              <a:rPr lang="en-US" dirty="0"/>
              <a:t>Sequence models (RNN/LSTM/Temporal CNN) for time series</a:t>
            </a:r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MAE / RMSE for regression</a:t>
            </a:r>
          </a:p>
          <a:p>
            <a:r>
              <a:rPr lang="en-US" dirty="0"/>
              <a:t>ROC-AUC, F1 for classification</a:t>
            </a:r>
          </a:p>
          <a:p>
            <a:r>
              <a:rPr lang="en-US" dirty="0"/>
              <a:t>Per-person vs global models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Start from simpler models to get interpretability.</a:t>
            </a:r>
          </a:p>
          <a:p>
            <a:r>
              <a:rPr lang="en-US" dirty="0"/>
              <a:t>Discuss how features like reduced mobility + reduced social interactions often correlate with higher depression scores.</a:t>
            </a:r>
          </a:p>
          <a:p>
            <a:r>
              <a:rPr lang="en-US" dirty="0"/>
              <a:t>Mention </a:t>
            </a:r>
            <a:r>
              <a:rPr lang="en-US" b="1" dirty="0"/>
              <a:t>individual vs population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Per-person personalized models.</a:t>
            </a:r>
          </a:p>
          <a:p>
            <a:pPr lvl="1"/>
            <a:r>
              <a:rPr lang="en-US" dirty="0"/>
              <a:t>Single global model with person-level embeddings.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40_mental_health_ml_models.ipynb</a:t>
            </a:r>
          </a:p>
          <a:p>
            <a:pPr lvl="1"/>
            <a:r>
              <a:rPr lang="en-US" dirty="0"/>
              <a:t>Train/test splits with careful leakage control (train on early weeks, test on later weeks).</a:t>
            </a:r>
          </a:p>
          <a:p>
            <a:pPr lvl="1"/>
            <a:r>
              <a:rPr lang="en-US" dirty="0"/>
              <a:t>Baseline linear/Elastic Net model.</a:t>
            </a:r>
          </a:p>
          <a:p>
            <a:pPr lvl="1"/>
            <a:r>
              <a:rPr lang="en-US" dirty="0"/>
              <a:t>Tree-based models with cross-validation.</a:t>
            </a:r>
          </a:p>
          <a:p>
            <a:pPr lvl="1"/>
            <a:r>
              <a:rPr lang="en-US" dirty="0"/>
              <a:t>Optional: basic RNN/LSTM model over sequences of weekly features.</a:t>
            </a:r>
          </a:p>
          <a:p>
            <a:r>
              <a:rPr lang="en-US" dirty="0"/>
              <a:t>41_mental_health_model_evaluation.ipynb</a:t>
            </a:r>
          </a:p>
          <a:p>
            <a:pPr lvl="1"/>
            <a:r>
              <a:rPr lang="en-US" dirty="0"/>
              <a:t>Individual vs global evaluation metrics.</a:t>
            </a:r>
          </a:p>
          <a:p>
            <a:pPr lvl="1"/>
            <a:r>
              <a:rPr lang="en-US" dirty="0"/>
              <a:t>Calibration curves to understand probability estimates.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13 – Real-Time Monitoring &amp; Clinical Integration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Real-time monitoring</a:t>
            </a:r>
            <a:r>
              <a:rPr lang="en-US" dirty="0"/>
              <a:t> </a:t>
            </a:r>
          </a:p>
          <a:p>
            <a:r>
              <a:rPr lang="en-US" dirty="0"/>
              <a:t>Stream behavioral features daily/weekly</a:t>
            </a:r>
          </a:p>
          <a:p>
            <a:r>
              <a:rPr lang="en-US" dirty="0"/>
              <a:t>Trigger alerts when risk crosses threshold</a:t>
            </a:r>
          </a:p>
          <a:p>
            <a:r>
              <a:rPr lang="en-US" dirty="0"/>
              <a:t>Provide feedback dashboards for clinicians &amp; users</a:t>
            </a:r>
          </a:p>
          <a:p>
            <a:r>
              <a:rPr lang="en-US" b="1" dirty="0"/>
              <a:t>Integration</a:t>
            </a:r>
            <a:endParaRPr lang="en-US" dirty="0"/>
          </a:p>
          <a:p>
            <a:r>
              <a:rPr lang="en-US" dirty="0"/>
              <a:t>Embed in mobile apps for self-tracking</a:t>
            </a:r>
          </a:p>
          <a:p>
            <a:r>
              <a:rPr lang="en-US" dirty="0"/>
              <a:t>Use as decision support, not replacement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concept of “sensing → features → risk score → intervention”.</a:t>
            </a:r>
          </a:p>
          <a:p>
            <a:r>
              <a:rPr lang="en-US" dirty="0"/>
              <a:t>Give example: “If we see a sustained drop in mobility + social interaction + sleep disruption, the system might suggest a check-in.”</a:t>
            </a:r>
          </a:p>
          <a:p>
            <a:r>
              <a:rPr lang="en-US" dirty="0"/>
              <a:t>Emphasize this research aims to </a:t>
            </a:r>
            <a:r>
              <a:rPr lang="en-US" i="1" dirty="0"/>
              <a:t>reduce impact of chronic psychological distress</a:t>
            </a:r>
            <a:r>
              <a:rPr lang="en-US" dirty="0"/>
              <a:t> through earlier recognition and support.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42_mental_health_streaming_and_alerts.ipynb (or .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Simple example of rolling window feature computation over daily events.</a:t>
            </a:r>
          </a:p>
          <a:p>
            <a:pPr lvl="1"/>
            <a:r>
              <a:rPr lang="en-US" dirty="0"/>
              <a:t>Threshold-based alerts + optional basic anomaly detection.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9A582-C32C-05D7-7033-53965DFFC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9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943E-7DA1-93AD-96DF-F1A5C9240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04168-467D-476B-B344-792F07465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62174-70D3-703C-08FC-257514211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8 – Wildfire Models &amp; Techniques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Tabular Risk Models</a:t>
            </a:r>
            <a:endParaRPr lang="en-US" dirty="0"/>
          </a:p>
          <a:p>
            <a:r>
              <a:rPr lang="en-US" dirty="0"/>
              <a:t>Algorithms: Logistic Regression, Random Forest, </a:t>
            </a: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r>
              <a:rPr lang="en-US" dirty="0"/>
              <a:t>Task: Predict fire occurrence or risk score per grid cell</a:t>
            </a:r>
          </a:p>
          <a:p>
            <a:r>
              <a:rPr lang="en-US" b="1" dirty="0"/>
              <a:t>Image-based Detection</a:t>
            </a:r>
            <a:endParaRPr lang="en-US" dirty="0"/>
          </a:p>
          <a:p>
            <a:r>
              <a:rPr lang="en-US" dirty="0"/>
              <a:t>CNNs, Vision Transformers, YOLOv5 for smoke/flame detection</a:t>
            </a:r>
          </a:p>
          <a:p>
            <a:r>
              <a:rPr lang="en-US" dirty="0"/>
              <a:t>Task: Fire/no-fire classification on patches or frames</a:t>
            </a:r>
          </a:p>
          <a:p>
            <a:r>
              <a:rPr lang="en-US" b="1" dirty="0"/>
              <a:t>Spread Modeling + ML</a:t>
            </a:r>
            <a:endParaRPr lang="en-US" dirty="0"/>
          </a:p>
          <a:p>
            <a:r>
              <a:rPr lang="en-US" dirty="0"/>
              <a:t>Use physics-based models; ML for post-processing (e.g., </a:t>
            </a:r>
            <a:r>
              <a:rPr lang="en-US" dirty="0" err="1"/>
              <a:t>PostBP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why you start with </a:t>
            </a:r>
            <a:r>
              <a:rPr lang="en-US" b="1" dirty="0"/>
              <a:t>simple models</a:t>
            </a:r>
            <a:r>
              <a:rPr lang="en-US" dirty="0"/>
              <a:t> (logistic regression, Random Forest) and only then move to deep learning.</a:t>
            </a:r>
          </a:p>
          <a:p>
            <a:r>
              <a:rPr lang="en-US" dirty="0"/>
              <a:t>For detection: show how labeled image datasets (Kaggle wildfire datasets, CWGID) are used with CNN-based architectures.</a:t>
            </a:r>
          </a:p>
          <a:p>
            <a:r>
              <a:rPr lang="en-US" dirty="0"/>
              <a:t>Mention trade-offs: accuracy vs interpretability vs computational cost.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20_wildfire_ml_models.ipynb</a:t>
            </a:r>
          </a:p>
          <a:p>
            <a:r>
              <a:rPr lang="en-US" b="1" dirty="0"/>
              <a:t>Tabular part:</a:t>
            </a:r>
            <a:endParaRPr lang="en-US" dirty="0"/>
          </a:p>
          <a:p>
            <a:pPr lvl="1"/>
            <a:r>
              <a:rPr lang="en-US" dirty="0"/>
              <a:t>Train/validation split (by time &amp; space, e.g. train on 2010–2018, test on 2019–2020).</a:t>
            </a:r>
          </a:p>
          <a:p>
            <a:pPr lvl="1"/>
            <a:r>
              <a:rPr lang="en-US" dirty="0"/>
              <a:t>Baseline logistic regression.</a:t>
            </a:r>
          </a:p>
          <a:p>
            <a:pPr lvl="1"/>
            <a:r>
              <a:rPr lang="en-US" dirty="0"/>
              <a:t>Random Forest / </a:t>
            </a:r>
            <a:r>
              <a:rPr lang="en-US" dirty="0" err="1"/>
              <a:t>XGBoost</a:t>
            </a:r>
            <a:r>
              <a:rPr lang="en-US" dirty="0"/>
              <a:t> models with hyperparameter tuning (</a:t>
            </a:r>
            <a:r>
              <a:rPr lang="en-US" dirty="0" err="1"/>
              <a:t>RandomizedSearchCV</a:t>
            </a:r>
            <a:r>
              <a:rPr lang="en-US" dirty="0"/>
              <a:t> / </a:t>
            </a:r>
            <a:r>
              <a:rPr lang="en-US" dirty="0" err="1"/>
              <a:t>Optuna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Feature importance plots.</a:t>
            </a:r>
          </a:p>
          <a:p>
            <a:r>
              <a:rPr lang="en-US" b="1" dirty="0"/>
              <a:t>Image-based part:</a:t>
            </a:r>
            <a:endParaRPr lang="en-US" dirty="0"/>
          </a:p>
          <a:p>
            <a:pPr lvl="1"/>
            <a:r>
              <a:rPr lang="en-US" dirty="0"/>
              <a:t>Load wildfire image dataset (train/</a:t>
            </a:r>
            <a:r>
              <a:rPr lang="en-US" dirty="0" err="1"/>
              <a:t>val</a:t>
            </a:r>
            <a:r>
              <a:rPr lang="en-US" dirty="0"/>
              <a:t>/test folders).</a:t>
            </a:r>
          </a:p>
          <a:p>
            <a:pPr lvl="1"/>
            <a:r>
              <a:rPr lang="en-US" dirty="0"/>
              <a:t>Build a small CNN (or fine-tune a pretrained model).</a:t>
            </a:r>
          </a:p>
          <a:p>
            <a:pPr lvl="1"/>
            <a:r>
              <a:rPr lang="en-US" dirty="0"/>
              <a:t>Data augmentation: random crops, flips, brightness jitter.</a:t>
            </a:r>
          </a:p>
          <a:p>
            <a:pPr lvl="1"/>
            <a:r>
              <a:rPr lang="en-US" dirty="0"/>
              <a:t>Metrics: accuracy, ROC-AUC, confusion matrix, precision-recall.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9 – Wildfires: Evaluation, Explainability &amp; Deployment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Metrics: ROC-AUC, Precision/Recall, F1, PR curves</a:t>
            </a:r>
          </a:p>
          <a:p>
            <a:r>
              <a:rPr lang="en-US" dirty="0"/>
              <a:t>Spatial &amp; temporal generalization: new years / regions</a:t>
            </a:r>
          </a:p>
          <a:p>
            <a:r>
              <a:rPr lang="en-US" b="1" dirty="0"/>
              <a:t>Explainability</a:t>
            </a:r>
            <a:endParaRPr lang="en-US" dirty="0"/>
          </a:p>
          <a:p>
            <a:r>
              <a:rPr lang="en-US" dirty="0"/>
              <a:t>Feature importance, permutation importance</a:t>
            </a:r>
          </a:p>
          <a:p>
            <a:r>
              <a:rPr lang="en-US" dirty="0"/>
              <a:t>SHAP values (risk drivers: wind, vegetation, drought)</a:t>
            </a:r>
          </a:p>
          <a:p>
            <a:r>
              <a:rPr lang="en-US" b="1" dirty="0"/>
              <a:t>Deployment</a:t>
            </a:r>
            <a:endParaRPr lang="en-US" dirty="0"/>
          </a:p>
          <a:p>
            <a:r>
              <a:rPr lang="en-US" dirty="0"/>
              <a:t>Batch risk maps (daily/weekly)</a:t>
            </a:r>
          </a:p>
          <a:p>
            <a:r>
              <a:rPr lang="en-US" dirty="0"/>
              <a:t>API to query risk for coordinates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Highlight the gap between “good offline metrics” and “useful in the field”; e.g., false positives vs false negatives.</a:t>
            </a:r>
          </a:p>
          <a:p>
            <a:r>
              <a:rPr lang="en-US" dirty="0"/>
              <a:t>Explain how SHAP helps communicate to non-technical stakeholders </a:t>
            </a:r>
            <a:r>
              <a:rPr lang="en-US" i="1" dirty="0"/>
              <a:t>why</a:t>
            </a:r>
            <a:r>
              <a:rPr lang="en-US" dirty="0"/>
              <a:t> certain areas are high risk.</a:t>
            </a:r>
          </a:p>
          <a:p>
            <a:r>
              <a:rPr lang="en-US" dirty="0"/>
              <a:t>Briefly mention deployment pattern: scheduled pipeline generates maps → stored in object storage → consumed by dashboards/services.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21_wildfire_evaluation_explainability.ipynb</a:t>
            </a:r>
          </a:p>
          <a:p>
            <a:pPr lvl="1"/>
            <a:r>
              <a:rPr lang="en-US" dirty="0"/>
              <a:t>ROC/PR curves for test set.</a:t>
            </a:r>
          </a:p>
          <a:p>
            <a:pPr lvl="1"/>
            <a:r>
              <a:rPr lang="en-US" dirty="0"/>
              <a:t>SHAP for tree-based models (global + local plots).</a:t>
            </a:r>
          </a:p>
          <a:p>
            <a:pPr lvl="1"/>
            <a:r>
              <a:rPr lang="en-US" dirty="0"/>
              <a:t>Map predicted risk over geography with </a:t>
            </a:r>
            <a:r>
              <a:rPr lang="en-US" dirty="0" err="1"/>
              <a:t>geopandas</a:t>
            </a:r>
            <a:r>
              <a:rPr lang="en-US" dirty="0"/>
              <a:t> and matplotlib.</a:t>
            </a:r>
          </a:p>
          <a:p>
            <a:r>
              <a:rPr lang="en-US" dirty="0"/>
              <a:t>22_wildfire_batch_scoring.py</a:t>
            </a:r>
          </a:p>
          <a:p>
            <a:pPr lvl="1"/>
            <a:r>
              <a:rPr lang="en-US" dirty="0"/>
              <a:t>Script to read latest weather/land cover data.</a:t>
            </a:r>
          </a:p>
          <a:p>
            <a:pPr lvl="1"/>
            <a:r>
              <a:rPr lang="en-US" dirty="0"/>
              <a:t>Generate risk scores for grid cells.</a:t>
            </a:r>
          </a:p>
          <a:p>
            <a:pPr lvl="1"/>
            <a:r>
              <a:rPr lang="en-US" dirty="0"/>
              <a:t>Save results as </a:t>
            </a:r>
            <a:r>
              <a:rPr lang="en-US" dirty="0" err="1"/>
              <a:t>GeoJSON</a:t>
            </a:r>
            <a:r>
              <a:rPr lang="en-US" dirty="0"/>
              <a:t> / shapefiles.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Mental Health via Mobile Sensing Section</a:t>
            </a:r>
          </a:p>
          <a:p>
            <a:r>
              <a:rPr lang="en-US" b="1" dirty="0"/>
              <a:t>Slide 10 – Mental Health: Problem Framing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Global burden of depression, PTSD, chronic stress</a:t>
            </a:r>
          </a:p>
          <a:p>
            <a:r>
              <a:rPr lang="en-US" dirty="0"/>
              <a:t>Traditional detection: surveys, clinical visits</a:t>
            </a:r>
          </a:p>
          <a:p>
            <a:r>
              <a:rPr lang="en-US" dirty="0"/>
              <a:t>New opportunity:</a:t>
            </a:r>
          </a:p>
          <a:p>
            <a:pPr lvl="1"/>
            <a:r>
              <a:rPr lang="en-US" dirty="0"/>
              <a:t>Use passive sensing from phones/wearables</a:t>
            </a:r>
          </a:p>
          <a:p>
            <a:pPr lvl="1"/>
            <a:r>
              <a:rPr lang="en-US" dirty="0"/>
              <a:t>Predict symptom severity &amp; detect changes early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Introduce MIT/“Social Physics” work: using mobile and social sensing to predict mental health symptoms. </a:t>
            </a:r>
          </a:p>
          <a:p>
            <a:r>
              <a:rPr lang="en-US" dirty="0"/>
              <a:t>Clarify: goal is </a:t>
            </a:r>
            <a:r>
              <a:rPr lang="en-US" i="1" dirty="0"/>
              <a:t>not</a:t>
            </a:r>
            <a:r>
              <a:rPr lang="en-US" dirty="0"/>
              <a:t> to diagnose, but to support clinicians and individuals with </a:t>
            </a:r>
            <a:r>
              <a:rPr lang="en-US" i="1" dirty="0"/>
              <a:t>signals</a:t>
            </a:r>
            <a:r>
              <a:rPr lang="en-US" dirty="0"/>
              <a:t> and trends.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30_mental_health_problem_setup.ipynb</a:t>
            </a:r>
          </a:p>
          <a:p>
            <a:pPr lvl="1"/>
            <a:r>
              <a:rPr lang="en-US" dirty="0"/>
              <a:t>Define labels (e.g., weekly PHQ-9 scores, PTSD symptom scores).</a:t>
            </a:r>
          </a:p>
          <a:p>
            <a:pPr lvl="1"/>
            <a:r>
              <a:rPr lang="en-US" dirty="0"/>
              <a:t>Set tasks: regression (predict score) or classification (high vs low risk).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11 – Mobile Sensing Data &amp; Behavioral Features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Data Types</a:t>
            </a:r>
            <a:r>
              <a:rPr lang="en-US" dirty="0"/>
              <a:t> </a:t>
            </a:r>
          </a:p>
          <a:p>
            <a:r>
              <a:rPr lang="en-US" dirty="0"/>
              <a:t>Mobility: GPS location, distance traveled, time at home</a:t>
            </a:r>
          </a:p>
          <a:p>
            <a:r>
              <a:rPr lang="en-US" dirty="0"/>
              <a:t>Communication: call/text durations (metadata only)</a:t>
            </a:r>
          </a:p>
          <a:p>
            <a:r>
              <a:rPr lang="en-US" dirty="0"/>
              <a:t>Sleep &amp; circadian rhythms (phone inactivity, wearables)</a:t>
            </a:r>
          </a:p>
          <a:p>
            <a:r>
              <a:rPr lang="en-US" dirty="0"/>
              <a:t>Social interaction: proximity, conversations (via “Reality” app/badges)</a:t>
            </a:r>
          </a:p>
          <a:p>
            <a:r>
              <a:rPr lang="en-US" dirty="0"/>
              <a:t>Phone usage: app usage patterns, screen time</a:t>
            </a:r>
          </a:p>
          <a:p>
            <a:r>
              <a:rPr lang="en-US" b="1" dirty="0"/>
              <a:t>Derived Features</a:t>
            </a:r>
            <a:endParaRPr lang="en-US" dirty="0"/>
          </a:p>
          <a:p>
            <a:r>
              <a:rPr lang="en-US" dirty="0"/>
              <a:t>Routine regularity / entropy of locations</a:t>
            </a:r>
          </a:p>
          <a:p>
            <a:r>
              <a:rPr lang="en-US" dirty="0"/>
              <a:t>Social isolation vs engagement</a:t>
            </a:r>
          </a:p>
          <a:p>
            <a:r>
              <a:rPr lang="en-US" dirty="0"/>
              <a:t>Sleep regularity and duration</a:t>
            </a:r>
          </a:p>
          <a:p>
            <a:r>
              <a:rPr lang="en-US" dirty="0"/>
              <a:t>Weekend vs weekday behavior changes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</a:t>
            </a:r>
            <a:r>
              <a:rPr lang="en-US" i="1" dirty="0"/>
              <a:t>passive sensing</a:t>
            </a:r>
            <a:r>
              <a:rPr lang="en-US" dirty="0"/>
              <a:t>: data collected continuously without active user input.</a:t>
            </a:r>
          </a:p>
          <a:p>
            <a:r>
              <a:rPr lang="en-US" dirty="0"/>
              <a:t>Mention research use cases:</a:t>
            </a:r>
          </a:p>
          <a:p>
            <a:pPr lvl="1"/>
            <a:r>
              <a:rPr lang="en-US" dirty="0"/>
              <a:t>Predict weekly depression/PTSD severity.</a:t>
            </a:r>
          </a:p>
          <a:p>
            <a:pPr lvl="1"/>
            <a:r>
              <a:rPr lang="en-US" dirty="0"/>
              <a:t>Epidemiological behavior change analysis.</a:t>
            </a:r>
          </a:p>
          <a:p>
            <a:pPr lvl="1"/>
            <a:r>
              <a:rPr lang="en-US" dirty="0"/>
              <a:t>Schizophrenia symptom tracking and relapse prediction.</a:t>
            </a:r>
          </a:p>
          <a:p>
            <a:pPr lvl="1"/>
            <a:r>
              <a:rPr lang="en-US" dirty="0"/>
              <a:t>Worker wellbeing monitoring.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31_mobile_data_ingestion.ipynb</a:t>
            </a:r>
          </a:p>
          <a:p>
            <a:pPr lvl="1"/>
            <a:r>
              <a:rPr lang="en-US" dirty="0"/>
              <a:t>Parse raw logs: GPS pings, call/text metadata, accelerometer, app usage.</a:t>
            </a:r>
          </a:p>
          <a:p>
            <a:pPr lvl="1"/>
            <a:r>
              <a:rPr lang="en-US" dirty="0"/>
              <a:t>De-identification/anonymization utilities (hashing IDs, removing PII).</a:t>
            </a:r>
          </a:p>
          <a:p>
            <a:r>
              <a:rPr lang="en-US" dirty="0"/>
              <a:t>32_behavioral_feature_engineering.ipynb</a:t>
            </a:r>
          </a:p>
          <a:p>
            <a:pPr lvl="1"/>
            <a:r>
              <a:rPr lang="en-US" dirty="0"/>
              <a:t>Compute:</a:t>
            </a:r>
          </a:p>
          <a:p>
            <a:pPr lvl="2"/>
            <a:r>
              <a:rPr lang="en-US" dirty="0"/>
              <a:t>Daily distance traveled, number of unique locations.</a:t>
            </a:r>
          </a:p>
          <a:p>
            <a:pPr lvl="2"/>
            <a:r>
              <a:rPr lang="en-US" dirty="0"/>
              <a:t>Time at “home” vs “work” vs “other clusters”.</a:t>
            </a:r>
          </a:p>
          <a:p>
            <a:pPr lvl="2"/>
            <a:r>
              <a:rPr lang="en-US" dirty="0"/>
              <a:t>Sleep onset/wake-up estimates (based on inactivity/screen-lock).</a:t>
            </a:r>
          </a:p>
          <a:p>
            <a:pPr lvl="2"/>
            <a:r>
              <a:rPr lang="en-US" dirty="0"/>
              <a:t>Social interaction frequency from proximity/conversation durations.</a:t>
            </a:r>
          </a:p>
          <a:p>
            <a:pPr lvl="1"/>
            <a:r>
              <a:rPr lang="en-US" dirty="0"/>
              <a:t>Aggregate to weekly features aligned with mental health survey dates.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12 – Modeling Mental Health Symptoms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Tasks</a:t>
            </a:r>
            <a:r>
              <a:rPr lang="en-US" dirty="0"/>
              <a:t> </a:t>
            </a:r>
          </a:p>
          <a:p>
            <a:r>
              <a:rPr lang="en-US" dirty="0"/>
              <a:t>Regression: predict weekly scores (e.g., PHQ-9)</a:t>
            </a:r>
          </a:p>
          <a:p>
            <a:r>
              <a:rPr lang="en-US" dirty="0"/>
              <a:t>Classification: predict high-risk vs low-risk weeks</a:t>
            </a:r>
          </a:p>
          <a:p>
            <a:r>
              <a:rPr lang="en-US" b="1" dirty="0"/>
              <a:t>Models</a:t>
            </a:r>
            <a:endParaRPr lang="en-US" dirty="0"/>
          </a:p>
          <a:p>
            <a:r>
              <a:rPr lang="en-US" dirty="0"/>
              <a:t>Linear regression / Elastic Net (simple baselines)</a:t>
            </a:r>
          </a:p>
          <a:p>
            <a:r>
              <a:rPr lang="en-US" dirty="0"/>
              <a:t>Random Forest / Gradient Boosted Trees</a:t>
            </a:r>
          </a:p>
          <a:p>
            <a:r>
              <a:rPr lang="en-US" dirty="0"/>
              <a:t>Sequence models (RNN/LSTM/Temporal CNN) for time series</a:t>
            </a:r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MAE / RMSE for regression</a:t>
            </a:r>
          </a:p>
          <a:p>
            <a:r>
              <a:rPr lang="en-US" dirty="0"/>
              <a:t>ROC-AUC, F1 for classification</a:t>
            </a:r>
          </a:p>
          <a:p>
            <a:r>
              <a:rPr lang="en-US" dirty="0"/>
              <a:t>Per-person vs global models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Start from simpler models to get interpretability.</a:t>
            </a:r>
          </a:p>
          <a:p>
            <a:r>
              <a:rPr lang="en-US" dirty="0"/>
              <a:t>Discuss how features like reduced mobility + reduced social interactions often correlate with higher depression scores.</a:t>
            </a:r>
          </a:p>
          <a:p>
            <a:r>
              <a:rPr lang="en-US" dirty="0"/>
              <a:t>Mention </a:t>
            </a:r>
            <a:r>
              <a:rPr lang="en-US" b="1" dirty="0"/>
              <a:t>individual vs population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Per-person personalized models.</a:t>
            </a:r>
          </a:p>
          <a:p>
            <a:pPr lvl="1"/>
            <a:r>
              <a:rPr lang="en-US" dirty="0"/>
              <a:t>Single global model with person-level embeddings.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40_mental_health_ml_models.ipynb</a:t>
            </a:r>
          </a:p>
          <a:p>
            <a:pPr lvl="1"/>
            <a:r>
              <a:rPr lang="en-US" dirty="0"/>
              <a:t>Train/test splits with careful leakage control (train on early weeks, test on later weeks).</a:t>
            </a:r>
          </a:p>
          <a:p>
            <a:pPr lvl="1"/>
            <a:r>
              <a:rPr lang="en-US" dirty="0"/>
              <a:t>Baseline linear/Elastic Net model.</a:t>
            </a:r>
          </a:p>
          <a:p>
            <a:pPr lvl="1"/>
            <a:r>
              <a:rPr lang="en-US" dirty="0"/>
              <a:t>Tree-based models with cross-validation.</a:t>
            </a:r>
          </a:p>
          <a:p>
            <a:pPr lvl="1"/>
            <a:r>
              <a:rPr lang="en-US" dirty="0"/>
              <a:t>Optional: basic RNN/LSTM model over sequences of weekly features.</a:t>
            </a:r>
          </a:p>
          <a:p>
            <a:r>
              <a:rPr lang="en-US" dirty="0"/>
              <a:t>41_mental_health_model_evaluation.ipynb</a:t>
            </a:r>
          </a:p>
          <a:p>
            <a:pPr lvl="1"/>
            <a:r>
              <a:rPr lang="en-US" dirty="0"/>
              <a:t>Individual vs global evaluation metrics.</a:t>
            </a:r>
          </a:p>
          <a:p>
            <a:pPr lvl="1"/>
            <a:r>
              <a:rPr lang="en-US" dirty="0"/>
              <a:t>Calibration curves to understand probability estimates.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13 – Real-Time Monitoring &amp; Clinical Integration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Real-time monitoring</a:t>
            </a:r>
            <a:r>
              <a:rPr lang="en-US" dirty="0"/>
              <a:t> </a:t>
            </a:r>
          </a:p>
          <a:p>
            <a:r>
              <a:rPr lang="en-US" dirty="0"/>
              <a:t>Stream behavioral features daily/weekly</a:t>
            </a:r>
          </a:p>
          <a:p>
            <a:r>
              <a:rPr lang="en-US" dirty="0"/>
              <a:t>Trigger alerts when risk crosses threshold</a:t>
            </a:r>
          </a:p>
          <a:p>
            <a:r>
              <a:rPr lang="en-US" dirty="0"/>
              <a:t>Provide feedback dashboards for clinicians &amp; users</a:t>
            </a:r>
          </a:p>
          <a:p>
            <a:r>
              <a:rPr lang="en-US" b="1" dirty="0"/>
              <a:t>Integration</a:t>
            </a:r>
            <a:endParaRPr lang="en-US" dirty="0"/>
          </a:p>
          <a:p>
            <a:r>
              <a:rPr lang="en-US" dirty="0"/>
              <a:t>Embed in mobile apps for self-tracking</a:t>
            </a:r>
          </a:p>
          <a:p>
            <a:r>
              <a:rPr lang="en-US" dirty="0"/>
              <a:t>Use as decision support, not replacement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concept of “sensing → features → risk score → intervention”.</a:t>
            </a:r>
          </a:p>
          <a:p>
            <a:r>
              <a:rPr lang="en-US" dirty="0"/>
              <a:t>Give example: “If we see a sustained drop in mobility + social interaction + sleep disruption, the system might suggest a check-in.”</a:t>
            </a:r>
          </a:p>
          <a:p>
            <a:r>
              <a:rPr lang="en-US" dirty="0"/>
              <a:t>Emphasize this research aims to </a:t>
            </a:r>
            <a:r>
              <a:rPr lang="en-US" i="1" dirty="0"/>
              <a:t>reduce impact of chronic psychological distress</a:t>
            </a:r>
            <a:r>
              <a:rPr lang="en-US" dirty="0"/>
              <a:t> through earlier recognition and support.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42_mental_health_streaming_and_alerts.ipynb (or .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Simple example of rolling window feature computation over daily events.</a:t>
            </a:r>
          </a:p>
          <a:p>
            <a:pPr lvl="1"/>
            <a:r>
              <a:rPr lang="en-US" dirty="0"/>
              <a:t>Threshold-based alerts + optional basic anomaly detection.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91220-4947-49E8-D78A-F33491CA4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80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B100-9AAC-185B-9E55-F83BF007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D1925-E6BC-D546-C6B5-4C13B3412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F6042-6A26-024E-41EC-A7F62C059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9 – Wildfires: Evaluation, Explainability &amp; Deployment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Metrics: ROC-AUC, Precision/Recall, F1, PR curves</a:t>
            </a:r>
          </a:p>
          <a:p>
            <a:r>
              <a:rPr lang="en-US" dirty="0"/>
              <a:t>Spatial &amp; temporal generalization: new years / regions</a:t>
            </a:r>
          </a:p>
          <a:p>
            <a:r>
              <a:rPr lang="en-US" b="1" dirty="0"/>
              <a:t>Explainability</a:t>
            </a:r>
            <a:endParaRPr lang="en-US" dirty="0"/>
          </a:p>
          <a:p>
            <a:r>
              <a:rPr lang="en-US" dirty="0"/>
              <a:t>Feature importance, permutation importance</a:t>
            </a:r>
          </a:p>
          <a:p>
            <a:r>
              <a:rPr lang="en-US" dirty="0"/>
              <a:t>SHAP values (risk drivers: wind, vegetation, drought)</a:t>
            </a:r>
          </a:p>
          <a:p>
            <a:r>
              <a:rPr lang="en-US" b="1" dirty="0"/>
              <a:t>Deployment</a:t>
            </a:r>
            <a:endParaRPr lang="en-US" dirty="0"/>
          </a:p>
          <a:p>
            <a:r>
              <a:rPr lang="en-US" dirty="0"/>
              <a:t>Batch risk maps (daily/weekly)</a:t>
            </a:r>
          </a:p>
          <a:p>
            <a:r>
              <a:rPr lang="en-US" dirty="0"/>
              <a:t>API to query risk for coordinates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Highlight the gap between “good offline metrics” and “useful in the field”; e.g., false positives vs false negatives.</a:t>
            </a:r>
          </a:p>
          <a:p>
            <a:r>
              <a:rPr lang="en-US" dirty="0"/>
              <a:t>Explain how SHAP helps communicate to non-technical stakeholders </a:t>
            </a:r>
            <a:r>
              <a:rPr lang="en-US" i="1" dirty="0"/>
              <a:t>why</a:t>
            </a:r>
            <a:r>
              <a:rPr lang="en-US" dirty="0"/>
              <a:t> certain areas are high risk.</a:t>
            </a:r>
          </a:p>
          <a:p>
            <a:r>
              <a:rPr lang="en-US" dirty="0"/>
              <a:t>Briefly mention deployment pattern: scheduled pipeline generates maps → stored in object storage → consumed by dashboards/services.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21_wildfire_evaluation_explainability.ipynb</a:t>
            </a:r>
          </a:p>
          <a:p>
            <a:pPr lvl="1"/>
            <a:r>
              <a:rPr lang="en-US" dirty="0"/>
              <a:t>ROC/PR curves for test set.</a:t>
            </a:r>
          </a:p>
          <a:p>
            <a:pPr lvl="1"/>
            <a:r>
              <a:rPr lang="en-US" dirty="0"/>
              <a:t>SHAP for tree-based models (global + local plots).</a:t>
            </a:r>
          </a:p>
          <a:p>
            <a:pPr lvl="1"/>
            <a:r>
              <a:rPr lang="en-US" dirty="0"/>
              <a:t>Map predicted risk over geography with </a:t>
            </a:r>
            <a:r>
              <a:rPr lang="en-US" dirty="0" err="1"/>
              <a:t>geopandas</a:t>
            </a:r>
            <a:r>
              <a:rPr lang="en-US" dirty="0"/>
              <a:t> and matplotlib.</a:t>
            </a:r>
          </a:p>
          <a:p>
            <a:r>
              <a:rPr lang="en-US" dirty="0"/>
              <a:t>22_wildfire_batch_scoring.py</a:t>
            </a:r>
          </a:p>
          <a:p>
            <a:pPr lvl="1"/>
            <a:r>
              <a:rPr lang="en-US" dirty="0"/>
              <a:t>Script to read latest weather/land cover data.</a:t>
            </a:r>
          </a:p>
          <a:p>
            <a:pPr lvl="1"/>
            <a:r>
              <a:rPr lang="en-US" dirty="0"/>
              <a:t>Generate risk scores for grid cells.</a:t>
            </a:r>
          </a:p>
          <a:p>
            <a:pPr lvl="1"/>
            <a:r>
              <a:rPr lang="en-US" dirty="0"/>
              <a:t>Save results as </a:t>
            </a:r>
            <a:r>
              <a:rPr lang="en-US" dirty="0" err="1"/>
              <a:t>GeoJSON</a:t>
            </a:r>
            <a:r>
              <a:rPr lang="en-US" dirty="0"/>
              <a:t> / shapefiles.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Mental Health via Mobile Sensing Section</a:t>
            </a:r>
          </a:p>
          <a:p>
            <a:r>
              <a:rPr lang="en-US" b="1" dirty="0"/>
              <a:t>Slide 10 – Mental Health: Problem Framing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Global burden of depression, PTSD, chronic stress</a:t>
            </a:r>
          </a:p>
          <a:p>
            <a:r>
              <a:rPr lang="en-US" dirty="0"/>
              <a:t>Traditional detection: surveys, clinical visits</a:t>
            </a:r>
          </a:p>
          <a:p>
            <a:r>
              <a:rPr lang="en-US" dirty="0"/>
              <a:t>New opportunity:</a:t>
            </a:r>
          </a:p>
          <a:p>
            <a:pPr lvl="1"/>
            <a:r>
              <a:rPr lang="en-US" dirty="0"/>
              <a:t>Use passive sensing from phones/wearables</a:t>
            </a:r>
          </a:p>
          <a:p>
            <a:pPr lvl="1"/>
            <a:r>
              <a:rPr lang="en-US" dirty="0"/>
              <a:t>Predict symptom severity &amp; detect changes early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Introduce MIT/“Social Physics” work: using mobile and social sensing to predict mental health symptoms. </a:t>
            </a:r>
          </a:p>
          <a:p>
            <a:r>
              <a:rPr lang="en-US" dirty="0"/>
              <a:t>Clarify: goal is </a:t>
            </a:r>
            <a:r>
              <a:rPr lang="en-US" i="1" dirty="0"/>
              <a:t>not</a:t>
            </a:r>
            <a:r>
              <a:rPr lang="en-US" dirty="0"/>
              <a:t> to diagnose, but to support clinicians and individuals with </a:t>
            </a:r>
            <a:r>
              <a:rPr lang="en-US" i="1" dirty="0"/>
              <a:t>signals</a:t>
            </a:r>
            <a:r>
              <a:rPr lang="en-US" dirty="0"/>
              <a:t> and trends.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30_mental_health_problem_setup.ipynb</a:t>
            </a:r>
          </a:p>
          <a:p>
            <a:pPr lvl="1"/>
            <a:r>
              <a:rPr lang="en-US" dirty="0"/>
              <a:t>Define labels (e.g., weekly PHQ-9 scores, PTSD symptom scores).</a:t>
            </a:r>
          </a:p>
          <a:p>
            <a:pPr lvl="1"/>
            <a:r>
              <a:rPr lang="en-US" dirty="0"/>
              <a:t>Set tasks: regression (predict score) or classification (high vs low risk).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11 – Mobile Sensing Data &amp; Behavioral Features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Data Types</a:t>
            </a:r>
            <a:r>
              <a:rPr lang="en-US" dirty="0"/>
              <a:t> </a:t>
            </a:r>
          </a:p>
          <a:p>
            <a:r>
              <a:rPr lang="en-US" dirty="0"/>
              <a:t>Mobility: GPS location, distance traveled, time at home</a:t>
            </a:r>
          </a:p>
          <a:p>
            <a:r>
              <a:rPr lang="en-US" dirty="0"/>
              <a:t>Communication: call/text durations (metadata only)</a:t>
            </a:r>
          </a:p>
          <a:p>
            <a:r>
              <a:rPr lang="en-US" dirty="0"/>
              <a:t>Sleep &amp; circadian rhythms (phone inactivity, wearables)</a:t>
            </a:r>
          </a:p>
          <a:p>
            <a:r>
              <a:rPr lang="en-US" dirty="0"/>
              <a:t>Social interaction: proximity, conversations (via “Reality” app/badges)</a:t>
            </a:r>
          </a:p>
          <a:p>
            <a:r>
              <a:rPr lang="en-US" dirty="0"/>
              <a:t>Phone usage: app usage patterns, screen time</a:t>
            </a:r>
          </a:p>
          <a:p>
            <a:r>
              <a:rPr lang="en-US" b="1" dirty="0"/>
              <a:t>Derived Features</a:t>
            </a:r>
            <a:endParaRPr lang="en-US" dirty="0"/>
          </a:p>
          <a:p>
            <a:r>
              <a:rPr lang="en-US" dirty="0"/>
              <a:t>Routine regularity / entropy of locations</a:t>
            </a:r>
          </a:p>
          <a:p>
            <a:r>
              <a:rPr lang="en-US" dirty="0"/>
              <a:t>Social isolation vs engagement</a:t>
            </a:r>
          </a:p>
          <a:p>
            <a:r>
              <a:rPr lang="en-US" dirty="0"/>
              <a:t>Sleep regularity and duration</a:t>
            </a:r>
          </a:p>
          <a:p>
            <a:r>
              <a:rPr lang="en-US" dirty="0"/>
              <a:t>Weekend vs weekday behavior changes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</a:t>
            </a:r>
            <a:r>
              <a:rPr lang="en-US" i="1" dirty="0"/>
              <a:t>passive sensing</a:t>
            </a:r>
            <a:r>
              <a:rPr lang="en-US" dirty="0"/>
              <a:t>: data collected continuously without active user input.</a:t>
            </a:r>
          </a:p>
          <a:p>
            <a:r>
              <a:rPr lang="en-US" dirty="0"/>
              <a:t>Mention research use cases:</a:t>
            </a:r>
          </a:p>
          <a:p>
            <a:pPr lvl="1"/>
            <a:r>
              <a:rPr lang="en-US" dirty="0"/>
              <a:t>Predict weekly depression/PTSD severity.</a:t>
            </a:r>
          </a:p>
          <a:p>
            <a:pPr lvl="1"/>
            <a:r>
              <a:rPr lang="en-US" dirty="0"/>
              <a:t>Epidemiological behavior change analysis.</a:t>
            </a:r>
          </a:p>
          <a:p>
            <a:pPr lvl="1"/>
            <a:r>
              <a:rPr lang="en-US" dirty="0"/>
              <a:t>Schizophrenia symptom tracking and relapse prediction.</a:t>
            </a:r>
          </a:p>
          <a:p>
            <a:pPr lvl="1"/>
            <a:r>
              <a:rPr lang="en-US" dirty="0"/>
              <a:t>Worker wellbeing monitoring.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31_mobile_data_ingestion.ipynb</a:t>
            </a:r>
          </a:p>
          <a:p>
            <a:pPr lvl="1"/>
            <a:r>
              <a:rPr lang="en-US" dirty="0"/>
              <a:t>Parse raw logs: GPS pings, call/text metadata, accelerometer, app usage.</a:t>
            </a:r>
          </a:p>
          <a:p>
            <a:pPr lvl="1"/>
            <a:r>
              <a:rPr lang="en-US" dirty="0"/>
              <a:t>De-identification/anonymization utilities (hashing IDs, removing PII).</a:t>
            </a:r>
          </a:p>
          <a:p>
            <a:r>
              <a:rPr lang="en-US" dirty="0"/>
              <a:t>32_behavioral_feature_engineering.ipynb</a:t>
            </a:r>
          </a:p>
          <a:p>
            <a:pPr lvl="1"/>
            <a:r>
              <a:rPr lang="en-US" dirty="0"/>
              <a:t>Compute:</a:t>
            </a:r>
          </a:p>
          <a:p>
            <a:pPr lvl="2"/>
            <a:r>
              <a:rPr lang="en-US" dirty="0"/>
              <a:t>Daily distance traveled, number of unique locations.</a:t>
            </a:r>
          </a:p>
          <a:p>
            <a:pPr lvl="2"/>
            <a:r>
              <a:rPr lang="en-US" dirty="0"/>
              <a:t>Time at “home” vs “work” vs “other clusters”.</a:t>
            </a:r>
          </a:p>
          <a:p>
            <a:pPr lvl="2"/>
            <a:r>
              <a:rPr lang="en-US" dirty="0"/>
              <a:t>Sleep onset/wake-up estimates (based on inactivity/screen-lock).</a:t>
            </a:r>
          </a:p>
          <a:p>
            <a:pPr lvl="2"/>
            <a:r>
              <a:rPr lang="en-US" dirty="0"/>
              <a:t>Social interaction frequency from proximity/conversation durations.</a:t>
            </a:r>
          </a:p>
          <a:p>
            <a:pPr lvl="1"/>
            <a:r>
              <a:rPr lang="en-US" dirty="0"/>
              <a:t>Aggregate to weekly features aligned with mental health survey dates.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12 – Modeling Mental Health Symptoms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Tasks</a:t>
            </a:r>
            <a:r>
              <a:rPr lang="en-US" dirty="0"/>
              <a:t> </a:t>
            </a:r>
          </a:p>
          <a:p>
            <a:r>
              <a:rPr lang="en-US" dirty="0"/>
              <a:t>Regression: predict weekly scores (e.g., PHQ-9)</a:t>
            </a:r>
          </a:p>
          <a:p>
            <a:r>
              <a:rPr lang="en-US" dirty="0"/>
              <a:t>Classification: predict high-risk vs low-risk weeks</a:t>
            </a:r>
          </a:p>
          <a:p>
            <a:r>
              <a:rPr lang="en-US" b="1" dirty="0"/>
              <a:t>Models</a:t>
            </a:r>
            <a:endParaRPr lang="en-US" dirty="0"/>
          </a:p>
          <a:p>
            <a:r>
              <a:rPr lang="en-US" dirty="0"/>
              <a:t>Linear regression / Elastic Net (simple baselines)</a:t>
            </a:r>
          </a:p>
          <a:p>
            <a:r>
              <a:rPr lang="en-US" dirty="0"/>
              <a:t>Random Forest / Gradient Boosted Trees</a:t>
            </a:r>
          </a:p>
          <a:p>
            <a:r>
              <a:rPr lang="en-US" dirty="0"/>
              <a:t>Sequence models (RNN/LSTM/Temporal CNN) for time series</a:t>
            </a:r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MAE / RMSE for regression</a:t>
            </a:r>
          </a:p>
          <a:p>
            <a:r>
              <a:rPr lang="en-US" dirty="0"/>
              <a:t>ROC-AUC, F1 for classification</a:t>
            </a:r>
          </a:p>
          <a:p>
            <a:r>
              <a:rPr lang="en-US" dirty="0"/>
              <a:t>Per-person vs global models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Start from simpler models to get interpretability.</a:t>
            </a:r>
          </a:p>
          <a:p>
            <a:r>
              <a:rPr lang="en-US" dirty="0"/>
              <a:t>Discuss how features like reduced mobility + reduced social interactions often correlate with higher depression scores.</a:t>
            </a:r>
          </a:p>
          <a:p>
            <a:r>
              <a:rPr lang="en-US" dirty="0"/>
              <a:t>Mention </a:t>
            </a:r>
            <a:r>
              <a:rPr lang="en-US" b="1" dirty="0"/>
              <a:t>individual vs population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Per-person personalized models.</a:t>
            </a:r>
          </a:p>
          <a:p>
            <a:pPr lvl="1"/>
            <a:r>
              <a:rPr lang="en-US" dirty="0"/>
              <a:t>Single global model with person-level embeddings.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40_mental_health_ml_models.ipynb</a:t>
            </a:r>
          </a:p>
          <a:p>
            <a:pPr lvl="1"/>
            <a:r>
              <a:rPr lang="en-US" dirty="0"/>
              <a:t>Train/test splits with careful leakage control (train on early weeks, test on later weeks).</a:t>
            </a:r>
          </a:p>
          <a:p>
            <a:pPr lvl="1"/>
            <a:r>
              <a:rPr lang="en-US" dirty="0"/>
              <a:t>Baseline linear/Elastic Net model.</a:t>
            </a:r>
          </a:p>
          <a:p>
            <a:pPr lvl="1"/>
            <a:r>
              <a:rPr lang="en-US" dirty="0"/>
              <a:t>Tree-based models with cross-validation.</a:t>
            </a:r>
          </a:p>
          <a:p>
            <a:pPr lvl="1"/>
            <a:r>
              <a:rPr lang="en-US" dirty="0"/>
              <a:t>Optional: basic RNN/LSTM model over sequences of weekly features.</a:t>
            </a:r>
          </a:p>
          <a:p>
            <a:r>
              <a:rPr lang="en-US" dirty="0"/>
              <a:t>41_mental_health_model_evaluation.ipynb</a:t>
            </a:r>
          </a:p>
          <a:p>
            <a:pPr lvl="1"/>
            <a:r>
              <a:rPr lang="en-US" dirty="0"/>
              <a:t>Individual vs global evaluation metrics.</a:t>
            </a:r>
          </a:p>
          <a:p>
            <a:pPr lvl="1"/>
            <a:r>
              <a:rPr lang="en-US" dirty="0"/>
              <a:t>Calibration curves to understand probability estimates.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13 – Real-Time Monitoring &amp; Clinical Integration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Real-time monitoring</a:t>
            </a:r>
            <a:r>
              <a:rPr lang="en-US" dirty="0"/>
              <a:t> </a:t>
            </a:r>
          </a:p>
          <a:p>
            <a:r>
              <a:rPr lang="en-US" dirty="0"/>
              <a:t>Stream behavioral features daily/weekly</a:t>
            </a:r>
          </a:p>
          <a:p>
            <a:r>
              <a:rPr lang="en-US" dirty="0"/>
              <a:t>Trigger alerts when risk crosses threshold</a:t>
            </a:r>
          </a:p>
          <a:p>
            <a:r>
              <a:rPr lang="en-US" dirty="0"/>
              <a:t>Provide feedback dashboards for clinicians &amp; users</a:t>
            </a:r>
          </a:p>
          <a:p>
            <a:r>
              <a:rPr lang="en-US" b="1" dirty="0"/>
              <a:t>Integration</a:t>
            </a:r>
            <a:endParaRPr lang="en-US" dirty="0"/>
          </a:p>
          <a:p>
            <a:r>
              <a:rPr lang="en-US" dirty="0"/>
              <a:t>Embed in mobile apps for self-tracking</a:t>
            </a:r>
          </a:p>
          <a:p>
            <a:r>
              <a:rPr lang="en-US" dirty="0"/>
              <a:t>Use as decision support, not replacement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concept of “sensing → features → risk score → intervention”.</a:t>
            </a:r>
          </a:p>
          <a:p>
            <a:r>
              <a:rPr lang="en-US" dirty="0"/>
              <a:t>Give example: “If we see a sustained drop in mobility + social interaction + sleep disruption, the system might suggest a check-in.”</a:t>
            </a:r>
          </a:p>
          <a:p>
            <a:r>
              <a:rPr lang="en-US" dirty="0"/>
              <a:t>Emphasize this research aims to </a:t>
            </a:r>
            <a:r>
              <a:rPr lang="en-US" i="1" dirty="0"/>
              <a:t>reduce impact of chronic psychological distress</a:t>
            </a:r>
            <a:r>
              <a:rPr lang="en-US" dirty="0"/>
              <a:t> through earlier recognition and support.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42_mental_health_streaming_and_alerts.ipynb (or .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Simple example of rolling window feature computation over daily events.</a:t>
            </a:r>
          </a:p>
          <a:p>
            <a:pPr lvl="1"/>
            <a:r>
              <a:rPr lang="en-US" dirty="0"/>
              <a:t>Threshold-based alerts + optional basic anomaly detection.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E8178-1E17-10A7-845C-0463D4B07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77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A8F21-4D9C-B153-D82D-1888C190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D808E-319F-9BF5-A27A-13189F5AB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BDF08-3D08-64B1-3020-3A09CBE82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Mental Health via Mobile Sensing Section</a:t>
            </a:r>
          </a:p>
          <a:p>
            <a:r>
              <a:rPr lang="en-US" b="1" dirty="0"/>
              <a:t>Slide 10 – Mental Health: Problem Framing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Global burden of depression, PTSD, chronic stress</a:t>
            </a:r>
          </a:p>
          <a:p>
            <a:r>
              <a:rPr lang="en-US" dirty="0"/>
              <a:t>Traditional detection: surveys, clinical visits</a:t>
            </a:r>
          </a:p>
          <a:p>
            <a:r>
              <a:rPr lang="en-US" dirty="0"/>
              <a:t>New opportunity:</a:t>
            </a:r>
          </a:p>
          <a:p>
            <a:pPr lvl="1"/>
            <a:r>
              <a:rPr lang="en-US" dirty="0"/>
              <a:t>Use passive sensing from phones/wearables</a:t>
            </a:r>
          </a:p>
          <a:p>
            <a:pPr lvl="1"/>
            <a:r>
              <a:rPr lang="en-US" dirty="0"/>
              <a:t>Predict symptom severity &amp; detect changes early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Introduce MIT/“Social Physics” work: using mobile and social sensing to predict mental health symptoms. </a:t>
            </a:r>
          </a:p>
          <a:p>
            <a:r>
              <a:rPr lang="en-US" dirty="0"/>
              <a:t>Clarify: goal is </a:t>
            </a:r>
            <a:r>
              <a:rPr lang="en-US" i="1" dirty="0"/>
              <a:t>not</a:t>
            </a:r>
            <a:r>
              <a:rPr lang="en-US" dirty="0"/>
              <a:t> to diagnose, but to support clinicians and individuals with </a:t>
            </a:r>
            <a:r>
              <a:rPr lang="en-US" i="1" dirty="0"/>
              <a:t>signals</a:t>
            </a:r>
            <a:r>
              <a:rPr lang="en-US" dirty="0"/>
              <a:t> and trends.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30_mental_health_problem_setup.ipynb</a:t>
            </a:r>
          </a:p>
          <a:p>
            <a:pPr lvl="1"/>
            <a:r>
              <a:rPr lang="en-US" dirty="0"/>
              <a:t>Define labels (e.g., weekly PHQ-9 scores, PTSD symptom scores).</a:t>
            </a:r>
          </a:p>
          <a:p>
            <a:pPr lvl="1"/>
            <a:r>
              <a:rPr lang="en-US" dirty="0"/>
              <a:t>Set tasks: regression (predict score) or classification (high vs low risk).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11 – Mobile Sensing Data &amp; Behavioral Features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Data Types</a:t>
            </a:r>
            <a:r>
              <a:rPr lang="en-US" dirty="0"/>
              <a:t> </a:t>
            </a:r>
          </a:p>
          <a:p>
            <a:r>
              <a:rPr lang="en-US" dirty="0"/>
              <a:t>Mobility: GPS location, distance traveled, time at home</a:t>
            </a:r>
          </a:p>
          <a:p>
            <a:r>
              <a:rPr lang="en-US" dirty="0"/>
              <a:t>Communication: call/text durations (metadata only)</a:t>
            </a:r>
          </a:p>
          <a:p>
            <a:r>
              <a:rPr lang="en-US" dirty="0"/>
              <a:t>Sleep &amp; circadian rhythms (phone inactivity, wearables)</a:t>
            </a:r>
          </a:p>
          <a:p>
            <a:r>
              <a:rPr lang="en-US" dirty="0"/>
              <a:t>Social interaction: proximity, conversations (via “Reality” app/badges)</a:t>
            </a:r>
          </a:p>
          <a:p>
            <a:r>
              <a:rPr lang="en-US" dirty="0"/>
              <a:t>Phone usage: app usage patterns, screen time</a:t>
            </a:r>
          </a:p>
          <a:p>
            <a:r>
              <a:rPr lang="en-US" b="1" dirty="0"/>
              <a:t>Derived Features</a:t>
            </a:r>
            <a:endParaRPr lang="en-US" dirty="0"/>
          </a:p>
          <a:p>
            <a:r>
              <a:rPr lang="en-US" dirty="0"/>
              <a:t>Routine regularity / entropy of locations</a:t>
            </a:r>
          </a:p>
          <a:p>
            <a:r>
              <a:rPr lang="en-US" dirty="0"/>
              <a:t>Social isolation vs engagement</a:t>
            </a:r>
          </a:p>
          <a:p>
            <a:r>
              <a:rPr lang="en-US" dirty="0"/>
              <a:t>Sleep regularity and duration</a:t>
            </a:r>
          </a:p>
          <a:p>
            <a:r>
              <a:rPr lang="en-US" dirty="0"/>
              <a:t>Weekend vs weekday behavior changes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</a:t>
            </a:r>
            <a:r>
              <a:rPr lang="en-US" i="1" dirty="0"/>
              <a:t>passive sensing</a:t>
            </a:r>
            <a:r>
              <a:rPr lang="en-US" dirty="0"/>
              <a:t>: data collected continuously without active user input.</a:t>
            </a:r>
          </a:p>
          <a:p>
            <a:r>
              <a:rPr lang="en-US" dirty="0"/>
              <a:t>Mention research use cases:</a:t>
            </a:r>
          </a:p>
          <a:p>
            <a:pPr lvl="1"/>
            <a:r>
              <a:rPr lang="en-US" dirty="0"/>
              <a:t>Predict weekly depression/PTSD severity.</a:t>
            </a:r>
          </a:p>
          <a:p>
            <a:pPr lvl="1"/>
            <a:r>
              <a:rPr lang="en-US" dirty="0"/>
              <a:t>Epidemiological behavior change analysis.</a:t>
            </a:r>
          </a:p>
          <a:p>
            <a:pPr lvl="1"/>
            <a:r>
              <a:rPr lang="en-US" dirty="0"/>
              <a:t>Schizophrenia symptom tracking and relapse prediction.</a:t>
            </a:r>
          </a:p>
          <a:p>
            <a:pPr lvl="1"/>
            <a:r>
              <a:rPr lang="en-US" dirty="0"/>
              <a:t>Worker wellbeing monitoring.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31_mobile_data_ingestion.ipynb</a:t>
            </a:r>
          </a:p>
          <a:p>
            <a:pPr lvl="1"/>
            <a:r>
              <a:rPr lang="en-US" dirty="0"/>
              <a:t>Parse raw logs: GPS pings, call/text metadata, accelerometer, app usage.</a:t>
            </a:r>
          </a:p>
          <a:p>
            <a:pPr lvl="1"/>
            <a:r>
              <a:rPr lang="en-US" dirty="0"/>
              <a:t>De-identification/anonymization utilities (hashing IDs, removing PII).</a:t>
            </a:r>
          </a:p>
          <a:p>
            <a:r>
              <a:rPr lang="en-US" dirty="0"/>
              <a:t>32_behavioral_feature_engineering.ipynb</a:t>
            </a:r>
          </a:p>
          <a:p>
            <a:pPr lvl="1"/>
            <a:r>
              <a:rPr lang="en-US" dirty="0"/>
              <a:t>Compute:</a:t>
            </a:r>
          </a:p>
          <a:p>
            <a:pPr lvl="2"/>
            <a:r>
              <a:rPr lang="en-US" dirty="0"/>
              <a:t>Daily distance traveled, number of unique locations.</a:t>
            </a:r>
          </a:p>
          <a:p>
            <a:pPr lvl="2"/>
            <a:r>
              <a:rPr lang="en-US" dirty="0"/>
              <a:t>Time at “home” vs “work” vs “other clusters”.</a:t>
            </a:r>
          </a:p>
          <a:p>
            <a:pPr lvl="2"/>
            <a:r>
              <a:rPr lang="en-US" dirty="0"/>
              <a:t>Sleep onset/wake-up estimates (based on inactivity/screen-lock).</a:t>
            </a:r>
          </a:p>
          <a:p>
            <a:pPr lvl="2"/>
            <a:r>
              <a:rPr lang="en-US" dirty="0"/>
              <a:t>Social interaction frequency from proximity/conversation durations.</a:t>
            </a:r>
          </a:p>
          <a:p>
            <a:pPr lvl="1"/>
            <a:r>
              <a:rPr lang="en-US" dirty="0"/>
              <a:t>Aggregate to weekly features aligned with mental health survey dates.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12 – Modeling Mental Health Symptoms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Tasks</a:t>
            </a:r>
            <a:r>
              <a:rPr lang="en-US" dirty="0"/>
              <a:t> </a:t>
            </a:r>
          </a:p>
          <a:p>
            <a:r>
              <a:rPr lang="en-US" dirty="0"/>
              <a:t>Regression: predict weekly scores (e.g., PHQ-9)</a:t>
            </a:r>
          </a:p>
          <a:p>
            <a:r>
              <a:rPr lang="en-US" dirty="0"/>
              <a:t>Classification: predict high-risk vs low-risk weeks</a:t>
            </a:r>
          </a:p>
          <a:p>
            <a:r>
              <a:rPr lang="en-US" b="1" dirty="0"/>
              <a:t>Models</a:t>
            </a:r>
            <a:endParaRPr lang="en-US" dirty="0"/>
          </a:p>
          <a:p>
            <a:r>
              <a:rPr lang="en-US" dirty="0"/>
              <a:t>Linear regression / Elastic Net (simple baselines)</a:t>
            </a:r>
          </a:p>
          <a:p>
            <a:r>
              <a:rPr lang="en-US" dirty="0"/>
              <a:t>Random Forest / Gradient Boosted Trees</a:t>
            </a:r>
          </a:p>
          <a:p>
            <a:r>
              <a:rPr lang="en-US" dirty="0"/>
              <a:t>Sequence models (RNN/LSTM/Temporal CNN) for time series</a:t>
            </a:r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MAE / RMSE for regression</a:t>
            </a:r>
          </a:p>
          <a:p>
            <a:r>
              <a:rPr lang="en-US" dirty="0"/>
              <a:t>ROC-AUC, F1 for classification</a:t>
            </a:r>
          </a:p>
          <a:p>
            <a:r>
              <a:rPr lang="en-US" dirty="0"/>
              <a:t>Per-person vs global models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Start from simpler models to get interpretability.</a:t>
            </a:r>
          </a:p>
          <a:p>
            <a:r>
              <a:rPr lang="en-US" dirty="0"/>
              <a:t>Discuss how features like reduced mobility + reduced social interactions often correlate with higher depression scores.</a:t>
            </a:r>
          </a:p>
          <a:p>
            <a:r>
              <a:rPr lang="en-US" dirty="0"/>
              <a:t>Mention </a:t>
            </a:r>
            <a:r>
              <a:rPr lang="en-US" b="1" dirty="0"/>
              <a:t>individual vs population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Per-person personalized models.</a:t>
            </a:r>
          </a:p>
          <a:p>
            <a:pPr lvl="1"/>
            <a:r>
              <a:rPr lang="en-US" dirty="0"/>
              <a:t>Single global model with person-level embeddings.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40_mental_health_ml_models.ipynb</a:t>
            </a:r>
          </a:p>
          <a:p>
            <a:pPr lvl="1"/>
            <a:r>
              <a:rPr lang="en-US" dirty="0"/>
              <a:t>Train/test splits with careful leakage control (train on early weeks, test on later weeks).</a:t>
            </a:r>
          </a:p>
          <a:p>
            <a:pPr lvl="1"/>
            <a:r>
              <a:rPr lang="en-US" dirty="0"/>
              <a:t>Baseline linear/Elastic Net model.</a:t>
            </a:r>
          </a:p>
          <a:p>
            <a:pPr lvl="1"/>
            <a:r>
              <a:rPr lang="en-US" dirty="0"/>
              <a:t>Tree-based models with cross-validation.</a:t>
            </a:r>
          </a:p>
          <a:p>
            <a:pPr lvl="1"/>
            <a:r>
              <a:rPr lang="en-US" dirty="0"/>
              <a:t>Optional: basic RNN/LSTM model over sequences of weekly features.</a:t>
            </a:r>
          </a:p>
          <a:p>
            <a:r>
              <a:rPr lang="en-US" dirty="0"/>
              <a:t>41_mental_health_model_evaluation.ipynb</a:t>
            </a:r>
          </a:p>
          <a:p>
            <a:pPr lvl="1"/>
            <a:r>
              <a:rPr lang="en-US" dirty="0"/>
              <a:t>Individual vs global evaluation metrics.</a:t>
            </a:r>
          </a:p>
          <a:p>
            <a:pPr lvl="1"/>
            <a:r>
              <a:rPr lang="en-US" dirty="0"/>
              <a:t>Calibration curves to understand probability estimates.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13 – Real-Time Monitoring &amp; Clinical Integration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Real-time monitoring</a:t>
            </a:r>
            <a:r>
              <a:rPr lang="en-US" dirty="0"/>
              <a:t> </a:t>
            </a:r>
          </a:p>
          <a:p>
            <a:r>
              <a:rPr lang="en-US" dirty="0"/>
              <a:t>Stream behavioral features daily/weekly</a:t>
            </a:r>
          </a:p>
          <a:p>
            <a:r>
              <a:rPr lang="en-US" dirty="0"/>
              <a:t>Trigger alerts when risk crosses threshold</a:t>
            </a:r>
          </a:p>
          <a:p>
            <a:r>
              <a:rPr lang="en-US" dirty="0"/>
              <a:t>Provide feedback dashboards for clinicians &amp; users</a:t>
            </a:r>
          </a:p>
          <a:p>
            <a:r>
              <a:rPr lang="en-US" b="1" dirty="0"/>
              <a:t>Integration</a:t>
            </a:r>
            <a:endParaRPr lang="en-US" dirty="0"/>
          </a:p>
          <a:p>
            <a:r>
              <a:rPr lang="en-US" dirty="0"/>
              <a:t>Embed in mobile apps for self-tracking</a:t>
            </a:r>
          </a:p>
          <a:p>
            <a:r>
              <a:rPr lang="en-US" dirty="0"/>
              <a:t>Use as decision support, not replacement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concept of “sensing → features → risk score → intervention”.</a:t>
            </a:r>
          </a:p>
          <a:p>
            <a:r>
              <a:rPr lang="en-US" dirty="0"/>
              <a:t>Give example: “If we see a sustained drop in mobility + social interaction + sleep disruption, the system might suggest a check-in.”</a:t>
            </a:r>
          </a:p>
          <a:p>
            <a:r>
              <a:rPr lang="en-US" dirty="0"/>
              <a:t>Emphasize this research aims to </a:t>
            </a:r>
            <a:r>
              <a:rPr lang="en-US" i="1" dirty="0"/>
              <a:t>reduce impact of chronic psychological distress</a:t>
            </a:r>
            <a:r>
              <a:rPr lang="en-US" dirty="0"/>
              <a:t> through earlier recognition and support.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42_mental_health_streaming_and_alerts.ipynb (or .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Simple example of rolling window feature computation over daily events.</a:t>
            </a:r>
          </a:p>
          <a:p>
            <a:pPr lvl="1"/>
            <a:r>
              <a:rPr lang="en-US" dirty="0"/>
              <a:t>Threshold-based alerts + optional basic anomaly detection.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9A7EF-105D-1191-D52A-549FE81B5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65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1CA6D-D6AA-699E-2F2E-58C4BCB6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A3405-6E6D-8E34-FA4A-928C3181B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B781D-F89D-4415-C213-E03D257A9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12 – Modeling Mental Health Symptoms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Tasks</a:t>
            </a:r>
            <a:r>
              <a:rPr lang="en-US" dirty="0"/>
              <a:t> </a:t>
            </a:r>
          </a:p>
          <a:p>
            <a:r>
              <a:rPr lang="en-US" dirty="0"/>
              <a:t>Regression: predict weekly scores (e.g., PHQ-9)</a:t>
            </a:r>
          </a:p>
          <a:p>
            <a:r>
              <a:rPr lang="en-US" dirty="0"/>
              <a:t>Classification: predict high-risk vs low-risk weeks</a:t>
            </a:r>
          </a:p>
          <a:p>
            <a:r>
              <a:rPr lang="en-US" b="1" dirty="0"/>
              <a:t>Models</a:t>
            </a:r>
            <a:endParaRPr lang="en-US" dirty="0"/>
          </a:p>
          <a:p>
            <a:r>
              <a:rPr lang="en-US" dirty="0"/>
              <a:t>Linear regression / Elastic Net (simple baselines)</a:t>
            </a:r>
          </a:p>
          <a:p>
            <a:r>
              <a:rPr lang="en-US" dirty="0"/>
              <a:t>Random Forest / Gradient Boosted Trees</a:t>
            </a:r>
          </a:p>
          <a:p>
            <a:r>
              <a:rPr lang="en-US" dirty="0"/>
              <a:t>Sequence models (RNN/LSTM/Temporal CNN) for time series</a:t>
            </a:r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MAE / RMSE for regression</a:t>
            </a:r>
          </a:p>
          <a:p>
            <a:r>
              <a:rPr lang="en-US" dirty="0"/>
              <a:t>ROC-AUC, F1 for classification</a:t>
            </a:r>
          </a:p>
          <a:p>
            <a:r>
              <a:rPr lang="en-US" dirty="0"/>
              <a:t>Per-person vs global models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Start from simpler models to get interpretability.</a:t>
            </a:r>
          </a:p>
          <a:p>
            <a:r>
              <a:rPr lang="en-US" dirty="0"/>
              <a:t>Discuss how features like reduced mobility + reduced social interactions often correlate with higher depression scores.</a:t>
            </a:r>
          </a:p>
          <a:p>
            <a:r>
              <a:rPr lang="en-US" dirty="0"/>
              <a:t>Mention </a:t>
            </a:r>
            <a:r>
              <a:rPr lang="en-US" b="1" dirty="0"/>
              <a:t>individual vs population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Per-person personalized models.</a:t>
            </a:r>
          </a:p>
          <a:p>
            <a:pPr lvl="1"/>
            <a:r>
              <a:rPr lang="en-US" dirty="0"/>
              <a:t>Single global model with person-level embeddings.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40_mental_health_ml_models.ipynb</a:t>
            </a:r>
          </a:p>
          <a:p>
            <a:pPr lvl="1"/>
            <a:r>
              <a:rPr lang="en-US" dirty="0"/>
              <a:t>Train/test splits with careful leakage control (train on early weeks, test on later weeks).</a:t>
            </a:r>
          </a:p>
          <a:p>
            <a:pPr lvl="1"/>
            <a:r>
              <a:rPr lang="en-US" dirty="0"/>
              <a:t>Baseline linear/Elastic Net model.</a:t>
            </a:r>
          </a:p>
          <a:p>
            <a:pPr lvl="1"/>
            <a:r>
              <a:rPr lang="en-US" dirty="0"/>
              <a:t>Tree-based models with cross-validation.</a:t>
            </a:r>
          </a:p>
          <a:p>
            <a:pPr lvl="1"/>
            <a:r>
              <a:rPr lang="en-US" dirty="0"/>
              <a:t>Optional: basic RNN/LSTM model over sequences of weekly features.</a:t>
            </a:r>
          </a:p>
          <a:p>
            <a:r>
              <a:rPr lang="en-US" dirty="0"/>
              <a:t>41_mental_health_model_evaluation.ipynb</a:t>
            </a:r>
          </a:p>
          <a:p>
            <a:pPr lvl="1"/>
            <a:r>
              <a:rPr lang="en-US" dirty="0"/>
              <a:t>Individual vs global evaluation metrics.</a:t>
            </a:r>
          </a:p>
          <a:p>
            <a:pPr lvl="1"/>
            <a:r>
              <a:rPr lang="en-US" dirty="0"/>
              <a:t>Calibration curves to understand probability estimates.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13 – Real-Time Monitoring &amp; Clinical Integration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Real-time monitoring</a:t>
            </a:r>
            <a:r>
              <a:rPr lang="en-US" dirty="0"/>
              <a:t> </a:t>
            </a:r>
          </a:p>
          <a:p>
            <a:r>
              <a:rPr lang="en-US" dirty="0"/>
              <a:t>Stream behavioral features daily/weekly</a:t>
            </a:r>
          </a:p>
          <a:p>
            <a:r>
              <a:rPr lang="en-US" dirty="0"/>
              <a:t>Trigger alerts when risk crosses threshold</a:t>
            </a:r>
          </a:p>
          <a:p>
            <a:r>
              <a:rPr lang="en-US" dirty="0"/>
              <a:t>Provide feedback dashboards for clinicians &amp; users</a:t>
            </a:r>
          </a:p>
          <a:p>
            <a:r>
              <a:rPr lang="en-US" b="1" dirty="0"/>
              <a:t>Integration</a:t>
            </a:r>
            <a:endParaRPr lang="en-US" dirty="0"/>
          </a:p>
          <a:p>
            <a:r>
              <a:rPr lang="en-US" dirty="0"/>
              <a:t>Embed in mobile apps for self-tracking</a:t>
            </a:r>
          </a:p>
          <a:p>
            <a:r>
              <a:rPr lang="en-US" dirty="0"/>
              <a:t>Use as decision support, not replacement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concept of “sensing → features → risk score → intervention”.</a:t>
            </a:r>
          </a:p>
          <a:p>
            <a:r>
              <a:rPr lang="en-US" dirty="0"/>
              <a:t>Give example: “If we see a sustained drop in mobility + social interaction + sleep disruption, the system might suggest a check-in.”</a:t>
            </a:r>
          </a:p>
          <a:p>
            <a:r>
              <a:rPr lang="en-US" dirty="0"/>
              <a:t>Emphasize this research aims to </a:t>
            </a:r>
            <a:r>
              <a:rPr lang="en-US" i="1" dirty="0"/>
              <a:t>reduce impact of chronic psychological distress</a:t>
            </a:r>
            <a:r>
              <a:rPr lang="en-US" dirty="0"/>
              <a:t> through earlier recognition and support.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42_mental_health_streaming_and_alerts.ipynb (or .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Simple example of rolling window feature computation over daily events.</a:t>
            </a:r>
          </a:p>
          <a:p>
            <a:pPr lvl="1"/>
            <a:r>
              <a:rPr lang="en-US" dirty="0"/>
              <a:t>Threshold-based alerts + optional basic anomaly detection.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2B792-BBFC-170C-0DB5-3BF259339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55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1791-F17E-FF59-C8FD-1CBF1A13E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14D52-03C5-2664-DFAB-DE0A76E3E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A9E56-E65B-5A87-1C50-E1038B52E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12 – Modeling Mental Health Symptoms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Tasks</a:t>
            </a:r>
            <a:r>
              <a:rPr lang="en-US" dirty="0"/>
              <a:t> </a:t>
            </a:r>
          </a:p>
          <a:p>
            <a:r>
              <a:rPr lang="en-US" dirty="0"/>
              <a:t>Regression: predict weekly scores (e.g., PHQ-9)</a:t>
            </a:r>
          </a:p>
          <a:p>
            <a:r>
              <a:rPr lang="en-US" dirty="0"/>
              <a:t>Classification: predict high-risk vs low-risk weeks</a:t>
            </a:r>
          </a:p>
          <a:p>
            <a:r>
              <a:rPr lang="en-US" b="1" dirty="0"/>
              <a:t>Models</a:t>
            </a:r>
            <a:endParaRPr lang="en-US" dirty="0"/>
          </a:p>
          <a:p>
            <a:r>
              <a:rPr lang="en-US" dirty="0"/>
              <a:t>Linear regression / Elastic Net (simple baselines)</a:t>
            </a:r>
          </a:p>
          <a:p>
            <a:r>
              <a:rPr lang="en-US" dirty="0"/>
              <a:t>Random Forest / Gradient Boosted Trees</a:t>
            </a:r>
          </a:p>
          <a:p>
            <a:r>
              <a:rPr lang="en-US" dirty="0"/>
              <a:t>Sequence models (RNN/LSTM/Temporal CNN) for time series</a:t>
            </a:r>
          </a:p>
          <a:p>
            <a:r>
              <a:rPr lang="en-US" b="1" dirty="0"/>
              <a:t>Evaluation</a:t>
            </a:r>
            <a:endParaRPr lang="en-US" dirty="0"/>
          </a:p>
          <a:p>
            <a:r>
              <a:rPr lang="en-US" dirty="0"/>
              <a:t>MAE / RMSE for regression</a:t>
            </a:r>
          </a:p>
          <a:p>
            <a:r>
              <a:rPr lang="en-US" dirty="0"/>
              <a:t>ROC-AUC, F1 for classification</a:t>
            </a:r>
          </a:p>
          <a:p>
            <a:r>
              <a:rPr lang="en-US" dirty="0"/>
              <a:t>Per-person vs global models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Start from simpler models to get interpretability.</a:t>
            </a:r>
          </a:p>
          <a:p>
            <a:r>
              <a:rPr lang="en-US" dirty="0"/>
              <a:t>Discuss how features like reduced mobility + reduced social interactions often correlate with higher depression scores.</a:t>
            </a:r>
          </a:p>
          <a:p>
            <a:r>
              <a:rPr lang="en-US" dirty="0"/>
              <a:t>Mention </a:t>
            </a:r>
            <a:r>
              <a:rPr lang="en-US" b="1" dirty="0"/>
              <a:t>individual vs population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Per-person personalized models.</a:t>
            </a:r>
          </a:p>
          <a:p>
            <a:pPr lvl="1"/>
            <a:r>
              <a:rPr lang="en-US" dirty="0"/>
              <a:t>Single global model with person-level embeddings.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40_mental_health_ml_models.ipynb</a:t>
            </a:r>
          </a:p>
          <a:p>
            <a:pPr lvl="1"/>
            <a:r>
              <a:rPr lang="en-US" dirty="0"/>
              <a:t>Train/test splits with careful leakage control (train on early weeks, test on later weeks).</a:t>
            </a:r>
          </a:p>
          <a:p>
            <a:pPr lvl="1"/>
            <a:r>
              <a:rPr lang="en-US" dirty="0"/>
              <a:t>Baseline linear/Elastic Net model.</a:t>
            </a:r>
          </a:p>
          <a:p>
            <a:pPr lvl="1"/>
            <a:r>
              <a:rPr lang="en-US" dirty="0"/>
              <a:t>Tree-based models with cross-validation.</a:t>
            </a:r>
          </a:p>
          <a:p>
            <a:pPr lvl="1"/>
            <a:r>
              <a:rPr lang="en-US" dirty="0"/>
              <a:t>Optional: basic RNN/LSTM model over sequences of weekly features.</a:t>
            </a:r>
          </a:p>
          <a:p>
            <a:r>
              <a:rPr lang="en-US" dirty="0"/>
              <a:t>41_mental_health_model_evaluation.ipynb</a:t>
            </a:r>
          </a:p>
          <a:p>
            <a:pPr lvl="1"/>
            <a:r>
              <a:rPr lang="en-US" dirty="0"/>
              <a:t>Individual vs global evaluation metrics.</a:t>
            </a:r>
          </a:p>
          <a:p>
            <a:pPr lvl="1"/>
            <a:r>
              <a:rPr lang="en-US" dirty="0"/>
              <a:t>Calibration curves to understand probability estimates.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13 – Real-Time Monitoring &amp; Clinical Integration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Real-time monitoring</a:t>
            </a:r>
            <a:r>
              <a:rPr lang="en-US" dirty="0"/>
              <a:t> </a:t>
            </a:r>
          </a:p>
          <a:p>
            <a:r>
              <a:rPr lang="en-US" dirty="0"/>
              <a:t>Stream behavioral features daily/weekly</a:t>
            </a:r>
          </a:p>
          <a:p>
            <a:r>
              <a:rPr lang="en-US" dirty="0"/>
              <a:t>Trigger alerts when risk crosses threshold</a:t>
            </a:r>
          </a:p>
          <a:p>
            <a:r>
              <a:rPr lang="en-US" dirty="0"/>
              <a:t>Provide feedback dashboards for clinicians &amp; users</a:t>
            </a:r>
          </a:p>
          <a:p>
            <a:r>
              <a:rPr lang="en-US" b="1" dirty="0"/>
              <a:t>Integration</a:t>
            </a:r>
            <a:endParaRPr lang="en-US" dirty="0"/>
          </a:p>
          <a:p>
            <a:r>
              <a:rPr lang="en-US" dirty="0"/>
              <a:t>Embed in mobile apps for self-tracking</a:t>
            </a:r>
          </a:p>
          <a:p>
            <a:r>
              <a:rPr lang="en-US" dirty="0"/>
              <a:t>Use as decision support, not replacement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concept of “sensing → features → risk score → intervention”.</a:t>
            </a:r>
          </a:p>
          <a:p>
            <a:r>
              <a:rPr lang="en-US" dirty="0"/>
              <a:t>Give example: “If we see a sustained drop in mobility + social interaction + sleep disruption, the system might suggest a check-in.”</a:t>
            </a:r>
          </a:p>
          <a:p>
            <a:r>
              <a:rPr lang="en-US" dirty="0"/>
              <a:t>Emphasize this research aims to </a:t>
            </a:r>
            <a:r>
              <a:rPr lang="en-US" i="1" dirty="0"/>
              <a:t>reduce impact of chronic psychological distress</a:t>
            </a:r>
            <a:r>
              <a:rPr lang="en-US" dirty="0"/>
              <a:t> through earlier recognition and support.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42_mental_health_streaming_and_alerts.ipynb (or .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Simple example of rolling window feature computation over daily events.</a:t>
            </a:r>
          </a:p>
          <a:p>
            <a:pPr lvl="1"/>
            <a:r>
              <a:rPr lang="en-US" dirty="0"/>
              <a:t>Threshold-based alerts + optional basic anomaly detection.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A5A20-8C56-3A9E-2705-CD79B7B92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5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F210B-7E59-39B0-1943-E8FD7B86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25A60-2B72-C185-A7D5-A526E3701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86D62-374F-6302-9FF1-FC975CDF1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13 – Real-Time Monitoring &amp; Clinical Integration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Real-time monitoring</a:t>
            </a:r>
            <a:r>
              <a:rPr lang="en-US" dirty="0"/>
              <a:t> </a:t>
            </a:r>
          </a:p>
          <a:p>
            <a:r>
              <a:rPr lang="en-US" dirty="0"/>
              <a:t>Stream behavioral features daily/weekly</a:t>
            </a:r>
          </a:p>
          <a:p>
            <a:r>
              <a:rPr lang="en-US" dirty="0"/>
              <a:t>Trigger alerts when risk crosses threshold</a:t>
            </a:r>
          </a:p>
          <a:p>
            <a:r>
              <a:rPr lang="en-US" dirty="0"/>
              <a:t>Provide feedback dashboards for clinicians &amp; users</a:t>
            </a:r>
          </a:p>
          <a:p>
            <a:r>
              <a:rPr lang="en-US" b="1" dirty="0"/>
              <a:t>Integration</a:t>
            </a:r>
            <a:endParaRPr lang="en-US" dirty="0"/>
          </a:p>
          <a:p>
            <a:r>
              <a:rPr lang="en-US" dirty="0"/>
              <a:t>Embed in mobile apps for self-tracking</a:t>
            </a:r>
          </a:p>
          <a:p>
            <a:r>
              <a:rPr lang="en-US" dirty="0"/>
              <a:t>Use as decision support, not replacement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Explain concept of “sensing → features → risk score → intervention”.</a:t>
            </a:r>
          </a:p>
          <a:p>
            <a:r>
              <a:rPr lang="en-US" dirty="0"/>
              <a:t>Give example: “If we see a sustained drop in mobility + social interaction + sleep disruption, the system might suggest a check-in.”</a:t>
            </a:r>
          </a:p>
          <a:p>
            <a:r>
              <a:rPr lang="en-US" dirty="0"/>
              <a:t>Emphasize this research aims to </a:t>
            </a:r>
            <a:r>
              <a:rPr lang="en-US" i="1" dirty="0"/>
              <a:t>reduce impact of chronic psychological distress</a:t>
            </a:r>
            <a:r>
              <a:rPr lang="en-US" dirty="0"/>
              <a:t> through earlier recognition and support. 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42_mental_health_streaming_and_alerts.ipynb (or .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Simple example of rolling window feature computation over daily events.</a:t>
            </a:r>
          </a:p>
          <a:p>
            <a:pPr lvl="1"/>
            <a:r>
              <a:rPr lang="en-US" dirty="0"/>
              <a:t>Threshold-based alerts + optional basic anomaly detection.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32E91-F3D0-F53B-0F39-FF62FD896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69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6955-110C-16BB-DFAE-C920136D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9C148-BD01-135A-6F2D-7E03E1AD6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8D406-A692-17E0-1448-651309479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Responsible AI &amp; Patterns</a:t>
            </a:r>
          </a:p>
          <a:p>
            <a:r>
              <a:rPr lang="en-US" b="1" dirty="0"/>
              <a:t>Slide 14 – Responsible AI: Privacy, Ethics &amp; Bias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Sensitive domains: health &amp; safety</a:t>
            </a:r>
          </a:p>
          <a:p>
            <a:r>
              <a:rPr lang="en-US" dirty="0"/>
              <a:t>Key principles:</a:t>
            </a:r>
          </a:p>
          <a:p>
            <a:pPr lvl="1"/>
            <a:r>
              <a:rPr lang="en-US" dirty="0"/>
              <a:t>Informed consent &amp; transparency</a:t>
            </a:r>
          </a:p>
          <a:p>
            <a:pPr lvl="1"/>
            <a:r>
              <a:rPr lang="en-US" dirty="0"/>
              <a:t>De-identification and secure storage</a:t>
            </a:r>
          </a:p>
          <a:p>
            <a:pPr lvl="1"/>
            <a:r>
              <a:rPr lang="en-US" dirty="0"/>
              <a:t>Minimal data collection (“data diet”)</a:t>
            </a:r>
          </a:p>
          <a:p>
            <a:pPr lvl="1"/>
            <a:r>
              <a:rPr lang="en-US" dirty="0"/>
              <a:t>Fairness &amp; bias checks</a:t>
            </a:r>
          </a:p>
          <a:p>
            <a:pPr lvl="1"/>
            <a:r>
              <a:rPr lang="en-US" dirty="0"/>
              <a:t>Human-in-the-loop decisions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Call out that both use cases involve </a:t>
            </a:r>
            <a:r>
              <a:rPr lang="en-US" i="1" dirty="0"/>
              <a:t>very sensitive</a:t>
            </a:r>
            <a:r>
              <a:rPr lang="en-US" dirty="0"/>
              <a:t> data:</a:t>
            </a:r>
          </a:p>
          <a:p>
            <a:pPr lvl="1"/>
            <a:r>
              <a:rPr lang="en-US" dirty="0"/>
              <a:t>Location + behavior + mental health labels.</a:t>
            </a:r>
          </a:p>
          <a:p>
            <a:r>
              <a:rPr lang="en-US" dirty="0"/>
              <a:t>Make it explicit: such AI must be built with ethics baked in:</a:t>
            </a:r>
          </a:p>
          <a:p>
            <a:pPr lvl="1"/>
            <a:r>
              <a:rPr lang="en-US" dirty="0"/>
              <a:t>No “black-box” deployment without oversight.</a:t>
            </a:r>
          </a:p>
          <a:p>
            <a:pPr lvl="1"/>
            <a:r>
              <a:rPr lang="en-US" dirty="0"/>
              <a:t>In mental health, models support clinicians rather than replacing them.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05_privacy_and_fairness_checks.ipynb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Dropping or hashing identifiers.</a:t>
            </a:r>
          </a:p>
          <a:p>
            <a:pPr lvl="2"/>
            <a:r>
              <a:rPr lang="en-US" dirty="0"/>
              <a:t>Basic fairness checks across demographic groups (if available).</a:t>
            </a:r>
          </a:p>
          <a:p>
            <a:pPr lvl="1"/>
            <a:r>
              <a:rPr lang="en-US" dirty="0"/>
              <a:t>Documentation templates explaining limitations &amp; appropriate usage.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15 – Patterns for Impactful ML Solutions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Practical Patterns</a:t>
            </a:r>
            <a:endParaRPr lang="en-US" dirty="0"/>
          </a:p>
          <a:p>
            <a:r>
              <a:rPr lang="en-US" dirty="0"/>
              <a:t>Start with the problem, not the model</a:t>
            </a:r>
          </a:p>
          <a:p>
            <a:r>
              <a:rPr lang="en-US" dirty="0"/>
              <a:t>Make data pipelines a first-class citizen</a:t>
            </a:r>
          </a:p>
          <a:p>
            <a:r>
              <a:rPr lang="en-US" dirty="0"/>
              <a:t>Always build a simple baseline first</a:t>
            </a:r>
          </a:p>
          <a:p>
            <a:r>
              <a:rPr lang="en-US" dirty="0"/>
              <a:t>Optimize for </a:t>
            </a:r>
            <a:r>
              <a:rPr lang="en-US" i="1" dirty="0"/>
              <a:t>interpretable</a:t>
            </a:r>
            <a:r>
              <a:rPr lang="en-US" dirty="0"/>
              <a:t> insights where stakes are high</a:t>
            </a:r>
          </a:p>
          <a:p>
            <a:r>
              <a:rPr lang="en-US" dirty="0"/>
              <a:t>Think deployment &amp; feedback loops from Day 1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For wildfires:</a:t>
            </a:r>
          </a:p>
          <a:p>
            <a:pPr lvl="1"/>
            <a:r>
              <a:rPr lang="en-US" dirty="0"/>
              <a:t>Start with simple risk mapping using logistic regression before YOLOv5.</a:t>
            </a:r>
          </a:p>
          <a:p>
            <a:r>
              <a:rPr lang="en-US" dirty="0"/>
              <a:t>For mental health:</a:t>
            </a:r>
          </a:p>
          <a:p>
            <a:pPr lvl="1"/>
            <a:r>
              <a:rPr lang="en-US" dirty="0"/>
              <a:t>Start with basic behavioral scores + linear model before complex deep learning.</a:t>
            </a:r>
          </a:p>
          <a:p>
            <a:r>
              <a:rPr lang="en-US" dirty="0"/>
              <a:t>Stress reusability: these patterns apply to finance, retail, cyber, etc.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06_baseline_vs_advanced_models.ipynb</a:t>
            </a:r>
          </a:p>
          <a:p>
            <a:pPr lvl="1"/>
            <a:r>
              <a:rPr lang="en-US" dirty="0"/>
              <a:t>Demonstrate baseline vs more complex models and compare metrics.</a:t>
            </a:r>
          </a:p>
          <a:p>
            <a:pPr lvl="1"/>
            <a:r>
              <a:rPr lang="en-US" dirty="0"/>
              <a:t>Show diminishing returns: sometimes complexity doesn’t justify extra effort.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05AB2-F3BB-8B62-16BC-790DB8BE7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97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14D4-6831-F972-6968-09365933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BAF1F-94DF-10E0-1C60-2D8034299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CB40D-12FF-0D54-0151-237351BF6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F5B41-A894-1BE0-3089-0B00E7500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70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A10D-0282-D22A-978A-8FDD1AE0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2577F-DE97-4A6B-784A-D055AE36F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E4834-4AB9-491D-AC94-C72C50BE1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16 – End-to-End Template: From Idea to Production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Problem &amp; success metrics</a:t>
            </a:r>
          </a:p>
          <a:p>
            <a:r>
              <a:rPr lang="en-US" dirty="0"/>
              <a:t>Data discovery &amp; governance</a:t>
            </a:r>
          </a:p>
          <a:p>
            <a:r>
              <a:rPr lang="en-US" dirty="0"/>
              <a:t>Ingestion &amp; feature engineering</a:t>
            </a:r>
          </a:p>
          <a:p>
            <a:r>
              <a:rPr lang="en-US" dirty="0"/>
              <a:t>Modeling &amp; evaluation</a:t>
            </a:r>
          </a:p>
          <a:p>
            <a:r>
              <a:rPr lang="en-US" dirty="0"/>
              <a:t>Explainability &amp; validation with domain experts</a:t>
            </a:r>
          </a:p>
          <a:p>
            <a:r>
              <a:rPr lang="en-US" dirty="0"/>
              <a:t>Deployment (batch/API/stream)</a:t>
            </a:r>
          </a:p>
          <a:p>
            <a:r>
              <a:rPr lang="en-US" dirty="0"/>
              <a:t>Monitoring &amp; retraining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Use wildfires and mental health as concrete examples walking through each step.</a:t>
            </a:r>
          </a:p>
          <a:p>
            <a:r>
              <a:rPr lang="en-US" dirty="0"/>
              <a:t>Emphasize that </a:t>
            </a:r>
            <a:r>
              <a:rPr lang="en-US" i="1" dirty="0"/>
              <a:t>this is the general template</a:t>
            </a:r>
            <a:r>
              <a:rPr lang="en-US" dirty="0"/>
              <a:t> they can reuse for future projects.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70_project_template/</a:t>
            </a:r>
          </a:p>
          <a:p>
            <a:pPr lvl="1"/>
            <a:r>
              <a:rPr lang="en-US" dirty="0"/>
              <a:t>Skeleton folder structure and sample config files (YAML) that can be reused.</a:t>
            </a:r>
          </a:p>
          <a:p>
            <a:pPr lvl="1"/>
            <a:r>
              <a:rPr lang="en-US" dirty="0"/>
              <a:t>Example README.md explaining how to plug in a new dataset/problem.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17 – Summary &amp; Key Takeaways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Real-world data is messy but powerful</a:t>
            </a:r>
          </a:p>
          <a:p>
            <a:r>
              <a:rPr lang="en-US" dirty="0"/>
              <a:t>AI/ML can:</a:t>
            </a:r>
          </a:p>
          <a:p>
            <a:pPr lvl="1"/>
            <a:r>
              <a:rPr lang="en-US" dirty="0"/>
              <a:t>Help predict and mitigate wildfires</a:t>
            </a:r>
          </a:p>
          <a:p>
            <a:pPr lvl="1"/>
            <a:r>
              <a:rPr lang="en-US" dirty="0"/>
              <a:t>Support early detection of mental health risks</a:t>
            </a:r>
          </a:p>
          <a:p>
            <a:r>
              <a:rPr lang="en-US" dirty="0"/>
              <a:t>Success depends on:</a:t>
            </a:r>
          </a:p>
          <a:p>
            <a:pPr lvl="1"/>
            <a:r>
              <a:rPr lang="en-US" dirty="0"/>
              <a:t>Good problem framing</a:t>
            </a:r>
          </a:p>
          <a:p>
            <a:pPr lvl="1"/>
            <a:r>
              <a:rPr lang="en-US" dirty="0"/>
              <a:t>Strong data &amp; feature pipelines</a:t>
            </a:r>
          </a:p>
          <a:p>
            <a:pPr lvl="1"/>
            <a:r>
              <a:rPr lang="en-US" dirty="0"/>
              <a:t>Responsible, interpretable models</a:t>
            </a:r>
          </a:p>
          <a:p>
            <a:r>
              <a:rPr lang="en-US" dirty="0"/>
              <a:t>You can reuse these patterns in your own projects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Recap both stories in 1–2 sentences each.</a:t>
            </a:r>
          </a:p>
          <a:p>
            <a:r>
              <a:rPr lang="en-US" dirty="0"/>
              <a:t>End with an invitation: “Take one of these ideas, find a dataset, and try to reproduce a mini version using the runbook.”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None new; just refer back to the full runbook repo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A433C-1F98-3C16-C4A3-AC935168A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9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22482-95D4-A23A-F809-06517AC95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01902-BE26-DB2D-3FCB-1EA0467B5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C0E0-87E5-31B5-B0A6-9B0F5C188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3A41D-1110-F98E-6AC7-D9466AFEB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790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4CA13-3005-ED9F-5FAB-88F22CF7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C4093-FE89-0886-297B-B5D9C1425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99DE8-5370-209B-E263-F81E544E2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18 – Q&amp;A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“Questions?”</a:t>
            </a:r>
          </a:p>
          <a:p>
            <a:r>
              <a:rPr lang="en-US" dirty="0"/>
              <a:t>Contact: LinkedIn URL (linkedin.com/in/</a:t>
            </a:r>
            <a:r>
              <a:rPr lang="en-US" dirty="0" err="1"/>
              <a:t>rvats</a:t>
            </a:r>
            <a:r>
              <a:rPr lang="en-US" dirty="0"/>
              <a:t>) 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r>
              <a:rPr lang="en-US" dirty="0"/>
              <a:t>Encourage practical questions: “If you try building these pipelines, what might block you?”</a:t>
            </a:r>
          </a:p>
          <a:p>
            <a:r>
              <a:rPr lang="en-US" dirty="0"/>
              <a:t>Offer to share runbook/link after the talk.</a:t>
            </a:r>
          </a:p>
          <a:p>
            <a:r>
              <a:rPr lang="en-US" b="1" dirty="0"/>
              <a:t>Runbook / code items:</a:t>
            </a:r>
            <a:endParaRPr lang="en-US" dirty="0"/>
          </a:p>
          <a:p>
            <a:r>
              <a:rPr lang="en-US" dirty="0"/>
              <a:t>Optionally a 99_references_and_links.md with:</a:t>
            </a:r>
          </a:p>
          <a:p>
            <a:pPr lvl="1"/>
            <a:r>
              <a:rPr lang="en-US" dirty="0"/>
              <a:t>MIT mobile sensing / Sandy Pentland research references. </a:t>
            </a:r>
          </a:p>
          <a:p>
            <a:pPr lvl="1"/>
            <a:r>
              <a:rPr lang="en-US" dirty="0"/>
              <a:t>Wildfire ML dataset and library references.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B209E-FB88-188B-7466-F89644591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6410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203AF-23B8-49F1-98C6-599A63424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ED114-98DA-B7B9-60C2-AE2FB778B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F395B-4F92-2EB7-C16A-3FE9C46BB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25551-A20B-6BFA-64EF-498020600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50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5FF00-4D70-DF75-BBE4-C4362D52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83D5F-F517-B652-7C65-C5D3F318B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C3C1B-8E96-A900-E7D8-D0FAB9CB7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455FE-9BE2-2858-443E-6B91C8CEB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EA71-4C59-48E2-8E91-0AC78D4B446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36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1FB0-F46C-6437-B133-F6E4C99F7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829EA-2F58-5DA8-3370-04027CEEC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4B59-87E3-970E-A6D7-DC91956B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232EE-F2A4-E431-C47A-0DD4DE64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95E08-4CF6-154B-BCEB-17826401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70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D654A-3A84-55D4-051A-3A143879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8EDC-E2E9-134E-4574-8AEB5BC51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1B8D8-BE73-60A0-B71D-0397FCF0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F058D-9140-888F-28A0-D23592535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3B9A3-C8CC-AE0A-FDDA-74C66DB5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841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C505-EFF4-0A6B-7F3D-6EA2F6AAF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87E86-6A54-DDFA-BB93-A0EB040A2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CA87A-8316-5FCD-3E7D-65275290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0F48A-E46F-AD8D-C32D-F8315F86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B72AF-6A90-ADCF-0A8D-113DAF52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65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364B-05EF-3FA3-5BD9-26308B98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686DC-6F66-5E6C-6516-824861DBA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8F63F-0F7F-4CEB-289E-3BD92D5E6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86430-882E-E3FC-8FF5-C21007E2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ADDE6-DE2D-CF98-8F05-DAA25CB2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28F5C-69FF-05F5-3E75-249C7824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364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0EC0-FD78-994A-EDCF-048F72E8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EFDBE-FF68-D8FF-E1A0-DF528A874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699D0-2515-3244-343F-36E09FC40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FC879-B8D0-FCB4-AF0B-C2E116950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4EC36-7152-545D-5E4A-94D9E2090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82040-BE6B-8D71-165E-DF3A5BD6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EC9721-F50E-3A3E-2B5C-D0C6BD6B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369489-9600-DA14-5007-35C55802D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23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4715-18CA-4FDB-06B2-089BFE725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F9AA2D-B64F-BBC8-0E96-C7FBD1C6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3DC53-9275-761A-D4C0-4556A7F1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90CAC-1A4D-6814-54D1-8954E305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670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A2568-C61F-A5AB-6B66-FF60FE23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408CD-ACA8-E768-98D9-63E35B703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A7F8B-0EBF-C741-EA2F-D5596830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569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3E05-9CBE-1223-9EE8-906499A6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29D0F-D19B-4F51-5520-16FFE69B3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A5D88-2101-FF61-0096-E825298AE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F9E32-6723-4B2C-BBFC-EDF2AB1AE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D6188-FBF3-3B0C-0632-47CEB840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FABAC-B4F5-787B-CBBE-7A1F4042B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47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BA9C-1CEF-47B2-E908-F6061916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40275D-7385-116F-90A8-7A7793932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EC18D-7671-9EA2-AA0F-DC1ECD722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D0967-D8CC-C90E-665B-91553058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C2572-6AFE-7F5D-C4FD-6BB83236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1BC84-2B23-6956-7676-072DB245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655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3F465-6B59-73B7-770C-AABFA8CE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50C15-ABB5-6273-95E8-3988A52AC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82F83-CD5D-739A-43E6-939B21A4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9728B-6F79-21CD-EDCE-5F86FAFB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5B536-A567-5C03-0951-6BE298DE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90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70350-1B78-47AB-0719-CA8ED696C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4FDA5-623E-7860-65F1-CB74349F9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24307-AA4C-6A87-6B34-ACFA973C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CA970-D929-99A8-F698-3015E15A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A2E3C-9ECB-3BDA-BC7F-C1544BE6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50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A6DE88-208C-1349-058D-42D7EBF25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1D5D2-8D72-C9AD-0EAC-806C7A4DD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0C879-9D64-3BFA-EAA3-0A1B79287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69724-4DDF-43E6-8A61-A89BA3AB954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3A64B-B172-6ABC-4461-001D4A132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8C83A-EAC2-6F5D-4ACD-A0C40D52A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05C64-4687-4475-82F9-0149B971D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47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linkedin.com/in/rvat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hyperlink" Target="https://www.publicdomainpictures.net/ro/view-image.php?image=158418&amp;picture=semnul-intrebri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jpg"/><Relationship Id="rId5" Type="http://schemas.openxmlformats.org/officeDocument/2006/relationships/image" Target="../media/image3.png"/><Relationship Id="rId10" Type="http://schemas.openxmlformats.org/officeDocument/2006/relationships/hyperlink" Target="https://www.rawpixel.com/search/question%20and%20answer%20png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hyperlink" Target="https://openclipart.org/detail/241693/checkered-chromatic-question-mark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hyperlink" Target="https://www.kaggle.com/datasets/michellevp/mental-health-dataset-bipolar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hyperlink" Target="https://data.ca.gov/dataset/california-historical-fire-perimeters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rvats/CardiffMetropolitanUniversity_Talk_By_RahulVat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hyperlink" Target="https://www.publicdomainpictures.net/ro/view-image.php?image=158418&amp;picture=semnul-intrebrii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jpg"/><Relationship Id="rId5" Type="http://schemas.openxmlformats.org/officeDocument/2006/relationships/image" Target="../media/image3.png"/><Relationship Id="rId10" Type="http://schemas.openxmlformats.org/officeDocument/2006/relationships/hyperlink" Target="https://www.rawpixel.com/search/question%20and%20answer%20png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hyperlink" Target="https://openclipart.org/detail/241693/checkered-chromatic-question-ma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3390AEA-7235-A970-495B-D636AE61046A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8324280-5261-977C-59A3-69C3A52DDBB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B30B5E5-B8C5-09BC-94A9-33EBDE17904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B4EEB61-7514-222A-4A4B-9EE7D32EFD8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C6B773E-C806-433C-39AB-21A03889068E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A5779EA-53B5-78C8-93AF-BF5D010FE65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B589B7DC-A8BA-0321-8668-675EC921C7F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516030-269F-B52A-7190-D4FCD70D8446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B58399B-CAAB-4C32-FB47-3F78610224D6}"/>
              </a:ext>
            </a:extLst>
          </p:cNvPr>
          <p:cNvSpPr txBox="1"/>
          <p:nvPr/>
        </p:nvSpPr>
        <p:spPr>
          <a:xfrm>
            <a:off x="3411935" y="1524372"/>
            <a:ext cx="829238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solidFill>
                  <a:srgbClr val="FFC000"/>
                </a:solidFill>
              </a:rPr>
              <a:t>Guest Speaker: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b="1" dirty="0">
                <a:solidFill>
                  <a:srgbClr val="FFC000"/>
                </a:solidFill>
              </a:rPr>
              <a:t>Mr. Rahul Vats 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b="1" dirty="0">
                <a:solidFill>
                  <a:srgbClr val="FFC000"/>
                </a:solidFill>
              </a:rPr>
              <a:t>Designation: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rgbClr val="FFC000"/>
                </a:solidFill>
              </a:rPr>
              <a:t>Senior Lead/Manager at CapitalOne, Coppell, Texas, United States</a:t>
            </a:r>
          </a:p>
          <a:p>
            <a:pPr>
              <a:spcAft>
                <a:spcPts val="600"/>
              </a:spcAft>
            </a:pPr>
            <a:r>
              <a:rPr lang="en-GB" sz="1600" b="1" dirty="0">
                <a:solidFill>
                  <a:srgbClr val="FFC000"/>
                </a:solidFill>
              </a:rPr>
              <a:t>Contact Info- </a:t>
            </a:r>
            <a:r>
              <a:rPr lang="en-GB" sz="1600" b="1" dirty="0">
                <a:solidFill>
                  <a:srgbClr val="92D05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</a:t>
            </a:r>
            <a:r>
              <a:rPr lang="en-GB" sz="1600" b="1" dirty="0" err="1">
                <a:solidFill>
                  <a:srgbClr val="92D05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rvats</a:t>
            </a:r>
            <a:endParaRPr lang="en-GB" sz="1600" dirty="0">
              <a:solidFill>
                <a:srgbClr val="92D050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GB" sz="1600" dirty="0">
                <a:solidFill>
                  <a:schemeClr val="bg1"/>
                </a:solidFill>
              </a:rPr>
              <a:t>Join us for a compelling talk by Mr. Rahul Vats, who will showcase the power of AI in tackling </a:t>
            </a:r>
            <a:r>
              <a:rPr lang="en-GB" sz="1600" b="1" dirty="0">
                <a:solidFill>
                  <a:schemeClr val="bg1"/>
                </a:solidFill>
              </a:rPr>
              <a:t>real-world industry challenges</a:t>
            </a:r>
            <a:r>
              <a:rPr lang="en-GB" sz="1600" dirty="0">
                <a:solidFill>
                  <a:schemeClr val="bg1"/>
                </a:solidFill>
              </a:rPr>
              <a:t>. Using </a:t>
            </a:r>
            <a:r>
              <a:rPr lang="en-GB" sz="1600" b="1" dirty="0">
                <a:solidFill>
                  <a:srgbClr val="FFC000"/>
                </a:solidFill>
              </a:rPr>
              <a:t>real world data</a:t>
            </a:r>
            <a:r>
              <a:rPr lang="en-GB" sz="1600" dirty="0">
                <a:solidFill>
                  <a:schemeClr val="bg1"/>
                </a:solidFill>
              </a:rPr>
              <a:t> for various key use cases like wildfires, mental health detection using mobile data, this session will illustrate how machine learning techniques are reshaping industries and tackling critical real-world challenges.</a:t>
            </a:r>
          </a:p>
          <a:p>
            <a:pPr>
              <a:spcAft>
                <a:spcPts val="600"/>
              </a:spcAft>
            </a:pPr>
            <a:r>
              <a:rPr lang="en-GB" sz="1600" dirty="0"/>
              <a:t>🔍 </a:t>
            </a:r>
            <a:r>
              <a:rPr lang="en-GB" sz="1600" b="1" dirty="0">
                <a:solidFill>
                  <a:srgbClr val="FFC000"/>
                </a:solidFill>
              </a:rPr>
              <a:t>Session Focus:</a:t>
            </a:r>
            <a:endParaRPr lang="en-GB" sz="1600" dirty="0">
              <a:solidFill>
                <a:srgbClr val="FFC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1"/>
                </a:solidFill>
              </a:rPr>
              <a:t>How AI is solving critical real-world challenges</a:t>
            </a:r>
            <a:endParaRPr lang="en-GB" sz="1600" dirty="0">
              <a:solidFill>
                <a:schemeClr val="bg1"/>
              </a:solidFill>
              <a:highlight>
                <a:srgbClr val="FF00FF"/>
              </a:highlight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1"/>
                </a:solidFill>
              </a:rPr>
              <a:t>Practical insights for building impactful ML solutions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1"/>
                </a:solidFill>
              </a:rPr>
              <a:t>Wildfires use cases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1"/>
                </a:solidFill>
              </a:rPr>
              <a:t>Detecting Depression by tracking location data in mobile. </a:t>
            </a:r>
          </a:p>
          <a:p>
            <a:pPr>
              <a:spcAft>
                <a:spcPts val="600"/>
              </a:spcAft>
            </a:pPr>
            <a:r>
              <a:rPr lang="en-GB" sz="1600" dirty="0">
                <a:solidFill>
                  <a:schemeClr val="bg1"/>
                </a:solidFill>
              </a:rPr>
              <a:t>📅 </a:t>
            </a:r>
            <a:r>
              <a:rPr lang="en-GB" sz="1600" b="1" dirty="0">
                <a:solidFill>
                  <a:schemeClr val="bg1"/>
                </a:solidFill>
              </a:rPr>
              <a:t>Date: 5</a:t>
            </a:r>
            <a:r>
              <a:rPr lang="en-GB" sz="1600" b="1" baseline="30000" dirty="0">
                <a:solidFill>
                  <a:schemeClr val="bg1"/>
                </a:solidFill>
              </a:rPr>
              <a:t>th</a:t>
            </a:r>
            <a:r>
              <a:rPr lang="en-GB" sz="1600" b="1" dirty="0">
                <a:solidFill>
                  <a:schemeClr val="bg1"/>
                </a:solidFill>
              </a:rPr>
              <a:t> December </a:t>
            </a:r>
            <a:r>
              <a:rPr lang="en-GB" sz="1600" dirty="0">
                <a:solidFill>
                  <a:schemeClr val="bg1"/>
                </a:solidFill>
              </a:rPr>
              <a:t>2025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⏰ </a:t>
            </a:r>
            <a:r>
              <a:rPr lang="en-GB" sz="1600" b="1" dirty="0">
                <a:solidFill>
                  <a:schemeClr val="bg1"/>
                </a:solidFill>
              </a:rPr>
              <a:t>Time:</a:t>
            </a:r>
            <a:r>
              <a:rPr lang="en-GB" sz="1600" dirty="0">
                <a:solidFill>
                  <a:schemeClr val="bg1"/>
                </a:solidFill>
              </a:rPr>
              <a:t> 2.00 p.m.- 3.00 p.m.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📍 </a:t>
            </a:r>
            <a:r>
              <a:rPr lang="en-GB" sz="1600" b="1" dirty="0">
                <a:solidFill>
                  <a:schemeClr val="bg1"/>
                </a:solidFill>
              </a:rPr>
              <a:t>Venue:</a:t>
            </a:r>
            <a:r>
              <a:rPr lang="en-GB" sz="1600" dirty="0">
                <a:solidFill>
                  <a:schemeClr val="bg1"/>
                </a:solidFill>
              </a:rPr>
              <a:t> Virtual: </a:t>
            </a:r>
            <a:r>
              <a:rPr lang="en-GB" sz="1600" dirty="0">
                <a:solidFill>
                  <a:schemeClr val="bg1"/>
                </a:solidFill>
                <a:latin typeface="Aptos" panose="020B0004020202020204" pitchFamily="34" charset="0"/>
              </a:rPr>
              <a:t>Teams Meeting Link available on CMP7005 Teams Channel</a:t>
            </a:r>
            <a:endParaRPr lang="en-GB" sz="1600" dirty="0">
              <a:solidFill>
                <a:schemeClr val="bg1"/>
              </a:solidFill>
            </a:endParaRPr>
          </a:p>
          <a:p>
            <a:endParaRPr lang="en-GB" sz="1400" b="1" dirty="0">
              <a:solidFill>
                <a:srgbClr val="FFC000"/>
              </a:solidFill>
            </a:endParaRPr>
          </a:p>
          <a:p>
            <a:r>
              <a:rPr lang="en-GB" sz="1400" b="1" dirty="0">
                <a:solidFill>
                  <a:srgbClr val="FFC000"/>
                </a:solidFill>
              </a:rPr>
              <a:t>Don’t miss this opportunity to learn from an expert at the forefront of AI innovation! 🚀</a:t>
            </a:r>
          </a:p>
          <a:p>
            <a:pPr>
              <a:spcAft>
                <a:spcPts val="600"/>
              </a:spcAft>
            </a:pP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446262-123B-A435-DCBF-952C222E230E}"/>
              </a:ext>
            </a:extLst>
          </p:cNvPr>
          <p:cNvSpPr txBox="1"/>
          <p:nvPr/>
        </p:nvSpPr>
        <p:spPr>
          <a:xfrm>
            <a:off x="4265024" y="680925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944D5C-A83B-C3A3-969F-46D6932BF8F4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CBA955-376B-27DF-C044-7E1EA9F9B3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6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D510E-8390-3E1A-3E68-3EE45A7C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D5D3F74-5804-AB33-92D6-D555CF058E99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CB3598E-0F6D-032D-78E3-665EDF1D615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AB82243-9855-F89D-D6D6-0348356DDFA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88C87EE-EA19-4487-B892-C7AAE8F4EE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D985BD4-AAA0-DBD3-D504-F1960D055E60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864F692F-33E9-7A1B-EA80-43491F22F2E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0D75EF2-51D4-0B4F-5A9F-A064D98EC51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8B6E0D-C0DE-6AC1-8C9D-D3A7509909B8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1FADF5-A14E-2A6F-E4FD-05C996983B85}"/>
              </a:ext>
            </a:extLst>
          </p:cNvPr>
          <p:cNvSpPr txBox="1"/>
          <p:nvPr/>
        </p:nvSpPr>
        <p:spPr>
          <a:xfrm>
            <a:off x="3369971" y="781656"/>
            <a:ext cx="82923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Real-World Data of California Wildfires and Mental Health data of Patients from all over the USA</a:t>
            </a:r>
          </a:p>
          <a:p>
            <a:pPr algn="ctr">
              <a:spcAft>
                <a:spcPts val="600"/>
              </a:spcAft>
            </a:pP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B1852B-C057-165D-155B-694EB56861AA}"/>
              </a:ext>
            </a:extLst>
          </p:cNvPr>
          <p:cNvSpPr txBox="1"/>
          <p:nvPr/>
        </p:nvSpPr>
        <p:spPr>
          <a:xfrm>
            <a:off x="4265024" y="680925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AD8BA7-8DD5-B8BE-2182-F9975FD6DA89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00FF49-3BF7-8EC6-D1FE-15E2A9D567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  <p:pic>
        <p:nvPicPr>
          <p:cNvPr id="22" name="Picture 21" descr="Question and Answers">
            <a:extLst>
              <a:ext uri="{FF2B5EF4-FFF2-40B4-BE49-F238E27FC236}">
                <a16:creationId xmlns:a16="http://schemas.microsoft.com/office/drawing/2014/main" id="{868CCB72-D794-8559-A5C7-D6E6275BE8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010110" y="3902846"/>
            <a:ext cx="2800598" cy="25467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4951965-B198-892A-2D30-ACE8BEC3DB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3252806" y="1575815"/>
            <a:ext cx="2460992" cy="246099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89A4DCB-D9CE-0111-CC30-05AD556265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5787455" y="1528149"/>
            <a:ext cx="2858296" cy="501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7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0C6D-7D04-857D-B449-164D7FB5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2106FC2-1348-8079-4C2C-AD12539B4AD5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D733FCB-9862-3E9A-91CF-F169292CDA6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5633E2-0872-6C7E-71EE-D93C4D3A404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8550E9F-4252-9871-6A63-8CEFBD4434D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242AADA-213D-B496-F73D-4C2F39585CFF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C9F12E2F-E597-7ABD-2A29-F01928D6403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BA0C5EC-4B16-B6B3-EEE3-593DC557964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6A29C8-BC61-734B-A363-35269C8102C1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873540-042F-FAC4-D0AC-A6BA6DA8D0DE}"/>
              </a:ext>
            </a:extLst>
          </p:cNvPr>
          <p:cNvSpPr txBox="1"/>
          <p:nvPr/>
        </p:nvSpPr>
        <p:spPr>
          <a:xfrm>
            <a:off x="3369971" y="781656"/>
            <a:ext cx="82923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Real-World Data of California Wildfires and Mental Health data of Patients from all over the USA</a:t>
            </a:r>
          </a:p>
          <a:p>
            <a:pPr algn="ctr">
              <a:spcAft>
                <a:spcPts val="600"/>
              </a:spcAft>
            </a:pP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D74B0-26D7-1CAD-3414-99BD70846D00}"/>
              </a:ext>
            </a:extLst>
          </p:cNvPr>
          <p:cNvSpPr txBox="1"/>
          <p:nvPr/>
        </p:nvSpPr>
        <p:spPr>
          <a:xfrm>
            <a:off x="4265024" y="680925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48DDB4-9E35-25F4-C4B1-98FF5423A160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ADAA72-0E11-8E57-2EA1-72A96DF5AA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  <p:pic>
        <p:nvPicPr>
          <p:cNvPr id="18" name="Picture 17">
            <a:hlinkClick r:id="rId9"/>
            <a:extLst>
              <a:ext uri="{FF2B5EF4-FFF2-40B4-BE49-F238E27FC236}">
                <a16:creationId xmlns:a16="http://schemas.microsoft.com/office/drawing/2014/main" id="{874EE76F-7EBD-F6B9-E079-E93355E58A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9158" y="2510708"/>
            <a:ext cx="2784498" cy="2337275"/>
          </a:xfrm>
          <a:prstGeom prst="rect">
            <a:avLst/>
          </a:prstGeom>
        </p:spPr>
      </p:pic>
      <p:pic>
        <p:nvPicPr>
          <p:cNvPr id="20" name="Picture 19">
            <a:hlinkClick r:id="rId11"/>
            <a:extLst>
              <a:ext uri="{FF2B5EF4-FFF2-40B4-BE49-F238E27FC236}">
                <a16:creationId xmlns:a16="http://schemas.microsoft.com/office/drawing/2014/main" id="{797AE819-2799-FE10-5443-41BEF92CDF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8131" y="2510708"/>
            <a:ext cx="3062441" cy="230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6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1101-066F-E064-55C1-1FD0F359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4FFC192-2517-5487-5745-5FD9129C3AF7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9CD054C-819A-AB96-9246-9E923365535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A34C872-F65A-F6F6-A555-FB0C38BB2D0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984A48F-46B0-356D-98D0-669B6B8C607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8327896-BA3A-134B-A217-742C0A4ED417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6879D56-8A25-BAAE-E7DC-B488E4000DD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F21065D-6669-8C95-C319-032D5034AB4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5ACE28-22BD-99A3-F424-AD60B9BA5D7E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3BA51C8-B3A9-EEAE-6EFD-4AC78C48D1A2}"/>
              </a:ext>
            </a:extLst>
          </p:cNvPr>
          <p:cNvSpPr txBox="1"/>
          <p:nvPr/>
        </p:nvSpPr>
        <p:spPr>
          <a:xfrm>
            <a:off x="3411935" y="1524372"/>
            <a:ext cx="82923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400" dirty="0">
                <a:solidFill>
                  <a:schemeClr val="bg1"/>
                </a:solidFill>
              </a:rPr>
              <a:t>Download the Code while we are interacting:</a:t>
            </a:r>
            <a:br>
              <a:rPr lang="en-GB" sz="1400" dirty="0">
                <a:solidFill>
                  <a:schemeClr val="bg1"/>
                </a:solidFill>
              </a:rPr>
            </a:br>
            <a:br>
              <a:rPr lang="en-GB" sz="1400" dirty="0">
                <a:solidFill>
                  <a:schemeClr val="bg1"/>
                </a:solidFill>
              </a:rPr>
            </a:br>
            <a:r>
              <a:rPr lang="en-GB" sz="1400" dirty="0">
                <a:solidFill>
                  <a:schemeClr val="bg1"/>
                </a:solidFill>
                <a:hlinkClick r:id="rId8"/>
              </a:rPr>
              <a:t>https://github.com/rvats/CardiffMetropolitanUniversity_Talk_By_RahulVats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28EA9-3D44-1271-9076-E471A5111654}"/>
              </a:ext>
            </a:extLst>
          </p:cNvPr>
          <p:cNvSpPr txBox="1"/>
          <p:nvPr/>
        </p:nvSpPr>
        <p:spPr>
          <a:xfrm>
            <a:off x="4265024" y="680925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7B9232-C208-FAA1-1F65-CB5CB15F874D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FF9003-DB2A-3FD1-DA22-14302FD448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10086D-09C7-02BD-1AC8-D2E6285905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5776" y="2366122"/>
            <a:ext cx="8028281" cy="407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41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527C-75EE-C67D-62D9-ECFB5E354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730A17A-37F6-0398-BB4C-5AC46D42E952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28E5267-8D19-9052-F623-40398BE9464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123AB5F-6A6D-389B-0573-FC5CC19CB02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EE7AA8F-A085-BEA0-422B-F987D3EC6A2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689E3E4-A855-2F0B-C86D-A1CEFC1E0B52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1D75CC49-434E-915D-6037-D6F50AFDBF5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7C43D4C-0FFF-C1AE-018E-416D1912C0A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608EA0-CB0D-34BD-6499-7BF0C02B1837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825168-EE69-9A37-A8DD-CE65FC8DAFF8}"/>
              </a:ext>
            </a:extLst>
          </p:cNvPr>
          <p:cNvSpPr txBox="1"/>
          <p:nvPr/>
        </p:nvSpPr>
        <p:spPr>
          <a:xfrm>
            <a:off x="3411935" y="1524372"/>
            <a:ext cx="829238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</a:rPr>
              <a:t>Real-world data &amp; AI.</a:t>
            </a:r>
          </a:p>
          <a:p>
            <a:pPr algn="ctr">
              <a:spcAft>
                <a:spcPts val="600"/>
              </a:spcAft>
            </a:pPr>
            <a:endParaRPr lang="en-US" sz="2400" b="1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</a:rPr>
              <a:t>Wildfires risk &amp; detection.</a:t>
            </a:r>
          </a:p>
          <a:p>
            <a:pPr algn="ctr">
              <a:spcAft>
                <a:spcPts val="600"/>
              </a:spcAft>
            </a:pPr>
            <a:endParaRPr lang="en-US" sz="2400" b="1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</a:rPr>
              <a:t>Mental health via mobile sensing.</a:t>
            </a:r>
          </a:p>
          <a:p>
            <a:pPr algn="ctr">
              <a:spcAft>
                <a:spcPts val="600"/>
              </a:spcAft>
            </a:pPr>
            <a:endParaRPr lang="en-US" sz="2400" b="1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</a:rPr>
              <a:t>Practical, reusable ML patterns.</a:t>
            </a:r>
          </a:p>
          <a:p>
            <a:pPr algn="ctr">
              <a:spcAft>
                <a:spcPts val="600"/>
              </a:spcAft>
            </a:pPr>
            <a:endParaRPr lang="en-US" sz="2400" b="1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</a:rPr>
              <a:t>Mention of the code runbook.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5AF667-E8DB-4070-1BC3-CFCFA02F249C}"/>
              </a:ext>
            </a:extLst>
          </p:cNvPr>
          <p:cNvSpPr txBox="1"/>
          <p:nvPr/>
        </p:nvSpPr>
        <p:spPr>
          <a:xfrm>
            <a:off x="4265024" y="680925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A1F5FF-0182-8045-4A4B-C859E9C30190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0697FC-8CFC-BC93-2DFA-5088D194F4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01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BC577-0AC0-E5B1-93EB-57880CD30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D2A8669-21FC-236A-EF2D-47D1FD329A3B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00FFC99-357C-B9B1-604E-25CA47C365C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757AE13-43CB-C15A-2670-62B5C7528EA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4935914-EDBC-5649-CFD4-390798FCC4A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A85C0CF-0B6A-CB49-64DF-362C9CE23BF4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521D16A-37FE-BD35-9B26-2D869DB786B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DAFDE1C-09D5-FF3E-5D04-5457B729585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9D45FB-F12F-443B-F467-6A9FFDAD5DD7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D98D1D-1F82-C160-9164-F81595C9C194}"/>
              </a:ext>
            </a:extLst>
          </p:cNvPr>
          <p:cNvSpPr txBox="1"/>
          <p:nvPr/>
        </p:nvSpPr>
        <p:spPr>
          <a:xfrm>
            <a:off x="3413152" y="962566"/>
            <a:ext cx="82923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Wildfires, Mental Health &amp; Real-World Data</a:t>
            </a:r>
          </a:p>
          <a:p>
            <a:r>
              <a:rPr lang="en-US" dirty="0">
                <a:solidFill>
                  <a:schemeClr val="bg1"/>
                </a:solidFill>
              </a:rPr>
              <a:t>“Today I want to walk you through how AI + real-world data are being used to solve </a:t>
            </a:r>
            <a:r>
              <a:rPr lang="en-US" i="1" dirty="0">
                <a:solidFill>
                  <a:schemeClr val="bg1"/>
                </a:solidFill>
              </a:rPr>
              <a:t>serious</a:t>
            </a:r>
            <a:r>
              <a:rPr lang="en-US" dirty="0">
                <a:solidFill>
                  <a:schemeClr val="bg1"/>
                </a:solidFill>
              </a:rPr>
              <a:t> problems: preventing wildfires and detecting mental health risks.”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Rememeber</a:t>
            </a:r>
            <a:r>
              <a:rPr lang="en-US" dirty="0">
                <a:solidFill>
                  <a:schemeClr val="bg1"/>
                </a:solidFill>
              </a:rPr>
              <a:t> that I am putting a special Emphasis on the following key words: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Real datasets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Real constraints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Real messiness.</a:t>
            </a:r>
          </a:p>
          <a:p>
            <a:r>
              <a:rPr lang="en-US" dirty="0">
                <a:solidFill>
                  <a:schemeClr val="bg1"/>
                </a:solidFill>
              </a:rPr>
              <a:t>We will be going through </a:t>
            </a:r>
            <a:r>
              <a:rPr lang="en-US" b="1" dirty="0">
                <a:solidFill>
                  <a:schemeClr val="bg1"/>
                </a:solidFill>
              </a:rPr>
              <a:t>real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impact stories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practical ML patterns</a:t>
            </a:r>
            <a:r>
              <a:rPr lang="en-US" dirty="0">
                <a:solidFill>
                  <a:schemeClr val="bg1"/>
                </a:solidFill>
              </a:rPr>
              <a:t> that anyone can reuse.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“No code here, just a quick mention: “You’ll get a runbook with code for both use cases after the talk.”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52B9FA-DCFF-0862-B832-5423129D543C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03B7A2-7AA0-120B-FAA7-09D32D0226E3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8B52D8-8A41-79EB-29C8-EDBC4458AA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74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2F165-25B4-DAC0-1542-2245DD66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6068479-8AA4-4800-BBF9-385E0511B416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92B9534-D301-94EE-5128-48FE0E5F784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3B48255-02D4-F28B-F1E6-D06EDDBD181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ED744A4-A869-552B-52F9-79CE792C67C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98B0432-424D-4086-EA59-38B2BA5F785F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FCE8513-1B3E-2CFD-4E66-27E628DA630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E4A0A6E-AD24-9CA1-A1C5-228A1C1BBB1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468275-F3BC-DAF5-DBA6-FCB43D2E1564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0A078B0-BF39-D441-654B-73431C682DE4}"/>
              </a:ext>
            </a:extLst>
          </p:cNvPr>
          <p:cNvSpPr txBox="1"/>
          <p:nvPr/>
        </p:nvSpPr>
        <p:spPr>
          <a:xfrm>
            <a:off x="3413152" y="962566"/>
            <a:ext cx="82923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AI, ML, RAG, computer vision, automation, cloud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Brief Career Arc: Engineer → Tech Lead → AI/data leader.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Mention working with Fortune 500 clients, large-scale data platforms, and production ML.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“I’m not just going to talk theory—I’ll share what actually works in industry.”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D0963D-5C97-D72B-BFBF-0F62547C1DEB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606701-3359-1115-C01F-11103D3B3F9C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06A94E-6CB2-97B1-D599-242CA7978D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80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5F747-54D3-1A43-59E2-5044A7965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0699C0E-9942-1BE8-B882-2E3CAE8A4D81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CEAB162-72B8-2C06-A4A3-A10C3B7E23C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4E2DD44-6540-6022-A777-4A4602B5D91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D4FDBF4-754B-AB84-DB9F-240DA118513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B68B971-DC48-257F-1BD6-7621AD1BF809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07AFF13C-2981-3EF8-DE60-163AFFA35EA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C4E1F9C-6062-266C-E3EE-3917592380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91C328-4F4A-B199-3121-E36E7C0B9367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B3F9E3-DE61-F559-24BE-C0300E82947C}"/>
              </a:ext>
            </a:extLst>
          </p:cNvPr>
          <p:cNvSpPr txBox="1"/>
          <p:nvPr/>
        </p:nvSpPr>
        <p:spPr>
          <a:xfrm>
            <a:off x="3413152" y="962566"/>
            <a:ext cx="829238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Common Patterns &amp; Takeaways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Runbook / code items: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00_environment_setup.py / .</a:t>
            </a:r>
            <a:r>
              <a:rPr lang="en-US" sz="2800" dirty="0" err="1">
                <a:solidFill>
                  <a:schemeClr val="bg1"/>
                </a:solidFill>
              </a:rPr>
              <a:t>ipynb</a:t>
            </a:r>
            <a:endParaRPr lang="en-US" sz="28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10_wildfire_data_and_eda.ipynb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20_wildfire_ml_models.ipynb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30_mental_health_mobile_data_and_eda.ipynb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40_mental_health_ml_models.ipynb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50_model_evaluation_and_explainability.ipynb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60_serving_and_automation.ipynb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99AF6D-4A19-DF99-889C-0D0E1186B503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AF6E27-B623-9C89-D198-228DF1374909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2D80BC-145E-28FA-68F9-0A99F1AF3A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89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87754-5EEE-41B5-C45A-1352B295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F53B8A6-4CDB-FF08-ADDB-8391AFAAE42B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10889C5-B9C5-C07B-BAFB-8912BA0E455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B52E31B-3778-29A2-6EFC-044F96E21C8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D1B65E5-17F1-3394-1FE7-9B8CF2E08AE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E2D186B-39F0-FA54-522F-7345D0A54138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7132AC5-E88D-99EF-6935-15235621B24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12A54E1A-F814-F93E-A6EB-C7CA0684F8E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8AA74C-BBB3-69B1-2CAA-1DD1692D26F6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481FD63-848B-4A9D-AD9B-C16E056A3E99}"/>
              </a:ext>
            </a:extLst>
          </p:cNvPr>
          <p:cNvSpPr txBox="1"/>
          <p:nvPr/>
        </p:nvSpPr>
        <p:spPr>
          <a:xfrm>
            <a:off x="3413152" y="962566"/>
            <a:ext cx="82923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Real-world data ≠ clean Kaggle dataset</a:t>
            </a:r>
          </a:p>
          <a:p>
            <a:r>
              <a:rPr lang="en-US" dirty="0">
                <a:solidFill>
                  <a:schemeClr val="bg1"/>
                </a:solidFill>
              </a:rPr>
              <a:t>Challenges: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Missing, noisy, biased, unbalanced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Multiple sources, messy formats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Privacy &amp; ethics constraints</a:t>
            </a:r>
          </a:p>
          <a:p>
            <a:r>
              <a:rPr lang="en-US" dirty="0">
                <a:solidFill>
                  <a:schemeClr val="bg1"/>
                </a:solidFill>
              </a:rPr>
              <a:t>Opportunities: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Rich signals (space, time, behavior)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New problem formulations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00_environment_setup.ipynb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Installing libraries: </a:t>
            </a:r>
            <a:r>
              <a:rPr lang="en-US" b="1" dirty="0" err="1">
                <a:solidFill>
                  <a:schemeClr val="bg1"/>
                </a:solidFill>
              </a:rPr>
              <a:t>numpy</a:t>
            </a:r>
            <a:r>
              <a:rPr lang="en-US" b="1" dirty="0">
                <a:solidFill>
                  <a:schemeClr val="bg1"/>
                </a:solidFill>
              </a:rPr>
              <a:t>, pandas, </a:t>
            </a:r>
            <a:r>
              <a:rPr lang="en-US" b="1" dirty="0" err="1">
                <a:solidFill>
                  <a:schemeClr val="bg1"/>
                </a:solidFill>
              </a:rPr>
              <a:t>geopandas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rasterio</a:t>
            </a:r>
            <a:r>
              <a:rPr lang="en-US" b="1" dirty="0">
                <a:solidFill>
                  <a:schemeClr val="bg1"/>
                </a:solidFill>
              </a:rPr>
              <a:t>, scikit-learn, </a:t>
            </a:r>
            <a:r>
              <a:rPr lang="en-US" b="1" dirty="0" err="1">
                <a:solidFill>
                  <a:schemeClr val="bg1"/>
                </a:solidFill>
              </a:rPr>
              <a:t>pytorch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tensorflow</a:t>
            </a:r>
            <a:endParaRPr lang="en-US" b="1" dirty="0">
              <a:solidFill>
                <a:schemeClr val="bg1"/>
              </a:solidFill>
            </a:endParaRP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Setting project structure (data/raw, data/processed, models/, notebooks/)</a:t>
            </a:r>
          </a:p>
          <a:p>
            <a:r>
              <a:rPr lang="en-US" b="1" dirty="0">
                <a:solidFill>
                  <a:schemeClr val="bg1"/>
                </a:solidFill>
              </a:rPr>
              <a:t>01_data_quality_checks.ipynb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Generic utilities for missingness checks, schema validation, basic profiling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95498A-A97F-08CD-4F7E-C9863E0EB64A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926C0A-15F2-175C-F9CD-C09E90320711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C9AB63-9821-A278-EA31-15D2126051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33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3291-AF12-ADFA-1894-B8A9D522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7A7DE80-947E-5028-76A9-1433351FC9DC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6AA17D2-E51E-105C-2A3B-6E6C54681B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3C7CC5A-3941-6FC7-05DD-666D438A83D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D373C14-7A7E-5378-810B-ACAF7B231B9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67DA455-BF2A-2430-702D-9171D7B948E8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B45D848-3CB0-BB3D-EAF9-203F58B6B18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7E83E30A-8240-7121-0590-DD050A916D0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656061-3AC3-D558-D78C-D5B9CB6C372E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3A1653B-2178-3E38-1F36-0F3E2D055B86}"/>
              </a:ext>
            </a:extLst>
          </p:cNvPr>
          <p:cNvSpPr txBox="1"/>
          <p:nvPr/>
        </p:nvSpPr>
        <p:spPr>
          <a:xfrm>
            <a:off x="3413152" y="962566"/>
            <a:ext cx="829238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Wildfires</a:t>
            </a:r>
            <a:r>
              <a:rPr lang="en-US" dirty="0">
                <a:solidFill>
                  <a:schemeClr val="bg1"/>
                </a:solidFill>
              </a:rPr>
              <a:t>: tangible physical risk, climate, public safety.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Mental health</a:t>
            </a:r>
            <a:r>
              <a:rPr lang="en-US" dirty="0">
                <a:solidFill>
                  <a:schemeClr val="bg1"/>
                </a:solidFill>
              </a:rPr>
              <a:t>: growing global burden, hard to detect early, mobile devices as scalable sensors.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Both use </a:t>
            </a:r>
            <a:r>
              <a:rPr lang="en-US" sz="2000" b="1" dirty="0">
                <a:solidFill>
                  <a:schemeClr val="bg1"/>
                </a:solidFill>
              </a:rPr>
              <a:t>large-scale, real-world data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b="1" dirty="0">
                <a:solidFill>
                  <a:schemeClr val="bg1"/>
                </a:solidFill>
              </a:rPr>
              <a:t>ML models</a:t>
            </a:r>
            <a:r>
              <a:rPr lang="en-US" sz="2000" dirty="0">
                <a:solidFill>
                  <a:schemeClr val="bg1"/>
                </a:solidFill>
              </a:rPr>
              <a:t> to find patterns humans can’t see easily.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02_problem_definitions.md (or a markdown within repo)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Clear formulation: classification, regression, forecasting tasks for each use case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Definitions of targets/labels and evaluation metrics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AB661-48E7-59FF-1EF0-70620E6B0EC2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A9BDBE-B201-E50D-7D8F-799009826E43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CF911F-98C1-DB52-1DCE-352BE88A2E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44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85BAF-B863-1482-5DA2-6A097870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E7A2A7D-9F7D-B03E-BD1F-0DEBB7BDB5E6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18E31D2-4383-3848-0647-D70214C51D7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44696EC-92D5-310D-5F30-F4E3E2E0706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F998457-67DC-D11C-9E85-A1AEE539503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A055F8C-B137-1DA8-92B9-318D2D986054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E4D308E-DC80-0BFB-9CA4-D58D529E65B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998A316-5E3D-0AC2-169A-CE1A1CACA45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BEBEB6-DFFE-FF90-A171-962AD0E3E3D2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233F1BB-7D07-5FA6-4DC2-A97FADFCD28D}"/>
              </a:ext>
            </a:extLst>
          </p:cNvPr>
          <p:cNvSpPr txBox="1"/>
          <p:nvPr/>
        </p:nvSpPr>
        <p:spPr>
          <a:xfrm>
            <a:off x="3413152" y="962566"/>
            <a:ext cx="8292384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Key Questions: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Where are fires likely to start?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How fast and where will they spread?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Which areas are high risk?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AI helps with: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Detection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Spread prediction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Risk/susceptibility mapping </a:t>
            </a:r>
          </a:p>
          <a:p>
            <a:r>
              <a:rPr lang="en-US" dirty="0">
                <a:solidFill>
                  <a:schemeClr val="bg1"/>
                </a:solidFill>
              </a:rPr>
              <a:t>Clarify problem types: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Detection:</a:t>
            </a:r>
            <a:r>
              <a:rPr lang="en-US" dirty="0">
                <a:solidFill>
                  <a:schemeClr val="bg1"/>
                </a:solidFill>
              </a:rPr>
              <a:t> image-based classification (smoke/flame vs no fire).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Risk mapping:</a:t>
            </a:r>
            <a:r>
              <a:rPr lang="en-US" dirty="0">
                <a:solidFill>
                  <a:schemeClr val="bg1"/>
                </a:solidFill>
              </a:rPr>
              <a:t> supervised learning on grids/pixels with features (weather, vegetation, topography).</a:t>
            </a:r>
          </a:p>
          <a:p>
            <a:r>
              <a:rPr lang="en-US" b="1" dirty="0">
                <a:solidFill>
                  <a:schemeClr val="bg1"/>
                </a:solidFill>
              </a:rPr>
              <a:t>Runbook / code items: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10_wildfire_problem_setup.ipynb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Define label columns: </a:t>
            </a:r>
            <a:r>
              <a:rPr lang="en-US" dirty="0" err="1">
                <a:solidFill>
                  <a:schemeClr val="bg1"/>
                </a:solidFill>
              </a:rPr>
              <a:t>fire_occurred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burned_area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risk_score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Encode problem types: binary classification, regression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CC3C73-40E5-2A30-E333-8ECF0DEE0623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83067-BD5A-F20A-E41D-03E585EE754D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CED806-ED77-6C1B-3C4B-ECCA230BC3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37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9E89-3B28-3270-C0AD-E94AB4001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9F25A50-1457-A088-EDE3-83F7BA0BE43E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9999414-6197-72F1-5658-A51540FFF61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571B5B6-B4EF-7A7E-8AD2-D6B80161FB1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5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BC3CD4F-B88F-C559-2E25-AF9867CF04E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0351A66-473B-3AEA-1CBB-B975A5DF2A53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C862115-EF4E-9789-5377-2288D545E2C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1CF0735-FD72-5695-0A42-D48BDDD278A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BECB44-9C35-C6F6-5030-D763DE3995B7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B0FB794-8CF4-D0FE-4D3A-BD4F27AA1505}"/>
              </a:ext>
            </a:extLst>
          </p:cNvPr>
          <p:cNvSpPr txBox="1"/>
          <p:nvPr/>
        </p:nvSpPr>
        <p:spPr>
          <a:xfrm>
            <a:off x="3413152" y="962566"/>
            <a:ext cx="829238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Data Sources (examples)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CAGS Combined Wildland Fire Dataset (fire perimeters)</a:t>
            </a:r>
          </a:p>
          <a:p>
            <a:r>
              <a:rPr lang="en-US" dirty="0">
                <a:solidFill>
                  <a:schemeClr val="bg1"/>
                </a:solidFill>
              </a:rPr>
              <a:t>NASA FIRMS (VIIRS/MODIS active fire points)</a:t>
            </a:r>
          </a:p>
          <a:p>
            <a:r>
              <a:rPr lang="en-US" dirty="0">
                <a:solidFill>
                  <a:schemeClr val="bg1"/>
                </a:solidFill>
              </a:rPr>
              <a:t>Weather data (temperature, wind, humidity)</a:t>
            </a:r>
          </a:p>
          <a:p>
            <a:r>
              <a:rPr lang="en-US" dirty="0">
                <a:solidFill>
                  <a:schemeClr val="bg1"/>
                </a:solidFill>
              </a:rPr>
              <a:t>Land cover &amp; terrain (slope, aspect, vegetation)</a:t>
            </a:r>
          </a:p>
          <a:p>
            <a:r>
              <a:rPr lang="en-US" dirty="0">
                <a:solidFill>
                  <a:schemeClr val="bg1"/>
                </a:solidFill>
              </a:rPr>
              <a:t>Kaggle / satellite image datasets for fire/smoke detection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Key Feature Types</a:t>
            </a:r>
          </a:p>
          <a:p>
            <a:r>
              <a:rPr lang="en-US" dirty="0">
                <a:solidFill>
                  <a:schemeClr val="bg1"/>
                </a:solidFill>
              </a:rPr>
              <a:t>Spatial: elevation, slope, distance to roads</a:t>
            </a:r>
          </a:p>
          <a:p>
            <a:r>
              <a:rPr lang="en-US" dirty="0">
                <a:solidFill>
                  <a:schemeClr val="bg1"/>
                </a:solidFill>
              </a:rPr>
              <a:t>Temporal: seasonality, drought index, recent rainfall</a:t>
            </a:r>
          </a:p>
          <a:p>
            <a:r>
              <a:rPr lang="en-US" dirty="0">
                <a:solidFill>
                  <a:schemeClr val="bg1"/>
                </a:solidFill>
              </a:rPr>
              <a:t>Human: population density, power lines, past fire history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How geospatial + temporal data create a </a:t>
            </a:r>
            <a:r>
              <a:rPr lang="en-US" b="1" dirty="0">
                <a:solidFill>
                  <a:schemeClr val="bg1"/>
                </a:solidFill>
              </a:rPr>
              <a:t>feature cube</a:t>
            </a:r>
            <a:r>
              <a:rPr lang="en-US" dirty="0">
                <a:solidFill>
                  <a:schemeClr val="bg1"/>
                </a:solidFill>
              </a:rPr>
              <a:t> for each grid cell or image patch.</a:t>
            </a:r>
          </a:p>
          <a:p>
            <a:r>
              <a:rPr lang="en-US" dirty="0">
                <a:solidFill>
                  <a:schemeClr val="bg1"/>
                </a:solidFill>
              </a:rPr>
              <a:t>Stress data engineering complexity: reprojection, joining datasets, resampling time and space grids.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E2998C-9325-42A0-58DD-E03755613E4B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7A6DBD-E10B-03FE-E566-90416B5CCAC0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126427-0A2B-97C7-F97D-82B1940C60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79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98E3-FAE6-A400-4738-E9D36369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BE99F8E-9D14-0E87-039A-57FD16431B44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C419719-9005-C754-348B-937ED7D11AB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8A98013-F16B-1566-6341-7775F7C5B7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F850809-79C0-5707-C304-26FD7F608AC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60042D3-E1BE-D6A5-F3E2-543D24B8AB23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90C9B7E-8C90-F894-E4D5-BE1EF341A5A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5326085A-9416-20DE-3100-6AEF8A4F211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29E816-CC2E-D080-FE16-1AFCE00E9801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77F058-8154-ED31-8EE2-2D0B81D401F9}"/>
              </a:ext>
            </a:extLst>
          </p:cNvPr>
          <p:cNvSpPr txBox="1"/>
          <p:nvPr/>
        </p:nvSpPr>
        <p:spPr>
          <a:xfrm>
            <a:off x="3413152" y="962566"/>
            <a:ext cx="829238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Tabular Risk Models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Algorithms: Logistic Regression, Random Forest, </a:t>
            </a:r>
            <a:r>
              <a:rPr lang="en-US" dirty="0" err="1">
                <a:solidFill>
                  <a:schemeClr val="bg1"/>
                </a:solidFill>
              </a:rPr>
              <a:t>XGBoost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Task: Predict fire occurrence or risk score per grid cell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Image-based Detection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CNNs, Vision Transformers, YOLOv5 for smoke/flame detection</a:t>
            </a:r>
          </a:p>
          <a:p>
            <a:r>
              <a:rPr lang="en-US" dirty="0">
                <a:solidFill>
                  <a:schemeClr val="bg1"/>
                </a:solidFill>
              </a:rPr>
              <a:t>Task: Fire/no-fire classification on patches or frames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Spread Modeling + ML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Use physics-based models; ML for post-processing (e.g., </a:t>
            </a:r>
            <a:r>
              <a:rPr lang="en-US" dirty="0" err="1">
                <a:solidFill>
                  <a:schemeClr val="bg1"/>
                </a:solidFill>
              </a:rPr>
              <a:t>PostBP</a:t>
            </a:r>
            <a:r>
              <a:rPr lang="en-US" dirty="0">
                <a:solidFill>
                  <a:schemeClr val="bg1"/>
                </a:solidFill>
              </a:rPr>
              <a:t>)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Start with </a:t>
            </a:r>
            <a:r>
              <a:rPr lang="en-US" b="1" dirty="0">
                <a:solidFill>
                  <a:schemeClr val="bg1"/>
                </a:solidFill>
              </a:rPr>
              <a:t>simple models</a:t>
            </a:r>
            <a:r>
              <a:rPr lang="en-US" dirty="0">
                <a:solidFill>
                  <a:schemeClr val="bg1"/>
                </a:solidFill>
              </a:rPr>
              <a:t> (logistic regression, Random Forest) and only then move to deep learning.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For detection:</a:t>
            </a:r>
            <a:r>
              <a:rPr lang="en-US" dirty="0">
                <a:solidFill>
                  <a:schemeClr val="bg1"/>
                </a:solidFill>
              </a:rPr>
              <a:t> use labeled image datasets (Kaggle wildfire datasets, CWGID) are used with CNN-based architectures.</a:t>
            </a:r>
          </a:p>
          <a:p>
            <a:r>
              <a:rPr lang="en-US" b="1" dirty="0">
                <a:solidFill>
                  <a:schemeClr val="bg1"/>
                </a:solidFill>
              </a:rPr>
              <a:t>Trade-offs:</a:t>
            </a:r>
            <a:r>
              <a:rPr lang="en-US" dirty="0">
                <a:solidFill>
                  <a:schemeClr val="bg1"/>
                </a:solidFill>
              </a:rPr>
              <a:t> accuracy vs interpretability vs computational cost.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AA4F9C-1839-39D0-62CA-7DA40DD3AC41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4B9596-8783-3A0E-D95B-1FD23814F15B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4EB75B-6894-312D-9C7C-822D6024B7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33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BCC88-F880-9E35-1D6B-009C3F3D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E56D95F-FB51-B716-CEE0-AB2A280A0444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B98266B-C936-F28A-A543-CBD6044987C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586D2DB-D683-6B81-7444-10574BACEF2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B051D2C-9235-E51E-EFE0-B78B1DED213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721DA46-72AE-255B-3527-7BB9D3CF052F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2FE11AC-C075-5D97-4527-E20D1B457C1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CA2685D-2B75-E7F6-F6F9-6D36146C15E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1B2882-BB41-FC34-ADC7-48FE169BE197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1542209-1658-EFB7-7755-C587384D7107}"/>
              </a:ext>
            </a:extLst>
          </p:cNvPr>
          <p:cNvSpPr txBox="1"/>
          <p:nvPr/>
        </p:nvSpPr>
        <p:spPr>
          <a:xfrm>
            <a:off x="3413152" y="962566"/>
            <a:ext cx="829238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Evaluation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Metrics: ROC-AUC, Precision/Recall, F1, PR curves</a:t>
            </a:r>
          </a:p>
          <a:p>
            <a:r>
              <a:rPr lang="en-US" dirty="0">
                <a:solidFill>
                  <a:schemeClr val="bg1"/>
                </a:solidFill>
              </a:rPr>
              <a:t>Spatial &amp; temporal generalization: new years / regions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Explainability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Feature importance, permutation importance</a:t>
            </a:r>
          </a:p>
          <a:p>
            <a:r>
              <a:rPr lang="en-US" dirty="0">
                <a:solidFill>
                  <a:schemeClr val="bg1"/>
                </a:solidFill>
              </a:rPr>
              <a:t>SHAP values (risk drivers: wind, vegetation, drought)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Deployment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Batch risk maps (daily/weekly)</a:t>
            </a:r>
          </a:p>
          <a:p>
            <a:r>
              <a:rPr lang="en-US" dirty="0">
                <a:solidFill>
                  <a:schemeClr val="bg1"/>
                </a:solidFill>
              </a:rPr>
              <a:t>API to query risk for coordinates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Highlight the gap between “good offline metrics” and “useful in the field”; e.g., false positives vs false negatives.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Explain how SHAP helps communicate to non-technical stakeholders why certain areas are high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Briefly mention deployment pattern: scheduled pipeline generates maps → stored in object storage → consumed by dashboards/services.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8FB758-3D35-325C-652A-005FAF6D75CB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8C481A-98D3-DB58-3BF9-BB3E37F6F57A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B1FDD8-8226-F17F-DE91-DBB72566BB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5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9242-79A7-4801-86B6-37225A92F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8AD35E-C65E-0408-35B3-BE5B9F575950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89D833E-08B3-D4A7-1C61-61D26FACD3B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480EF00-9F76-ABE6-F21C-556663F247D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7A8B331-75E8-0EBF-7779-92B3F8DB017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27B41A0-7681-F95B-8BC3-DF84B5F0E6DA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0E49C16-4A47-8564-7B1A-47A9493F009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12CBB588-8857-7F26-1A97-C4D52CF9F5A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346E27-A248-F046-D7B7-7AF494F186D9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6721C64-16DF-81BE-2B76-8CB82C003190}"/>
              </a:ext>
            </a:extLst>
          </p:cNvPr>
          <p:cNvSpPr txBox="1"/>
          <p:nvPr/>
        </p:nvSpPr>
        <p:spPr>
          <a:xfrm>
            <a:off x="3425776" y="2201431"/>
            <a:ext cx="82923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Global burden of depression, PTSD, chronic stress</a:t>
            </a:r>
          </a:p>
          <a:p>
            <a:r>
              <a:rPr lang="en-US" dirty="0">
                <a:solidFill>
                  <a:schemeClr val="bg1"/>
                </a:solidFill>
              </a:rPr>
              <a:t>Traditional detection: surveys, clinical visits</a:t>
            </a:r>
          </a:p>
          <a:p>
            <a:r>
              <a:rPr lang="en-US" dirty="0">
                <a:solidFill>
                  <a:schemeClr val="bg1"/>
                </a:solidFill>
              </a:rPr>
              <a:t>New opportunity: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 passive sensing from phones/wearables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Predict symptom severity &amp; detect changes early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Introduce MIT/“Social Physics” work: using mobile and social sensing to predict mental health symptoms. </a:t>
            </a:r>
          </a:p>
          <a:p>
            <a:r>
              <a:rPr lang="en-US" dirty="0">
                <a:solidFill>
                  <a:schemeClr val="bg1"/>
                </a:solidFill>
              </a:rPr>
              <a:t>Clarify: goal is </a:t>
            </a:r>
            <a:r>
              <a:rPr lang="en-US" i="1" dirty="0">
                <a:solidFill>
                  <a:schemeClr val="bg1"/>
                </a:solidFill>
              </a:rPr>
              <a:t>not</a:t>
            </a:r>
            <a:r>
              <a:rPr lang="en-US" dirty="0">
                <a:solidFill>
                  <a:schemeClr val="bg1"/>
                </a:solidFill>
              </a:rPr>
              <a:t> to diagnose, but to support clinicians and individuals with </a:t>
            </a:r>
            <a:r>
              <a:rPr lang="en-US" i="1" dirty="0">
                <a:solidFill>
                  <a:schemeClr val="bg1"/>
                </a:solidFill>
              </a:rPr>
              <a:t>signals</a:t>
            </a:r>
            <a:r>
              <a:rPr lang="en-US" dirty="0">
                <a:solidFill>
                  <a:schemeClr val="bg1"/>
                </a:solidFill>
              </a:rPr>
              <a:t> and trends.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093264-6790-D23D-E6AA-F581567E1573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Mental Health via Mobile Sensing Section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150C17-7C82-1C00-2494-6353F415736C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1237CD-4D67-ED24-889A-7AB9F044B9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97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DB536-981A-C1B8-1B30-9F713F83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1B1285F-C40C-BF2B-0FA4-BAF13EB2C4B3}"/>
              </a:ext>
            </a:extLst>
          </p:cNvPr>
          <p:cNvGrpSpPr/>
          <p:nvPr/>
        </p:nvGrpSpPr>
        <p:grpSpPr>
          <a:xfrm>
            <a:off x="3" y="1"/>
            <a:ext cx="12191998" cy="7049728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DC7B5F2-39E3-2176-4FB8-76665226A6E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CEBFD6B-1EA1-29BF-BF1A-106767898AA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687311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D24A44E-FA73-89F0-CEB2-46FF4222103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3EA3142-0B6C-8703-B933-F602DDE5CDFE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E22D649-9DF2-4A37-7F6F-DEE485F0145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BF1E3FE-1289-FD5C-32DD-F84550FC34D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28D14C-1395-CF22-C036-463EE341B198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ED4457-9676-72BD-937B-F3237583128A}"/>
              </a:ext>
            </a:extLst>
          </p:cNvPr>
          <p:cNvSpPr txBox="1"/>
          <p:nvPr/>
        </p:nvSpPr>
        <p:spPr>
          <a:xfrm>
            <a:off x="3538654" y="1680359"/>
            <a:ext cx="829238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Data Types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Mobility: GPS location, distance traveled, time at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Communication: call/text durations (metadata only)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Sleep &amp; circadian rhythms (phone inactivity, wearables)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Social interaction: proximity, conversations (via “Reality” app/badges)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Phone usage: app usage patterns, screen time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Derived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Routine regularity / entropy of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Social isolation vs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Sleep regularity and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Weekend vs weekday behavior changes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3BEB57-447A-37F1-DDC2-2ACF532727E2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9985A2-EEBC-6A56-9E98-6DEE3FB64CCA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921A84-828D-2DAC-1617-AA4096A512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02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50E7-9D0D-5138-21F7-3F0CCB19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B0875B2-1492-6BCC-D68D-7C052C67258A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FAB6D10-4F58-ED6D-47FB-635F280FEB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85211B1-AB01-B188-724E-F9F1EC51C5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A0BC76F-47A3-A96A-3303-31026BDB513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02D14A7-A043-34DF-9610-215CC416B812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2EC3961-714C-E590-0610-82E921AB989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8385B823-06A3-5BFB-F94F-C1AEC16BD99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23CEF5-BFA9-E09A-1824-4316EF19CFDE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48A9471-B086-5063-E9F9-0CC0813FE437}"/>
              </a:ext>
            </a:extLst>
          </p:cNvPr>
          <p:cNvSpPr txBox="1"/>
          <p:nvPr/>
        </p:nvSpPr>
        <p:spPr>
          <a:xfrm>
            <a:off x="3425776" y="1551563"/>
            <a:ext cx="829238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Tasks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Regression: predict weekly scores (e.g., PHQ-9)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Classification: predict high-risk vs low-risk weeks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Models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Linear regression / Elastic Net (simple baselines)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Random Forest / Gradient Boosted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Sequence models (RNN/LSTM/Temporal CNN) for time series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Evaluation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MAE / RMSE for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ROC-AUC, F1 for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Per-person vs global 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25BA9-17ED-E526-DC50-98FAA86BA4C7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257071-1FCC-0A26-7D4F-8AF7A3E4B4A3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E94F17-FB73-59C1-48E3-DE6D331D87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00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B1083-D912-BBE8-BC64-729F3C537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3FC4EE6-9662-B52A-7D69-1B6CF3398F9A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3BC2ECA-407D-1F05-4BC3-6FD6A1F959A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DD565DA-4FA9-85C5-4F9F-DAFFEB4CE4B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C66AC62-4E32-2C4C-E5BF-1287856602C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045ABE2-7288-BD5F-9D08-19F26A5BEF31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9DC6367-16C2-62C2-1F25-1D1C5667428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924244E1-2B8E-20B0-831C-9CC66CEB35B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F51589-6C6D-3C00-B4B1-04BCB24C5304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76F5BF-60D9-A731-A7DD-FA2098C2097E}"/>
              </a:ext>
            </a:extLst>
          </p:cNvPr>
          <p:cNvSpPr txBox="1"/>
          <p:nvPr/>
        </p:nvSpPr>
        <p:spPr>
          <a:xfrm>
            <a:off x="3369971" y="2244060"/>
            <a:ext cx="829238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Real-time monitoring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Stream behavioral features daily/weekly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Trigger alerts when risk crosses 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Provide feedback dashboards for clinicians &amp; users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Integration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Embed in mobile apps for self-tracking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 as decision support, not replacement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F8F7F8-277D-E286-C925-9999896F65DF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59977D-39A5-70EA-3F60-564195143220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FABB2E-6733-BF0E-B52F-548F9B03CC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8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34AC6-76E6-E78F-2174-BE29FCDA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4BA9F66-61AD-60CA-DFD0-BDB9694D000B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B62CAD3-C84F-1E57-B5B7-B2D6DA5C5E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217694B-51F0-C675-964B-231CAC2FF00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B15047A0-FA11-B1F1-9263-C61A1CA9E67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A3F4944-A4DD-3DE6-2060-63EF373A16D2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C99BC08-62C5-CA40-14CD-36F1ECC4640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D4DFC4C7-3BFF-400A-EE97-59BB89B8E56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AD3BF6-2B4C-A0B1-CA04-7E40D0941542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B7705E-C5BB-2B51-BC2E-0CA557826284}"/>
              </a:ext>
            </a:extLst>
          </p:cNvPr>
          <p:cNvSpPr txBox="1"/>
          <p:nvPr/>
        </p:nvSpPr>
        <p:spPr>
          <a:xfrm>
            <a:off x="3425776" y="1881717"/>
            <a:ext cx="829238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Sensitive domains: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Health &amp; safety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Key principles: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Informed consent &amp; transparency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De-identification and secure storage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Minimal data collection (“data diet”)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Fairness &amp; bias checks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Human-in-the-loop decisions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19096E-47C1-2526-5DE5-6A21F0E44BEC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CCF10F-0F93-11C8-4DD3-7DAD0C9CAA41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516C0E-0FA6-3678-122C-65FF967BDD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38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365C-F38D-A614-4040-0D1CA5CA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572D763-F813-13DE-469C-52C0C61BB598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2BC579D-4A9F-F7DB-688F-F6721349C0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EF7FAE2-F177-8854-6A8F-F363856405E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5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96209A4-514E-1704-223B-2D3647E563B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6CAD5FB-00D0-1064-DB59-73A583D8D777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A0498FE-FAF5-DD87-B8FC-E475B56C622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96E7DDDA-F5CC-5F08-AC9D-0E88B43EC50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345793-2D56-132E-EA57-4E319136CD61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6A8757-7C75-2555-0BA0-8D6F99F98044}"/>
              </a:ext>
            </a:extLst>
          </p:cNvPr>
          <p:cNvSpPr txBox="1"/>
          <p:nvPr/>
        </p:nvSpPr>
        <p:spPr>
          <a:xfrm>
            <a:off x="3425776" y="2505668"/>
            <a:ext cx="829238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Practical Patterns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Start with the problem, not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Make data pipelines a first-class citizen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Always build a simple baseline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Optimize for </a:t>
            </a:r>
            <a:r>
              <a:rPr lang="en-US" i="1" dirty="0">
                <a:solidFill>
                  <a:schemeClr val="bg1"/>
                </a:solidFill>
              </a:rPr>
              <a:t>interpretable</a:t>
            </a:r>
            <a:r>
              <a:rPr lang="en-US" dirty="0">
                <a:solidFill>
                  <a:schemeClr val="bg1"/>
                </a:solidFill>
              </a:rPr>
              <a:t> insights where stakes are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Think deployment &amp; feedback loops from Day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3B751D-7861-397C-79CE-2BAC2058DEC9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4997B7-99D4-A4B3-54E2-C1A33FD3743F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41FDF0-34A9-6A1D-ADA4-F88CA74D09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47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41E44-86AB-8337-D7AF-A3F52E55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0B474B8-56D7-41D3-D710-D914EC6EFCFF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CEEAB86-E7A6-551D-AF1E-6212A6EB8D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074DC27-D7AC-5159-FC7F-558988B57DA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45805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83C2828-F699-DC76-1684-E277D9E0055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5AF2486-6D9C-301E-81E7-6A3B4970459E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8CA2891-B71E-02AD-4E5B-D67185A5120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6BEFE1B-E02A-752B-1915-F70FB030594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059C42-5975-0CF2-7832-166190C79968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F17973-8A05-6B71-ADE1-741BE30BF434}"/>
              </a:ext>
            </a:extLst>
          </p:cNvPr>
          <p:cNvSpPr txBox="1"/>
          <p:nvPr/>
        </p:nvSpPr>
        <p:spPr>
          <a:xfrm>
            <a:off x="3413152" y="962566"/>
            <a:ext cx="829238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End-to-End Flow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Problem &amp; success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discovery &amp;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Ingestion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Modeling &amp;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Explainability &amp; validation with domain experts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Deployment (batch/API/stream)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Monitoring &amp; retraining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3ABC2E-4820-E1C3-70A3-1AC20FBD6C21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FBF32E-DF47-422E-6FA9-67E3B795F16D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5B55F6-E7C7-E3EC-BB59-2DE8B9FC3C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15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AD84-19B8-E4B8-9C51-344D8531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19FE885-6092-1DB1-0923-3A70B2C083E6}"/>
              </a:ext>
            </a:extLst>
          </p:cNvPr>
          <p:cNvGrpSpPr/>
          <p:nvPr/>
        </p:nvGrpSpPr>
        <p:grpSpPr>
          <a:xfrm>
            <a:off x="3" y="1"/>
            <a:ext cx="12191998" cy="6857995"/>
            <a:chOff x="0" y="0"/>
            <a:chExt cx="12191999" cy="6857995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9C624E7-DD38-0575-FEA8-5DD32196436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253A5A3-366A-011C-50B7-23E07679BB8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45805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F466237-DACB-5D7C-8B4D-F3BAD2CF084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DA6F0E9-B574-7391-AA3A-E772C9FEF4BA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12DA7C3-4DB6-CEE9-9AF3-CAF80D4B177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82F97AD-3216-EED4-790F-5ADB64377AC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B25017-20C2-1A46-B5E2-338913CF5A20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F6AB51-B8A9-AC89-16BA-E5E572776B67}"/>
              </a:ext>
            </a:extLst>
          </p:cNvPr>
          <p:cNvSpPr txBox="1"/>
          <p:nvPr/>
        </p:nvSpPr>
        <p:spPr>
          <a:xfrm>
            <a:off x="3413152" y="962566"/>
            <a:ext cx="82923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Real-world data is messy but powerful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AI/ML can: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Help predict and mitigate wildfires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Support early detection of mental health risks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Success depends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Good problem framing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Strong data &amp; feature pipelines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Responsible, interpretable models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You can reuse these patterns in your own projects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564D58-D2BF-76C8-7023-B16419E9176E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720151-37B6-0744-2C11-F4F5F2348356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63933B-7F86-3212-6879-31ACEB69F4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64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9872-5A16-D648-2F11-B4EF6EC1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6E9D4EB-DBA8-6F97-9DFD-2B5296D417C5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BB571D3-F54F-6E98-88B3-29281C8728A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D9AA2B0-87CC-8AC6-8E88-236CF450D37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D44367A-E837-BCD5-5BA6-A2C9AD52A4E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1DCDFE4-4366-058C-A76C-8C129684766C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823517DB-DA00-86C1-306B-A1E83D05AC4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5C22A7E-BF22-84C5-C0F9-8B848E4E09F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2FDD0E-5F26-C899-3B2C-57906DF73F12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BA5D9CF-F227-1BCF-4CEA-8492415F8D43}"/>
              </a:ext>
            </a:extLst>
          </p:cNvPr>
          <p:cNvSpPr txBox="1"/>
          <p:nvPr/>
        </p:nvSpPr>
        <p:spPr>
          <a:xfrm>
            <a:off x="4265024" y="353739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1C2B9A-CCC4-AA01-43CD-FB3D922D4A8A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8A6805-B2AE-F06B-15BF-70F49D0FFA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32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DC09-4213-0820-A10A-695F23EE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3425436-29E6-A325-72BD-44679540E739}"/>
              </a:ext>
            </a:extLst>
          </p:cNvPr>
          <p:cNvGrpSpPr/>
          <p:nvPr/>
        </p:nvGrpSpPr>
        <p:grpSpPr>
          <a:xfrm>
            <a:off x="3" y="1"/>
            <a:ext cx="12191998" cy="6857999"/>
            <a:chOff x="0" y="0"/>
            <a:chExt cx="12191999" cy="6857999"/>
          </a:xfrm>
          <a:noFill/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C247365-DD56-EF7D-C77E-3F23B27BBA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190"/>
              <a:ext cx="12191999" cy="6845805"/>
            </a:xfrm>
            <a:prstGeom prst="rect">
              <a:avLst/>
            </a:prstGeom>
            <a:grpFill/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362BDC6-8443-1EAC-D2F9-746847512C7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581" cy="6857999"/>
            </a:xfrm>
            <a:prstGeom prst="rect">
              <a:avLst/>
            </a:prstGeom>
            <a:grpFill/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44C4BFA-5438-5659-C639-2560F6C6D2C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268" y="369635"/>
              <a:ext cx="576098" cy="807391"/>
            </a:xfrm>
            <a:prstGeom prst="rect">
              <a:avLst/>
            </a:prstGeom>
            <a:grpFill/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6861453-25CD-172D-010C-0FD298A74107}"/>
                </a:ext>
              </a:extLst>
            </p:cNvPr>
            <p:cNvSpPr/>
            <p:nvPr/>
          </p:nvSpPr>
          <p:spPr>
            <a:xfrm>
              <a:off x="6514915" y="638080"/>
              <a:ext cx="7620" cy="648970"/>
            </a:xfrm>
            <a:custGeom>
              <a:avLst/>
              <a:gdLst/>
              <a:ahLst/>
              <a:cxnLst/>
              <a:rect l="l" t="t" r="r" b="b"/>
              <a:pathLst>
                <a:path w="7620" h="648969">
                  <a:moveTo>
                    <a:pt x="7622" y="0"/>
                  </a:moveTo>
                  <a:lnTo>
                    <a:pt x="0" y="0"/>
                  </a:lnTo>
                  <a:lnTo>
                    <a:pt x="0" y="648690"/>
                  </a:lnTo>
                  <a:lnTo>
                    <a:pt x="7622" y="648690"/>
                  </a:lnTo>
                  <a:lnTo>
                    <a:pt x="762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E4D85FD-3A0B-6BF3-49F3-2E96A7DA1A2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495" y="565974"/>
              <a:ext cx="1051269" cy="579549"/>
            </a:xfrm>
            <a:prstGeom prst="rect">
              <a:avLst/>
            </a:prstGeom>
            <a:grpFill/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04389FF-F317-AA10-4421-B37330D369C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4840" y="566670"/>
              <a:ext cx="1069790" cy="579550"/>
            </a:xfrm>
            <a:prstGeom prst="rect">
              <a:avLst/>
            </a:prstGeom>
            <a:grpFill/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6E5285-C32A-CFEB-3C1E-74C9451B9BF6}"/>
              </a:ext>
            </a:extLst>
          </p:cNvPr>
          <p:cNvCxnSpPr>
            <a:cxnSpLocks/>
          </p:cNvCxnSpPr>
          <p:nvPr/>
        </p:nvCxnSpPr>
        <p:spPr>
          <a:xfrm>
            <a:off x="2164260" y="578820"/>
            <a:ext cx="0" cy="61498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D25EF07-B6DC-6393-34BB-226AA9F31CCA}"/>
              </a:ext>
            </a:extLst>
          </p:cNvPr>
          <p:cNvSpPr txBox="1"/>
          <p:nvPr/>
        </p:nvSpPr>
        <p:spPr>
          <a:xfrm>
            <a:off x="3369971" y="781656"/>
            <a:ext cx="82923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Real-World Data of California Wildfires and Mental Health data of Patients from all over the USA</a:t>
            </a:r>
          </a:p>
          <a:p>
            <a:pPr algn="ctr">
              <a:spcAft>
                <a:spcPts val="600"/>
              </a:spcAft>
            </a:pP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9A12F4-7A88-9F9A-95B2-0F97C85B75A2}"/>
              </a:ext>
            </a:extLst>
          </p:cNvPr>
          <p:cNvSpPr txBox="1"/>
          <p:nvPr/>
        </p:nvSpPr>
        <p:spPr>
          <a:xfrm>
            <a:off x="4265024" y="680925"/>
            <a:ext cx="7124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AI in Action: Bridging Theory and Practice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9CD7AA-0291-AA80-A355-5AF6437500DD}"/>
              </a:ext>
            </a:extLst>
          </p:cNvPr>
          <p:cNvSpPr txBox="1"/>
          <p:nvPr/>
        </p:nvSpPr>
        <p:spPr>
          <a:xfrm>
            <a:off x="55808" y="4334320"/>
            <a:ext cx="331416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u="sng" dirty="0">
                <a:solidFill>
                  <a:schemeClr val="bg1"/>
                </a:solidFill>
              </a:rPr>
              <a:t>About the Speaker</a:t>
            </a:r>
            <a:endParaRPr lang="en-GB" sz="1100" u="sng" dirty="0">
              <a:solidFill>
                <a:schemeClr val="bg1"/>
              </a:solidFill>
            </a:endParaRPr>
          </a:p>
          <a:p>
            <a:pPr algn="just"/>
            <a:r>
              <a:rPr lang="en-GB" sz="1100" dirty="0">
                <a:solidFill>
                  <a:srgbClr val="FFC000"/>
                </a:solidFill>
              </a:rPr>
              <a:t>Mr. Rahul Vats is a technology leader with over 17 years of experience delivering AI, Cloud, and Data Science solutions for Fortune 500 clients. Currently a Lead Cloud and Data Science Manager at Ernst &amp; Young, he specializes in AI, ML, RAG, computer vision, and automation. His prior roles at Microsoft and </a:t>
            </a:r>
            <a:r>
              <a:rPr lang="en-GB" sz="1100" dirty="0" err="1">
                <a:solidFill>
                  <a:srgbClr val="FFC000"/>
                </a:solidFill>
              </a:rPr>
              <a:t>AppGate</a:t>
            </a:r>
            <a:r>
              <a:rPr lang="en-GB" sz="1100" dirty="0">
                <a:solidFill>
                  <a:srgbClr val="FFC000"/>
                </a:solidFill>
              </a:rPr>
              <a:t> involved solving critical enterprise challenges, leading global engineering teams, and driving large-scale cloud transformation. He holds a Master’s degree in Computer Science and a certificate in Big Data and Social Analytics from MIT.</a:t>
            </a:r>
            <a:endParaRPr lang="en-GB" sz="12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1298AB-A404-E52E-4373-7A9859C23D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62" y="1377092"/>
            <a:ext cx="2861695" cy="2850938"/>
          </a:xfrm>
          <a:prstGeom prst="rect">
            <a:avLst/>
          </a:prstGeom>
        </p:spPr>
      </p:pic>
      <p:pic>
        <p:nvPicPr>
          <p:cNvPr id="22" name="Picture 21" descr="Question and Answers">
            <a:extLst>
              <a:ext uri="{FF2B5EF4-FFF2-40B4-BE49-F238E27FC236}">
                <a16:creationId xmlns:a16="http://schemas.microsoft.com/office/drawing/2014/main" id="{55B2AC2C-CF84-3E1D-5D81-57C3A0495A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010110" y="3902846"/>
            <a:ext cx="2800598" cy="25467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1C545BF-71F4-AE3B-65A9-9E00A40DCAB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3252806" y="1575815"/>
            <a:ext cx="2460992" cy="246099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B29FFD-5A3F-24B4-2FC3-B28AA39D56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5787455" y="1528149"/>
            <a:ext cx="2858296" cy="501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</TotalTime>
  <Words>19237</Words>
  <Application>Microsoft Office PowerPoint</Application>
  <PresentationFormat>Widescreen</PresentationFormat>
  <Paragraphs>2342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Prasad, Amrita</dc:creator>
  <cp:lastModifiedBy>RAVE Management</cp:lastModifiedBy>
  <cp:revision>9</cp:revision>
  <dcterms:created xsi:type="dcterms:W3CDTF">2024-10-21T18:39:22Z</dcterms:created>
  <dcterms:modified xsi:type="dcterms:W3CDTF">2025-12-05T09:33:49Z</dcterms:modified>
</cp:coreProperties>
</file>