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2722E-0D19-4997-AADE-EEDB13BB53B8}" v="21" dt="2025-12-03T10:55:2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8" y="312"/>
      </p:cViewPr>
      <p:guideLst/>
    </p:cSldViewPr>
  </p:slideViewPr>
  <p:notesTextViewPr>
    <p:cViewPr>
      <p:scale>
        <a:sx n="1" d="1"/>
        <a:sy n="1" d="1"/>
      </p:scale>
      <p:origin x="0" y="-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ad, Amrita" userId="3e44ea28-c1bf-4e05-9792-b9013f630cc0" providerId="ADAL" clId="{8F07ED04-B9A2-4C0D-9575-B8E0488EB9DD}"/>
    <pc:docChg chg="undo custSel modSld">
      <pc:chgData name="Prasad, Amrita" userId="3e44ea28-c1bf-4e05-9792-b9013f630cc0" providerId="ADAL" clId="{8F07ED04-B9A2-4C0D-9575-B8E0488EB9DD}" dt="2025-03-26T23:32:32.305" v="11" actId="22"/>
      <pc:docMkLst>
        <pc:docMk/>
      </pc:docMkLst>
      <pc:sldChg chg="addSp delSp modSp mod">
        <pc:chgData name="Prasad, Amrita" userId="3e44ea28-c1bf-4e05-9792-b9013f630cc0" providerId="ADAL" clId="{8F07ED04-B9A2-4C0D-9575-B8E0488EB9DD}" dt="2025-03-26T23:32:32.305" v="11" actId="22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D5FCD9AB-9B08-41F7-898D-21ABAB897DD1}"/>
    <pc:docChg chg="undo custSel modSld">
      <pc:chgData name="Prasad, Amrita" userId="3e44ea28-c1bf-4e05-9792-b9013f630cc0" providerId="ADAL" clId="{D5FCD9AB-9B08-41F7-898D-21ABAB897DD1}" dt="2025-12-03T10:56:20.285" v="223" actId="13926"/>
      <pc:docMkLst>
        <pc:docMk/>
      </pc:docMkLst>
      <pc:sldChg chg="addSp delSp modSp mod">
        <pc:chgData name="Prasad, Amrita" userId="3e44ea28-c1bf-4e05-9792-b9013f630cc0" providerId="ADAL" clId="{D5FCD9AB-9B08-41F7-898D-21ABAB897DD1}" dt="2025-12-03T10:56:20.285" v="223" actId="13926"/>
        <pc:sldMkLst>
          <pc:docMk/>
          <pc:sldMk cId="2199062608" sldId="257"/>
        </pc:sldMkLst>
        <pc:spChg chg="mod">
          <ac:chgData name="Prasad, Amrita" userId="3e44ea28-c1bf-4e05-9792-b9013f630cc0" providerId="ADAL" clId="{D5FCD9AB-9B08-41F7-898D-21ABAB897DD1}" dt="2025-12-03T10:56:20.285" v="223" actId="13926"/>
          <ac:spMkLst>
            <pc:docMk/>
            <pc:sldMk cId="2199062608" sldId="257"/>
            <ac:spMk id="10" creationId="{FB58399B-CAAB-4C32-FB47-3F78610224D6}"/>
          </ac:spMkLst>
        </pc:spChg>
        <pc:spChg chg="mod">
          <ac:chgData name="Prasad, Amrita" userId="3e44ea28-c1bf-4e05-9792-b9013f630cc0" providerId="ADAL" clId="{D5FCD9AB-9B08-41F7-898D-21ABAB897DD1}" dt="2025-12-03T10:48:37.205" v="27" actId="14100"/>
          <ac:spMkLst>
            <pc:docMk/>
            <pc:sldMk cId="2199062608" sldId="257"/>
            <ac:spMk id="23" creationId="{9B944D5C-A83B-C3A3-969F-46D6932BF8F4}"/>
          </ac:spMkLst>
        </pc:spChg>
        <pc:picChg chg="add mod">
          <ac:chgData name="Prasad, Amrita" userId="3e44ea28-c1bf-4e05-9792-b9013f630cc0" providerId="ADAL" clId="{D5FCD9AB-9B08-41F7-898D-21ABAB897DD1}" dt="2025-12-03T10:48:33.621" v="26" actId="1076"/>
          <ac:picMkLst>
            <pc:docMk/>
            <pc:sldMk cId="2199062608" sldId="257"/>
            <ac:picMk id="11" creationId="{05CBA955-376B-27DF-C044-7E1EA9F9B313}"/>
          </ac:picMkLst>
        </pc:picChg>
        <pc:picChg chg="del">
          <ac:chgData name="Prasad, Amrita" userId="3e44ea28-c1bf-4e05-9792-b9013f630cc0" providerId="ADAL" clId="{D5FCD9AB-9B08-41F7-898D-21ABAB897DD1}" dt="2025-12-03T10:45:16.405" v="0" actId="478"/>
          <ac:picMkLst>
            <pc:docMk/>
            <pc:sldMk cId="2199062608" sldId="257"/>
            <ac:picMk id="12" creationId="{C2E6BD7A-D3AF-201C-AF2E-CF59A75897E9}"/>
          </ac:picMkLst>
        </pc:picChg>
      </pc:sldChg>
    </pc:docChg>
  </pc:docChgLst>
  <pc:docChgLst>
    <pc:chgData name="Prasad, Amrita" userId="3e44ea28-c1bf-4e05-9792-b9013f630cc0" providerId="ADAL" clId="{1E4C6211-D813-4132-9FEB-2D33798058B7}"/>
    <pc:docChg chg="undo redo custSel modSld">
      <pc:chgData name="Prasad, Amrita" userId="3e44ea28-c1bf-4e05-9792-b9013f630cc0" providerId="ADAL" clId="{1E4C6211-D813-4132-9FEB-2D33798058B7}" dt="2025-03-30T21:49:41.221" v="44" actId="113"/>
      <pc:docMkLst>
        <pc:docMk/>
      </pc:docMkLst>
      <pc:sldChg chg="modSp mod">
        <pc:chgData name="Prasad, Amrita" userId="3e44ea28-c1bf-4e05-9792-b9013f630cc0" providerId="ADAL" clId="{1E4C6211-D813-4132-9FEB-2D33798058B7}" dt="2025-03-30T21:49:41.221" v="44" actId="113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A4D3389C-73B7-473A-A4AF-48D4FF9AB1F6}"/>
    <pc:docChg chg="undo redo custSel modSld">
      <pc:chgData name="Prasad, Amrita" userId="3e44ea28-c1bf-4e05-9792-b9013f630cc0" providerId="ADAL" clId="{A4D3389C-73B7-473A-A4AF-48D4FF9AB1F6}" dt="2025-03-26T23:46:04.544" v="203" actId="20577"/>
      <pc:docMkLst>
        <pc:docMk/>
      </pc:docMkLst>
      <pc:sldChg chg="addSp delSp modSp mod">
        <pc:chgData name="Prasad, Amrita" userId="3e44ea28-c1bf-4e05-9792-b9013f630cc0" providerId="ADAL" clId="{A4D3389C-73B7-473A-A4AF-48D4FF9AB1F6}" dt="2025-03-26T23:46:04.544" v="203" actId="20577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496505A6-6C19-4AAB-A6D9-0D8B931885F9}"/>
    <pc:docChg chg="undo redo custSel delSld modSld modMainMaster">
      <pc:chgData name="Prasad, Amrita" userId="3e44ea28-c1bf-4e05-9792-b9013f630cc0" providerId="ADAL" clId="{496505A6-6C19-4AAB-A6D9-0D8B931885F9}" dt="2024-11-20T23:01:55.392" v="844" actId="20577"/>
      <pc:docMkLst>
        <pc:docMk/>
      </pc:docMkLst>
      <pc:sldChg chg="del">
        <pc:chgData name="Prasad, Amrita" userId="3e44ea28-c1bf-4e05-9792-b9013f630cc0" providerId="ADAL" clId="{496505A6-6C19-4AAB-A6D9-0D8B931885F9}" dt="2024-11-20T19:45:03.367" v="0" actId="2696"/>
        <pc:sldMkLst>
          <pc:docMk/>
          <pc:sldMk cId="3530408724" sldId="256"/>
        </pc:sldMkLst>
      </pc:sldChg>
      <pc:sldChg chg="addSp delSp modSp mod">
        <pc:chgData name="Prasad, Amrita" userId="3e44ea28-c1bf-4e05-9792-b9013f630cc0" providerId="ADAL" clId="{496505A6-6C19-4AAB-A6D9-0D8B931885F9}" dt="2024-11-20T23:01:55.392" v="844" actId="20577"/>
        <pc:sldMkLst>
          <pc:docMk/>
          <pc:sldMk cId="2199062608" sldId="257"/>
        </pc:sldMkLst>
      </pc:sldChg>
      <pc:sldMasterChg chg="modSp modSldLayout">
        <pc:chgData name="Prasad, Amrita" userId="3e44ea28-c1bf-4e05-9792-b9013f630cc0" providerId="ADAL" clId="{496505A6-6C19-4AAB-A6D9-0D8B931885F9}" dt="2024-11-20T21:22:23.099" v="8"/>
        <pc:sldMasterMkLst>
          <pc:docMk/>
          <pc:sldMasterMk cId="691473177" sldId="2147483648"/>
        </pc:sldMasterMkLst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3932702364" sldId="2147483649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925652484" sldId="2147483651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528364158" sldId="2147483652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967235637" sldId="2147483653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203476192" sldId="2147483656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028655872" sldId="2147483657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417502509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3A7824-D43C-4DBF-990F-734BD913A73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C1EA71-4C59-48E2-8E91-0AC78D4B4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686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579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E42D-4EF6-6CC4-B671-BBBAE9F4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7C6497-1C1B-210A-F77B-E8732DEF0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48C18-DD2E-6305-5567-4AC45BCD6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EE58-E1A7-DC94-D0FA-A14D45C19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29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1B835-935B-796E-00E4-CB1EA072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C4FAA-50A9-DCE3-FA44-A2B6C85F3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59E68-3E3E-51B6-DE8E-6F1349A7C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082B-617E-C4E9-2548-5B16FBC04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28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15BF-9A09-D86B-7358-5267EA1A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CF7DB-8497-CC8E-1D0A-35C0026DD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901AA-0195-72D5-A72F-6F04218A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7BFD-DBFB-6F5B-8343-0AB3677CE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38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F35B9-D918-03BA-D021-B27945521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9D042D-1393-8B15-E1D8-F3581EB70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F88BB1-C151-2AC2-BF05-A8319F0D9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EFBB-39A2-7D33-AE62-F091A402A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4188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7F79-3446-4A08-DFE2-DDF252F02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80F53-F387-142D-BCB8-6AABBA2A3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5CC94-90DB-1BE4-B3FA-952BFA37B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68057-8967-6E31-CB8C-64A6EE469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293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4C167-C2FC-9517-3717-783EC947D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6C497-E915-7E09-7DCC-70B0B16A7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B671B-A5F4-FBAD-086F-50B869FA4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4F01E-6D03-2497-9A96-078D7B1B3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720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BA82F-0468-189A-CA36-95179CDF4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F7621-C4EF-2816-2A42-D037BE040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43806-CF14-D8FF-AA64-0B689F110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5 – Use Cases Overview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Use Case 1 – Wildfires</a:t>
            </a:r>
            <a:endParaRPr lang="en-US" dirty="0"/>
          </a:p>
          <a:p>
            <a:r>
              <a:rPr lang="en-US" dirty="0"/>
              <a:t>Detect fires &amp; map risk</a:t>
            </a:r>
          </a:p>
          <a:p>
            <a:r>
              <a:rPr lang="en-US" dirty="0"/>
              <a:t>Predict spread &amp; intensity</a:t>
            </a:r>
          </a:p>
          <a:p>
            <a:r>
              <a:rPr lang="en-US" b="1" dirty="0"/>
              <a:t>Use Case 2 – Mental Health via Mobile Sensing</a:t>
            </a:r>
            <a:endParaRPr lang="en-US" dirty="0"/>
          </a:p>
          <a:p>
            <a:r>
              <a:rPr lang="en-US" dirty="0"/>
              <a:t>Predict depression/PTSD symptom severity</a:t>
            </a:r>
          </a:p>
          <a:p>
            <a:r>
              <a:rPr lang="en-US" dirty="0"/>
              <a:t>Monitor behavior changes over time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both were chosen:</a:t>
            </a:r>
          </a:p>
          <a:p>
            <a:pPr lvl="1"/>
            <a:r>
              <a:rPr lang="en-US" dirty="0"/>
              <a:t>Wildfires: tangible physical risk, climate, public safety. </a:t>
            </a:r>
          </a:p>
          <a:p>
            <a:pPr lvl="1"/>
            <a:r>
              <a:rPr lang="en-US" dirty="0"/>
              <a:t>Mental health: growing global burden, hard to detect early, mobile devices as scalable sensors. </a:t>
            </a:r>
          </a:p>
          <a:p>
            <a:r>
              <a:rPr lang="en-US" dirty="0"/>
              <a:t>Highlight: both use </a:t>
            </a:r>
            <a:r>
              <a:rPr lang="en-US" b="1" dirty="0"/>
              <a:t>large-scale, real-world data</a:t>
            </a:r>
            <a:r>
              <a:rPr lang="en-US" dirty="0"/>
              <a:t> and </a:t>
            </a:r>
            <a:r>
              <a:rPr lang="en-US" b="1" dirty="0"/>
              <a:t>ML models</a:t>
            </a:r>
            <a:r>
              <a:rPr lang="en-US" dirty="0"/>
              <a:t> to find patterns humans can’t see easily.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02_problem_definitions.md (or a markdown within repo)</a:t>
            </a:r>
          </a:p>
          <a:p>
            <a:pPr lvl="1"/>
            <a:r>
              <a:rPr lang="en-US" dirty="0"/>
              <a:t>Clear formulation: classification, regression, forecasting tasks for each use case</a:t>
            </a:r>
          </a:p>
          <a:p>
            <a:pPr lvl="1"/>
            <a:r>
              <a:rPr lang="en-US" dirty="0"/>
              <a:t>Definitions of targets/labels and evaluation metrics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Wildfires Section</a:t>
            </a:r>
          </a:p>
          <a:p>
            <a:r>
              <a:rPr lang="en-US" b="1" dirty="0"/>
              <a:t>Slide 6 – Wildfires: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Key questions:</a:t>
            </a:r>
          </a:p>
          <a:p>
            <a:pPr lvl="1"/>
            <a:r>
              <a:rPr lang="en-US" dirty="0"/>
              <a:t>Where are fires likely to start?</a:t>
            </a:r>
          </a:p>
          <a:p>
            <a:pPr lvl="1"/>
            <a:r>
              <a:rPr lang="en-US" dirty="0"/>
              <a:t>How fast and where will they spread?</a:t>
            </a:r>
          </a:p>
          <a:p>
            <a:pPr lvl="1"/>
            <a:r>
              <a:rPr lang="en-US" dirty="0"/>
              <a:t>Which areas are high risk?</a:t>
            </a:r>
          </a:p>
          <a:p>
            <a:r>
              <a:rPr lang="en-US" dirty="0"/>
              <a:t>AI helps with:</a:t>
            </a:r>
          </a:p>
          <a:p>
            <a:pPr lvl="1"/>
            <a:r>
              <a:rPr lang="en-US" dirty="0"/>
              <a:t>Detection</a:t>
            </a:r>
          </a:p>
          <a:p>
            <a:pPr lvl="1"/>
            <a:r>
              <a:rPr lang="en-US" dirty="0"/>
              <a:t>Spread prediction</a:t>
            </a:r>
          </a:p>
          <a:p>
            <a:pPr lvl="1"/>
            <a:r>
              <a:rPr lang="en-US" dirty="0"/>
              <a:t>Risk/susceptibility mapping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Describe a real scenario: policymakers, firefighters, insurance companies all need </a:t>
            </a:r>
            <a:r>
              <a:rPr lang="en-US" i="1" dirty="0"/>
              <a:t>probabilistic</a:t>
            </a:r>
            <a:r>
              <a:rPr lang="en-US" dirty="0"/>
              <a:t> insights.</a:t>
            </a:r>
          </a:p>
          <a:p>
            <a:r>
              <a:rPr lang="en-US" dirty="0"/>
              <a:t>Clarify problem types:</a:t>
            </a:r>
          </a:p>
          <a:p>
            <a:pPr lvl="1"/>
            <a:r>
              <a:rPr lang="en-US" b="1" dirty="0"/>
              <a:t>Detection:</a:t>
            </a:r>
            <a:r>
              <a:rPr lang="en-US" dirty="0"/>
              <a:t> image-based classification (smoke/flame vs no fire).</a:t>
            </a:r>
          </a:p>
          <a:p>
            <a:pPr lvl="1"/>
            <a:r>
              <a:rPr lang="en-US" b="1" dirty="0"/>
              <a:t>Risk mapping:</a:t>
            </a:r>
            <a:r>
              <a:rPr lang="en-US" dirty="0"/>
              <a:t> supervised learning on grids/pixels with features (weather, vegetation, topography).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10_wildfire_problem_setup.ipynb</a:t>
            </a:r>
          </a:p>
          <a:p>
            <a:pPr lvl="1"/>
            <a:r>
              <a:rPr lang="en-US" dirty="0"/>
              <a:t>Define label columns: </a:t>
            </a:r>
            <a:r>
              <a:rPr lang="en-US" dirty="0" err="1"/>
              <a:t>fire_occurred</a:t>
            </a:r>
            <a:r>
              <a:rPr lang="en-US" dirty="0"/>
              <a:t>, </a:t>
            </a:r>
            <a:r>
              <a:rPr lang="en-US" dirty="0" err="1"/>
              <a:t>burned_area</a:t>
            </a:r>
            <a:r>
              <a:rPr lang="en-US" dirty="0"/>
              <a:t>, </a:t>
            </a:r>
            <a:r>
              <a:rPr lang="en-US" dirty="0" err="1"/>
              <a:t>risk_score</a:t>
            </a:r>
            <a:endParaRPr lang="en-US" dirty="0"/>
          </a:p>
          <a:p>
            <a:pPr lvl="1"/>
            <a:r>
              <a:rPr lang="en-US" dirty="0"/>
              <a:t>Encode problem types: binary classification, regression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7 – Wildfire Data Sources &amp;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Sources (examples)</a:t>
            </a:r>
            <a:r>
              <a:rPr lang="en-US" dirty="0"/>
              <a:t> </a:t>
            </a:r>
          </a:p>
          <a:p>
            <a:r>
              <a:rPr lang="en-US" dirty="0"/>
              <a:t>USGS Combined Wildland Fire Dataset (fire perimeters)</a:t>
            </a:r>
          </a:p>
          <a:p>
            <a:r>
              <a:rPr lang="en-US" dirty="0"/>
              <a:t>NASA FIRMS (VIIRS/MODIS active fire points)</a:t>
            </a:r>
          </a:p>
          <a:p>
            <a:r>
              <a:rPr lang="en-US" dirty="0"/>
              <a:t>Weather data (temperature, wind, humidity)</a:t>
            </a:r>
          </a:p>
          <a:p>
            <a:r>
              <a:rPr lang="en-US" dirty="0"/>
              <a:t>Land cover &amp; terrain (slope, aspect, vegetation)</a:t>
            </a:r>
          </a:p>
          <a:p>
            <a:r>
              <a:rPr lang="en-US" dirty="0"/>
              <a:t>Kaggle / satellite image datasets for fire/smoke detection</a:t>
            </a:r>
          </a:p>
          <a:p>
            <a:r>
              <a:rPr lang="en-US" b="1" dirty="0"/>
              <a:t>Key Feature Types</a:t>
            </a:r>
            <a:endParaRPr lang="en-US" dirty="0"/>
          </a:p>
          <a:p>
            <a:r>
              <a:rPr lang="en-US" dirty="0"/>
              <a:t>Spatial: elevation, slope, distance to roads</a:t>
            </a:r>
          </a:p>
          <a:p>
            <a:r>
              <a:rPr lang="en-US" dirty="0"/>
              <a:t>Temporal: seasonality, drought index, recent rainfall</a:t>
            </a:r>
          </a:p>
          <a:p>
            <a:r>
              <a:rPr lang="en-US" dirty="0"/>
              <a:t>Human: population density, power lines, past fire history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how geospatial + temporal data create a </a:t>
            </a:r>
            <a:r>
              <a:rPr lang="en-US" b="1" dirty="0"/>
              <a:t>feature cube</a:t>
            </a:r>
            <a:r>
              <a:rPr lang="en-US" dirty="0"/>
              <a:t> for each grid cell or image patch.</a:t>
            </a:r>
          </a:p>
          <a:p>
            <a:r>
              <a:rPr lang="en-US" dirty="0"/>
              <a:t>Stress data engineering complexity: reprojection, joining datasets, resampling time and space grids.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11_wildfire_data_ingestion.ipynb</a:t>
            </a:r>
          </a:p>
          <a:p>
            <a:pPr lvl="1"/>
            <a:r>
              <a:rPr lang="en-US" dirty="0"/>
              <a:t>Download/read USGS shapefiles, NASA FIRMS CSVs/</a:t>
            </a:r>
            <a:r>
              <a:rPr lang="en-US" dirty="0" err="1"/>
              <a:t>GeoTIFFs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geopandas</a:t>
            </a:r>
            <a:r>
              <a:rPr lang="en-US" dirty="0"/>
              <a:t> and </a:t>
            </a:r>
            <a:r>
              <a:rPr lang="en-US" dirty="0" err="1"/>
              <a:t>rasterio</a:t>
            </a:r>
            <a:r>
              <a:rPr lang="en-US" dirty="0"/>
              <a:t> to:</a:t>
            </a:r>
          </a:p>
          <a:p>
            <a:pPr lvl="2"/>
            <a:r>
              <a:rPr lang="en-US" dirty="0"/>
              <a:t>Reproject to common CRS</a:t>
            </a:r>
          </a:p>
          <a:p>
            <a:pPr lvl="2"/>
            <a:r>
              <a:rPr lang="en-US" dirty="0"/>
              <a:t>Clip to region of interest</a:t>
            </a:r>
          </a:p>
          <a:p>
            <a:pPr lvl="2"/>
            <a:r>
              <a:rPr lang="en-US" dirty="0"/>
              <a:t>Rasterize fire perimeters to a grid</a:t>
            </a:r>
          </a:p>
          <a:p>
            <a:r>
              <a:rPr lang="en-US" dirty="0"/>
              <a:t>12_wildfire_feature_engineering.ipynb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 err="1"/>
              <a:t>days_since_last_fire</a:t>
            </a:r>
            <a:endParaRPr lang="en-US" dirty="0"/>
          </a:p>
          <a:p>
            <a:pPr lvl="2"/>
            <a:r>
              <a:rPr lang="en-US" dirty="0"/>
              <a:t>Rolling mean of temperature/humidity</a:t>
            </a:r>
          </a:p>
          <a:p>
            <a:pPr lvl="2"/>
            <a:r>
              <a:rPr lang="en-US" dirty="0"/>
              <a:t>Vegetation indices (if using multispectral imagery)</a:t>
            </a:r>
          </a:p>
          <a:p>
            <a:pPr lvl="1"/>
            <a:r>
              <a:rPr lang="en-US" dirty="0"/>
              <a:t>Join all features into a single tabular dataset (X) with labels (y).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5418D-098A-0D76-2E78-C9BFD93C53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664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EA78D-1B92-10B3-7788-45AE734BC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05EDE-2E7F-7690-47CB-F3174935F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AB2A5-4F9C-F087-860D-F765297C4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Wildfires Section</a:t>
            </a:r>
          </a:p>
          <a:p>
            <a:r>
              <a:rPr lang="en-US" b="1" dirty="0"/>
              <a:t>Slide 6 – Wildfires: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Key questions:</a:t>
            </a:r>
          </a:p>
          <a:p>
            <a:pPr lvl="1"/>
            <a:r>
              <a:rPr lang="en-US" dirty="0"/>
              <a:t>Where are fires likely to start?</a:t>
            </a:r>
          </a:p>
          <a:p>
            <a:pPr lvl="1"/>
            <a:r>
              <a:rPr lang="en-US" dirty="0"/>
              <a:t>How fast and where will they spread?</a:t>
            </a:r>
          </a:p>
          <a:p>
            <a:pPr lvl="1"/>
            <a:r>
              <a:rPr lang="en-US" dirty="0"/>
              <a:t>Which areas are high risk?</a:t>
            </a:r>
          </a:p>
          <a:p>
            <a:r>
              <a:rPr lang="en-US" dirty="0"/>
              <a:t>AI helps with:</a:t>
            </a:r>
          </a:p>
          <a:p>
            <a:pPr lvl="1"/>
            <a:r>
              <a:rPr lang="en-US" dirty="0"/>
              <a:t>Detection</a:t>
            </a:r>
          </a:p>
          <a:p>
            <a:pPr lvl="1"/>
            <a:r>
              <a:rPr lang="en-US" dirty="0"/>
              <a:t>Spread prediction</a:t>
            </a:r>
          </a:p>
          <a:p>
            <a:pPr lvl="1"/>
            <a:r>
              <a:rPr lang="en-US" dirty="0"/>
              <a:t>Risk/susceptibility mapping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Describe a real scenario: policymakers, firefighters, insurance companies all need </a:t>
            </a:r>
            <a:r>
              <a:rPr lang="en-US" i="1" dirty="0"/>
              <a:t>probabilistic</a:t>
            </a:r>
            <a:r>
              <a:rPr lang="en-US" dirty="0"/>
              <a:t> insights.</a:t>
            </a:r>
          </a:p>
          <a:p>
            <a:r>
              <a:rPr lang="en-US" dirty="0"/>
              <a:t>Clarify problem types:</a:t>
            </a:r>
          </a:p>
          <a:p>
            <a:pPr lvl="1"/>
            <a:r>
              <a:rPr lang="en-US" b="1" dirty="0"/>
              <a:t>Detection:</a:t>
            </a:r>
            <a:r>
              <a:rPr lang="en-US" dirty="0"/>
              <a:t> image-based classification (smoke/flame vs no fire).</a:t>
            </a:r>
          </a:p>
          <a:p>
            <a:pPr lvl="1"/>
            <a:r>
              <a:rPr lang="en-US" b="1" dirty="0"/>
              <a:t>Risk mapping:</a:t>
            </a:r>
            <a:r>
              <a:rPr lang="en-US" dirty="0"/>
              <a:t> supervised learning on grids/pixels with features (weather, vegetation, topography).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10_wildfire_problem_setup.ipynb</a:t>
            </a:r>
          </a:p>
          <a:p>
            <a:pPr lvl="1"/>
            <a:r>
              <a:rPr lang="en-US" dirty="0"/>
              <a:t>Define label columns: </a:t>
            </a:r>
            <a:r>
              <a:rPr lang="en-US" dirty="0" err="1"/>
              <a:t>fire_occurred</a:t>
            </a:r>
            <a:r>
              <a:rPr lang="en-US" dirty="0"/>
              <a:t>, </a:t>
            </a:r>
            <a:r>
              <a:rPr lang="en-US" dirty="0" err="1"/>
              <a:t>burned_area</a:t>
            </a:r>
            <a:r>
              <a:rPr lang="en-US" dirty="0"/>
              <a:t>, </a:t>
            </a:r>
            <a:r>
              <a:rPr lang="en-US" dirty="0" err="1"/>
              <a:t>risk_score</a:t>
            </a:r>
            <a:endParaRPr lang="en-US" dirty="0"/>
          </a:p>
          <a:p>
            <a:pPr lvl="1"/>
            <a:r>
              <a:rPr lang="en-US" dirty="0"/>
              <a:t>Encode problem types: binary classification, regression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7 – Wildfire Data Sources &amp;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Sources (examples)</a:t>
            </a:r>
            <a:r>
              <a:rPr lang="en-US" dirty="0"/>
              <a:t> </a:t>
            </a:r>
          </a:p>
          <a:p>
            <a:r>
              <a:rPr lang="en-US" dirty="0"/>
              <a:t>USGS Combined Wildland Fire Dataset (fire perimeters)</a:t>
            </a:r>
          </a:p>
          <a:p>
            <a:r>
              <a:rPr lang="en-US" dirty="0"/>
              <a:t>NASA FIRMS (VIIRS/MODIS active fire points)</a:t>
            </a:r>
          </a:p>
          <a:p>
            <a:r>
              <a:rPr lang="en-US" dirty="0"/>
              <a:t>Weather data (temperature, wind, humidity)</a:t>
            </a:r>
          </a:p>
          <a:p>
            <a:r>
              <a:rPr lang="en-US" dirty="0"/>
              <a:t>Land cover &amp; terrain (slope, aspect, vegetation)</a:t>
            </a:r>
          </a:p>
          <a:p>
            <a:r>
              <a:rPr lang="en-US" dirty="0"/>
              <a:t>Kaggle / satellite image datasets for fire/smoke detection</a:t>
            </a:r>
          </a:p>
          <a:p>
            <a:r>
              <a:rPr lang="en-US" b="1" dirty="0"/>
              <a:t>Key Feature Types</a:t>
            </a:r>
            <a:endParaRPr lang="en-US" dirty="0"/>
          </a:p>
          <a:p>
            <a:r>
              <a:rPr lang="en-US" dirty="0"/>
              <a:t>Spatial: elevation, slope, distance to roads</a:t>
            </a:r>
          </a:p>
          <a:p>
            <a:r>
              <a:rPr lang="en-US" dirty="0"/>
              <a:t>Temporal: seasonality, drought index, recent rainfall</a:t>
            </a:r>
          </a:p>
          <a:p>
            <a:r>
              <a:rPr lang="en-US" dirty="0"/>
              <a:t>Human: population density, power lines, past fire history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how geospatial + temporal data create a </a:t>
            </a:r>
            <a:r>
              <a:rPr lang="en-US" b="1" dirty="0"/>
              <a:t>feature cube</a:t>
            </a:r>
            <a:r>
              <a:rPr lang="en-US" dirty="0"/>
              <a:t> for each grid cell or image patch.</a:t>
            </a:r>
          </a:p>
          <a:p>
            <a:r>
              <a:rPr lang="en-US" dirty="0"/>
              <a:t>Stress data engineering complexity: reprojection, joining datasets, resampling time and space grids.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11_wildfire_data_ingestion.ipynb</a:t>
            </a:r>
          </a:p>
          <a:p>
            <a:pPr lvl="1"/>
            <a:r>
              <a:rPr lang="en-US" dirty="0"/>
              <a:t>Download/read USGS shapefiles, NASA FIRMS CSVs/</a:t>
            </a:r>
            <a:r>
              <a:rPr lang="en-US" dirty="0" err="1"/>
              <a:t>GeoTIFFs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geopandas</a:t>
            </a:r>
            <a:r>
              <a:rPr lang="en-US" dirty="0"/>
              <a:t> and </a:t>
            </a:r>
            <a:r>
              <a:rPr lang="en-US" dirty="0" err="1"/>
              <a:t>rasterio</a:t>
            </a:r>
            <a:r>
              <a:rPr lang="en-US" dirty="0"/>
              <a:t> to:</a:t>
            </a:r>
          </a:p>
          <a:p>
            <a:pPr lvl="2"/>
            <a:r>
              <a:rPr lang="en-US" dirty="0"/>
              <a:t>Reproject to common CRS</a:t>
            </a:r>
          </a:p>
          <a:p>
            <a:pPr lvl="2"/>
            <a:r>
              <a:rPr lang="en-US" dirty="0"/>
              <a:t>Clip to region of interest</a:t>
            </a:r>
          </a:p>
          <a:p>
            <a:pPr lvl="2"/>
            <a:r>
              <a:rPr lang="en-US" dirty="0"/>
              <a:t>Rasterize fire perimeters to a grid</a:t>
            </a:r>
          </a:p>
          <a:p>
            <a:r>
              <a:rPr lang="en-US" dirty="0"/>
              <a:t>12_wildfire_feature_engineering.ipynb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 err="1"/>
              <a:t>days_since_last_fire</a:t>
            </a:r>
            <a:endParaRPr lang="en-US" dirty="0"/>
          </a:p>
          <a:p>
            <a:pPr lvl="2"/>
            <a:r>
              <a:rPr lang="en-US" dirty="0"/>
              <a:t>Rolling mean of temperature/humidity</a:t>
            </a:r>
          </a:p>
          <a:p>
            <a:pPr lvl="2"/>
            <a:r>
              <a:rPr lang="en-US" dirty="0"/>
              <a:t>Vegetation indices (if using multispectral imagery)</a:t>
            </a:r>
          </a:p>
          <a:p>
            <a:pPr lvl="1"/>
            <a:r>
              <a:rPr lang="en-US" dirty="0"/>
              <a:t>Join all features into a single tabular dataset (X) with labels (y).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919D-E8A1-9A95-146B-AF7034517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20F92-5DFC-AA8E-C244-D039A7305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2C0D9-66BC-63E5-122C-6C471362D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0CA129-C301-C75E-5AFF-8D23F46DC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9A582-C32C-05D7-7033-53965DFFC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96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943E-7DA1-93AD-96DF-F1A5C924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04168-467D-476B-B344-792F0746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62174-70D3-703C-08FC-257514211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91220-4947-49E8-D78A-F33491CA4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080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B100-9AAC-185B-9E55-F83BF007B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D1925-E6BC-D546-C6B5-4C13B3412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F6042-6A26-024E-41EC-A7F62C0590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E8178-1E17-10A7-845C-0463D4B071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77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8F21-4D9C-B153-D82D-1888C190A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D808E-319F-9BF5-A27A-13189F5AB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BDF08-3D08-64B1-3020-3A09CBE82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9A7EF-105D-1191-D52A-549FE81B5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654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CA6D-D6AA-699E-2F2E-58C4BCB6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AA3405-6E6D-8E34-FA4A-928C3181B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1B781D-F89D-4415-C213-E03D257A9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2B792-BBFC-170C-0DB5-3BF259339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0556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51791-F17E-FF59-C8FD-1CBF1A13E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14D52-03C5-2664-DFAB-DE0A76E3E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A9E56-E65B-5A87-1C50-E1038B52E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A5A20-8C56-3A9E-2705-CD79B7B92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50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F210B-7E59-39B0-1943-E8FD7B866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25A60-2B72-C185-A7D5-A526E3701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86D62-374F-6302-9FF1-FC975CDF1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32E91-F3D0-F53B-0F39-FF62FD896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699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96955-110C-16BB-DFAE-C920136DD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9C148-BD01-135A-6F2D-7E03E1AD6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8D406-A692-17E0-1448-651309479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05AB2-F3BB-8B62-16BC-790DB8BE78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3979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4D4-6831-F972-6968-093659337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BAF1F-94DF-10E0-1C60-2D803429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CB40D-12FF-0D54-0151-237351BF6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5B41-A894-1BE0-3089-0B00E7500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705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8A10D-0282-D22A-978A-8FDD1AE0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2577F-DE97-4A6B-784A-D055AE36F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E4834-4AB9-491D-AC94-C72C50BE17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A433C-1F98-3C16-C4A3-AC935168AA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955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22482-95D4-A23A-F809-06517AC95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01902-BE26-DB2D-3FCB-1EA0467B5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31C0E0-87E5-31B5-B0A6-9B0F5C188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3A41D-1110-F98E-6AC7-D9466AFEB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8790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4CA13-3005-ED9F-5FAB-88F22CF7C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DC4093-FE89-0886-297B-B5D9C1425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99DE8-5370-209B-E263-F81E544E2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B209E-FB88-188B-7466-F89644591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6410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203AF-23B8-49F1-98C6-599A6342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ED114-98DA-B7B9-60C2-AE2FB778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F395B-4F92-2EB7-C16A-3FE9C46B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25551-A20B-6BFA-64EF-498020600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05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B1FB0-F46C-6437-B133-F6E4C99F7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5829EA-2F58-5DA8-3370-04027CEEC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34B59-87E3-970E-A6D7-DC91956B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232EE-F2A4-E431-C47A-0DD4DE643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95E08-4CF6-154B-BCEB-17826401D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702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D654A-3A84-55D4-051A-3A143879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E8EDC-E2E9-134E-4574-8AEB5BC51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1B8D8-BE73-60A0-B71D-0397FCF0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F058D-9140-888F-28A0-D2359253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3B9A3-C8CC-AE0A-FDDA-74C66DB5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841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6C505-EFF4-0A6B-7F3D-6EA2F6AA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87E86-6A54-DDFA-BB93-A0EB040A2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CA87A-8316-5FCD-3E7D-65275290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0F48A-E46F-AD8D-C32D-F8315F869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B72AF-6A90-ADCF-0A8D-113DAF523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65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64B-05EF-3FA3-5BD9-26308B98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686DC-6F66-5E6C-6516-824861DBA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8F63F-0F7F-4CEB-289E-3BD92D5E6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86430-882E-E3FC-8FF5-C21007E2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ADDE6-DE2D-CF98-8F05-DAA25CB2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228F5C-69FF-05F5-3E75-249C7824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364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A0EC0-FD78-994A-EDCF-048F72E8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EFDBE-FF68-D8FF-E1A0-DF528A874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7699D0-2515-3244-343F-36E09FC40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3FC879-B8D0-FCB4-AF0B-C2E116950C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4EC36-7152-545D-5E4A-94D9E209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082040-BE6B-8D71-165E-DF3A5BD62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C9721-F50E-3A3E-2B5C-D0C6BD6B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369489-9600-DA14-5007-35C55802D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235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4715-18CA-4FDB-06B2-089BFE725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F9AA2D-B64F-BBC8-0E96-C7FBD1C6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3DC53-9275-761A-D4C0-4556A7F1D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090CAC-1A4D-6814-54D1-8954E305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670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3A2568-C61F-A5AB-6B66-FF60FE23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408CD-ACA8-E768-98D9-63E35B7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A7F8B-0EBF-C741-EA2F-D5596830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569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E3E05-9CBE-1223-9EE8-906499A69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29D0F-D19B-4F51-5520-16FFE69B3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A5D88-2101-FF61-0096-E825298AE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F9E32-6723-4B2C-BBFC-EDF2AB1AE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D6188-FBF3-3B0C-0632-47CEB8404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FFABAC-B4F5-787B-CBBE-7A1F4042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476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A9C-1CEF-47B2-E908-F6061916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0275D-7385-116F-90A8-7A7793932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EC18D-7671-9EA2-AA0F-DC1ECD722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D0967-D8CC-C90E-665B-91553058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C2572-6AFE-7F5D-C4FD-6BB83236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1BC84-2B23-6956-7676-072DB245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65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F465-6B59-73B7-770C-AABFA8CE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50C15-ABB5-6273-95E8-3988A52ACC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82F83-CD5D-739A-43E6-939B21A45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9728B-6F79-21CD-EDCE-5F86FAFB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5B536-A567-5C03-0951-6BE298DE5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90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70350-1B78-47AB-0719-CA8ED696C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4FDA5-623E-7860-65F1-CB74349F9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24307-AA4C-6A87-6B34-ACFA973C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CA970-D929-99A8-F698-3015E15A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A2E3C-9ECB-3BDA-BC7F-C1544BE6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0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6DE88-208C-1349-058D-42D7EBF2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1D5D2-8D72-C9AD-0EAC-806C7A4DD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C879-9D64-3BFA-EAA3-0A1B792878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3A64B-B172-6ABC-4461-001D4A132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8C83A-EAC2-6F5D-4ACD-A0C40D52A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47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3390AEA-7235-A970-495B-D636AE61046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8324280-5261-977C-59A3-69C3A52DDBB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B30B5E5-B8C5-09BC-94A9-33EBDE17904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B4EEB61-7514-222A-4A4B-9EE7D32EFD8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C6B773E-C806-433C-39AB-21A03889068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A5779EA-53B5-78C8-93AF-BF5D010FE65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B589B7DC-A8BA-0321-8668-675EC921C7F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516030-269F-B52A-7190-D4FCD70D844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58399B-CAAB-4C32-FB47-3F78610224D6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446262-123B-A435-DCBF-952C222E230E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944D5C-A83B-C3A3-969F-46D6932BF8F4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CBA955-376B-27DF-C044-7E1EA9F9B3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D510E-8390-3E1A-3E68-3EE45A7C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D5D3F74-5804-AB33-92D6-D555CF058E99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CB3598E-0F6D-032D-78E3-665EDF1D615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AB82243-9855-F89D-D6D6-0348356DDF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A88C87EE-EA19-4487-B892-C7AAE8F4EE8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D985BD4-AAA0-DBD3-D504-F1960D055E60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64F692F-33E9-7A1B-EA80-43491F22F2E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0D75EF2-51D4-0B4F-5A9F-A064D98EC51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8B6E0D-C0DE-6AC1-8C9D-D3A7509909B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71FADF5-A14E-2A6F-E4FD-05C996983B85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1852B-C057-165D-155B-694EB56861AA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AD8BA7-8DD5-B8BE-2182-F9975FD6DA8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00FF49-3BF7-8EC6-D1FE-15E2A9D567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17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101-066F-E064-55C1-1FD0F359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4FFC192-2517-5487-5745-5FD9129C3AF7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9CD054C-819A-AB96-9246-9E92336553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A34C872-F65A-F6F6-A555-FB0C38BB2D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7984A48F-46B0-356D-98D0-669B6B8C607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8327896-BA3A-134B-A217-742C0A4ED41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6879D56-8A25-BAAE-E7DC-B488E4000DD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F21065D-6669-8C95-C319-032D5034AB4A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65ACE28-22BD-99A3-F424-AD60B9BA5D7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3BA51C8-B3A9-EEAE-6EFD-4AC78C48D1A2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828EA9-3D44-1271-9076-E471A5111654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7B9232-C208-FAA1-1F65-CB5CB15F87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FF9003-DB2A-3FD1-DA22-14302FD44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41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527C-75EE-C67D-62D9-ECFB5E354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730A17A-37F6-0398-BB4C-5AC46D42E952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28E5267-8D19-9052-F623-40398BE9464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123AB5F-6A6D-389B-0573-FC5CC19CB02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EE7AA8F-A085-BEA0-422B-F987D3EC6A2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C689E3E4-A855-2F0B-C86D-A1CEFC1E0B5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D75CC49-434E-915D-6037-D6F50AFDBF57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7C43D4C-0FFF-C1AE-018E-416D1912C0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8608EA0-CB0D-34BD-6499-7BF0C02B183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5825168-EE69-9A37-A8DD-CE65FC8DAFF8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5AF667-E8DB-4070-1BC3-CFCFA02F249C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A1F5FF-0182-8045-4A4B-C859E9C3019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0697FC-8CFC-BC93-2DFA-5088D194F4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01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577-0AC0-E5B1-93EB-57880CD30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CD2A8669-21FC-236A-EF2D-47D1FD329A3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700FFC99-357C-B9B1-604E-25CA47C365C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757AE13-43CB-C15A-2670-62B5C7528EA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4935914-EDBC-5649-CFD4-390798FCC4A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A85C0CF-0B6A-CB49-64DF-362C9CE23BF4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521D16A-37FE-BD35-9B26-2D869DB786B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DAFDE1C-09D5-FF3E-5D04-5457B729585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9D45FB-F12F-443B-F467-6A9FFDAD5DD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1D98D1D-1F82-C160-9164-F81595C9C194}"/>
              </a:ext>
            </a:extLst>
          </p:cNvPr>
          <p:cNvSpPr txBox="1"/>
          <p:nvPr/>
        </p:nvSpPr>
        <p:spPr>
          <a:xfrm>
            <a:off x="3413152" y="962566"/>
            <a:ext cx="82923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Slide 1 – Title</a:t>
            </a:r>
          </a:p>
          <a:p>
            <a:r>
              <a:rPr lang="en-US" b="1" dirty="0">
                <a:solidFill>
                  <a:schemeClr val="bg1"/>
                </a:solidFill>
              </a:rPr>
              <a:t>AI in Action: Bridging Theory and Practice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Subtitle:</a:t>
            </a:r>
            <a:r>
              <a:rPr lang="en-US" dirty="0">
                <a:solidFill>
                  <a:schemeClr val="bg1"/>
                </a:solidFill>
              </a:rPr>
              <a:t> Wildfires, Mental Health &amp; Real-World Data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Speaker:</a:t>
            </a:r>
            <a:r>
              <a:rPr lang="en-US" dirty="0">
                <a:solidFill>
                  <a:schemeClr val="bg1"/>
                </a:solidFill>
              </a:rPr>
              <a:t> Rahul Vats – Senior Lead/Manager (AI &amp; Data), Capital One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AI in Action: Bridging Theory and Practice</a:t>
            </a:r>
          </a:p>
          <a:p>
            <a:r>
              <a:rPr lang="en-US" dirty="0">
                <a:solidFill>
                  <a:schemeClr val="bg1"/>
                </a:solidFill>
              </a:rPr>
              <a:t>Wildfire risk, mental health, and real-world data</a:t>
            </a:r>
          </a:p>
          <a:p>
            <a:r>
              <a:rPr lang="en-US" dirty="0">
                <a:solidFill>
                  <a:schemeClr val="bg1"/>
                </a:solidFill>
              </a:rPr>
              <a:t>Rahul Vats, Senior Lead/Manager (AI &amp; Data), Capital One</a:t>
            </a:r>
          </a:p>
          <a:p>
            <a:r>
              <a:rPr lang="en-US" dirty="0">
                <a:solidFill>
                  <a:schemeClr val="bg1"/>
                </a:solidFill>
              </a:rPr>
              <a:t>Date, event, and host university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 (talk track):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Set context: “Today I want to walk you through how AI + real-world data are being used to solve </a:t>
            </a:r>
            <a:r>
              <a:rPr lang="en-US" i="1" dirty="0">
                <a:solidFill>
                  <a:schemeClr val="bg1"/>
                </a:solidFill>
              </a:rPr>
              <a:t>serious</a:t>
            </a:r>
            <a:r>
              <a:rPr lang="en-US" dirty="0">
                <a:solidFill>
                  <a:schemeClr val="bg1"/>
                </a:solidFill>
              </a:rPr>
              <a:t> problems: preventing wildfires and detecting mental health risks.”</a:t>
            </a:r>
          </a:p>
          <a:p>
            <a:r>
              <a:rPr lang="en-US" dirty="0">
                <a:solidFill>
                  <a:schemeClr val="bg1"/>
                </a:solidFill>
              </a:rPr>
              <a:t>Emphasize: real datasets, real constraints, real messiness.</a:t>
            </a:r>
          </a:p>
          <a:p>
            <a:r>
              <a:rPr lang="en-US" dirty="0">
                <a:solidFill>
                  <a:schemeClr val="bg1"/>
                </a:solidFill>
              </a:rPr>
              <a:t>Highlight: talk is split into two parts — </a:t>
            </a:r>
            <a:r>
              <a:rPr lang="en-US" b="1" dirty="0">
                <a:solidFill>
                  <a:schemeClr val="bg1"/>
                </a:solidFill>
              </a:rPr>
              <a:t>impact stories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practical ML patterns</a:t>
            </a:r>
            <a:r>
              <a:rPr lang="en-US" dirty="0">
                <a:solidFill>
                  <a:schemeClr val="bg1"/>
                </a:solidFill>
              </a:rPr>
              <a:t> that students can reuse.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code here, just a quick mention: “You’ll get a runbook with code for both use cases after the talk.”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2B9FA-DCFF-0862-B832-5423129D543C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03B7A2-7AA0-120B-FAA7-09D32D0226E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8B52D8-8A41-79EB-29C8-EDBC4458AA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774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2F165-25B4-DAC0-1542-2245DD66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6068479-8AA4-4800-BBF9-385E0511B41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92B9534-D301-94EE-5128-48FE0E5F784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3B48255-02D4-F28B-F1E6-D06EDDBD181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ED744A4-A869-552B-52F9-79CE792C67C7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98B0432-424D-4086-EA59-38B2BA5F785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6FCE8513-1B3E-2CFD-4E66-27E628DA630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E4A0A6E-AD24-9CA1-A1C5-228A1C1BBB1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468275-F3BC-DAF5-DBA6-FCB43D2E1564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0A078B0-BF39-D441-654B-73431C682DE4}"/>
              </a:ext>
            </a:extLst>
          </p:cNvPr>
          <p:cNvSpPr txBox="1"/>
          <p:nvPr/>
        </p:nvSpPr>
        <p:spPr>
          <a:xfrm>
            <a:off x="3413152" y="962566"/>
            <a:ext cx="82923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Slide 2 – About the Speaker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17+ years in software, data, and AI</a:t>
            </a:r>
          </a:p>
          <a:p>
            <a:r>
              <a:rPr lang="en-US" dirty="0">
                <a:solidFill>
                  <a:schemeClr val="bg1"/>
                </a:solidFill>
              </a:rPr>
              <a:t>Senior Lead/Manager – Capital One (AI, ML, Data)</a:t>
            </a:r>
          </a:p>
          <a:p>
            <a:r>
              <a:rPr lang="en-US" dirty="0">
                <a:solidFill>
                  <a:schemeClr val="bg1"/>
                </a:solidFill>
              </a:rPr>
              <a:t>Previous: Microsoft, EY, </a:t>
            </a:r>
            <a:r>
              <a:rPr lang="en-US" dirty="0" err="1">
                <a:solidFill>
                  <a:schemeClr val="bg1"/>
                </a:solidFill>
              </a:rPr>
              <a:t>AppGate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Focus: AI, ML, RAG, computer vision, automation, cloud</a:t>
            </a:r>
          </a:p>
          <a:p>
            <a:r>
              <a:rPr lang="en-US" i="1" dirty="0">
                <a:solidFill>
                  <a:schemeClr val="bg1"/>
                </a:solidFill>
              </a:rPr>
              <a:t>(Adapted and updated from the “About the Speaker” text.)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Brief career arc: engineer → tech lead → AI/data leader.</a:t>
            </a:r>
          </a:p>
          <a:p>
            <a:r>
              <a:rPr lang="en-US" dirty="0">
                <a:solidFill>
                  <a:schemeClr val="bg1"/>
                </a:solidFill>
              </a:rPr>
              <a:t>Mention working with Fortune 500 clients, large-scale data platforms, and production ML.</a:t>
            </a:r>
          </a:p>
          <a:p>
            <a:r>
              <a:rPr lang="en-US" dirty="0">
                <a:solidFill>
                  <a:schemeClr val="bg1"/>
                </a:solidFill>
              </a:rPr>
              <a:t>Set credibility: “I’m not just going to talk theory—I’ll share what actually works in industry.”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None – just context.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D0963D-5C97-D72B-BFBF-0F62547C1DE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606701-3359-1115-C01F-11103D3B3F9C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06A94E-6CB2-97B1-D599-242CA7978D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380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5F747-54D3-1A43-59E2-5044A7965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0699C0E-9942-1BE8-B882-2E3CAE8A4D81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4CEAB162-72B8-2C06-A4A3-A10C3B7E23C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34E2DD44-6540-6022-A777-4A4602B5D91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5D4FDBF4-754B-AB84-DB9F-240DA118513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B68B971-DC48-257F-1BD6-7621AD1BF809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07AFF13C-2981-3EF8-DE60-163AFFA35EA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CC4E1F9C-6062-266C-E3EE-3917592380D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91C328-4F4A-B199-3121-E36E7C0B936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2B3F9E3-DE61-F559-24BE-C0300E82947C}"/>
              </a:ext>
            </a:extLst>
          </p:cNvPr>
          <p:cNvSpPr txBox="1"/>
          <p:nvPr/>
        </p:nvSpPr>
        <p:spPr>
          <a:xfrm>
            <a:off x="3413152" y="962566"/>
            <a:ext cx="829238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Slide 3 – Session Goals &amp; Agenda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Goals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Show how AI tackles critical real-world challenges</a:t>
            </a:r>
          </a:p>
          <a:p>
            <a:r>
              <a:rPr lang="en-US" dirty="0">
                <a:solidFill>
                  <a:schemeClr val="bg1"/>
                </a:solidFill>
              </a:rPr>
              <a:t>Walk through end-to-end ML pipelines for 2 use cases</a:t>
            </a:r>
          </a:p>
          <a:p>
            <a:r>
              <a:rPr lang="en-US" dirty="0">
                <a:solidFill>
                  <a:schemeClr val="bg1"/>
                </a:solidFill>
              </a:rPr>
              <a:t>Share practical patterns for building impactful ML solutions</a:t>
            </a:r>
          </a:p>
          <a:p>
            <a:r>
              <a:rPr lang="en-US" b="1" dirty="0">
                <a:solidFill>
                  <a:schemeClr val="bg1"/>
                </a:solidFill>
              </a:rPr>
              <a:t>Agenda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Real-world data &amp; AI</a:t>
            </a:r>
          </a:p>
          <a:p>
            <a:r>
              <a:rPr lang="en-US" dirty="0">
                <a:solidFill>
                  <a:schemeClr val="bg1"/>
                </a:solidFill>
              </a:rPr>
              <a:t>Wildfire risk &amp; detection</a:t>
            </a:r>
          </a:p>
          <a:p>
            <a:r>
              <a:rPr lang="en-US" dirty="0">
                <a:solidFill>
                  <a:schemeClr val="bg1"/>
                </a:solidFill>
              </a:rPr>
              <a:t>Mental health via mobile sensing</a:t>
            </a:r>
          </a:p>
          <a:p>
            <a:r>
              <a:rPr lang="en-US" dirty="0">
                <a:solidFill>
                  <a:schemeClr val="bg1"/>
                </a:solidFill>
              </a:rPr>
              <a:t>Common patterns &amp; takeaways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Position both use cases as </a:t>
            </a:r>
            <a:r>
              <a:rPr lang="en-US" i="1" dirty="0">
                <a:solidFill>
                  <a:schemeClr val="bg1"/>
                </a:solidFill>
              </a:rPr>
              <a:t>templates</a:t>
            </a:r>
            <a:r>
              <a:rPr lang="en-US" dirty="0">
                <a:solidFill>
                  <a:schemeClr val="bg1"/>
                </a:solidFill>
              </a:rPr>
              <a:t> students can adapt.</a:t>
            </a:r>
          </a:p>
          <a:p>
            <a:r>
              <a:rPr lang="en-US" dirty="0">
                <a:solidFill>
                  <a:schemeClr val="bg1"/>
                </a:solidFill>
              </a:rPr>
              <a:t>Emphasize that you’ll show </a:t>
            </a:r>
            <a:r>
              <a:rPr lang="en-US" b="1" dirty="0">
                <a:solidFill>
                  <a:schemeClr val="bg1"/>
                </a:solidFill>
              </a:rPr>
              <a:t>what to code</a:t>
            </a:r>
            <a:r>
              <a:rPr lang="en-US" dirty="0">
                <a:solidFill>
                  <a:schemeClr val="bg1"/>
                </a:solidFill>
              </a:rPr>
              <a:t>, not just concepts.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Runbook overview slide, list the notebooks/scripts:</a:t>
            </a:r>
          </a:p>
          <a:p>
            <a:r>
              <a:rPr lang="en-US" dirty="0">
                <a:solidFill>
                  <a:schemeClr val="bg1"/>
                </a:solidFill>
              </a:rPr>
              <a:t>00_environment_setup.py / .</a:t>
            </a:r>
            <a:r>
              <a:rPr lang="en-US" dirty="0" err="1">
                <a:solidFill>
                  <a:schemeClr val="bg1"/>
                </a:solidFill>
              </a:rPr>
              <a:t>ipynb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10_wildfire_data_and_eda.ipynb</a:t>
            </a:r>
          </a:p>
          <a:p>
            <a:r>
              <a:rPr lang="en-US" dirty="0">
                <a:solidFill>
                  <a:schemeClr val="bg1"/>
                </a:solidFill>
              </a:rPr>
              <a:t>20_wildfire_ml_models.ipynb</a:t>
            </a:r>
          </a:p>
          <a:p>
            <a:r>
              <a:rPr lang="en-US" dirty="0">
                <a:solidFill>
                  <a:schemeClr val="bg1"/>
                </a:solidFill>
              </a:rPr>
              <a:t>30_mental_health_mobile_data_and_eda.ipynb</a:t>
            </a:r>
          </a:p>
          <a:p>
            <a:r>
              <a:rPr lang="en-US" dirty="0">
                <a:solidFill>
                  <a:schemeClr val="bg1"/>
                </a:solidFill>
              </a:rPr>
              <a:t>40_mental_health_ml_models.ipynb</a:t>
            </a:r>
          </a:p>
          <a:p>
            <a:r>
              <a:rPr lang="en-US" dirty="0">
                <a:solidFill>
                  <a:schemeClr val="bg1"/>
                </a:solidFill>
              </a:rPr>
              <a:t>50_model_evaluation_and_explainability.ipynb</a:t>
            </a:r>
          </a:p>
          <a:p>
            <a:r>
              <a:rPr lang="en-US" dirty="0">
                <a:solidFill>
                  <a:schemeClr val="bg1"/>
                </a:solidFill>
              </a:rPr>
              <a:t>60_serving_and_automation.ipynb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99AF6D-4A19-DF99-889C-0D0E1186B50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AF6E27-B623-9C89-D198-228DF137490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2D80BC-145E-28FA-68F9-0A99F1AF3A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89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87754-5EEE-41B5-C45A-1352B295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F53B8A6-4CDB-FF08-ADDB-8391AFAAE42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10889C5-B9C5-C07B-BAFB-8912BA0E455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FB52E31B-3778-29A2-6EFC-044F96E21C8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3D1B65E5-17F1-3394-1FE7-9B8CF2E08AE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8E2D186B-39F0-FA54-522F-7345D0A54138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F7132AC5-E88D-99EF-6935-15235621B24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12A54E1A-F814-F93E-A6EB-C7CA0684F8E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48AA74C-BBB3-69B1-2CAA-1DD1692D26F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481FD63-848B-4A9D-AD9B-C16E056A3E99}"/>
              </a:ext>
            </a:extLst>
          </p:cNvPr>
          <p:cNvSpPr txBox="1"/>
          <p:nvPr/>
        </p:nvSpPr>
        <p:spPr>
          <a:xfrm>
            <a:off x="3413152" y="962566"/>
            <a:ext cx="829238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Slide 4 – Real-World Data: Fuel </a:t>
            </a:r>
            <a:r>
              <a:rPr lang="en-US" b="1" i="1" dirty="0">
                <a:solidFill>
                  <a:schemeClr val="bg1"/>
                </a:solidFill>
              </a:rPr>
              <a:t>and</a:t>
            </a:r>
            <a:r>
              <a:rPr lang="en-US" b="1" dirty="0">
                <a:solidFill>
                  <a:schemeClr val="bg1"/>
                </a:solidFill>
              </a:rPr>
              <a:t> Friction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Real-world data ≠ clean Kaggle dataset</a:t>
            </a:r>
          </a:p>
          <a:p>
            <a:r>
              <a:rPr lang="en-US" dirty="0">
                <a:solidFill>
                  <a:schemeClr val="bg1"/>
                </a:solidFill>
              </a:rPr>
              <a:t>Challenges: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Missing, noisy, biased, unbalanced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Multiple sources, messy formats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Privacy &amp; ethics constraints</a:t>
            </a:r>
          </a:p>
          <a:p>
            <a:r>
              <a:rPr lang="en-US" dirty="0">
                <a:solidFill>
                  <a:schemeClr val="bg1"/>
                </a:solidFill>
              </a:rPr>
              <a:t>Opportunities: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Rich signals (space, time, behavior)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New problem formulations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Ground the audience: wildfires → messy geospatial and satellite data; mental health → noisy smartphone/wearable logs.</a:t>
            </a:r>
          </a:p>
          <a:p>
            <a:r>
              <a:rPr lang="en-US" dirty="0">
                <a:solidFill>
                  <a:schemeClr val="bg1"/>
                </a:solidFill>
              </a:rPr>
              <a:t>Emphasize: modeling is often the </a:t>
            </a:r>
            <a:r>
              <a:rPr lang="en-US" i="1" dirty="0">
                <a:solidFill>
                  <a:schemeClr val="bg1"/>
                </a:solidFill>
              </a:rPr>
              <a:t>easy</a:t>
            </a:r>
            <a:r>
              <a:rPr lang="en-US" dirty="0">
                <a:solidFill>
                  <a:schemeClr val="bg1"/>
                </a:solidFill>
              </a:rPr>
              <a:t> part; most effort goes into </a:t>
            </a:r>
            <a:r>
              <a:rPr lang="en-US" b="1" dirty="0">
                <a:solidFill>
                  <a:schemeClr val="bg1"/>
                </a:solidFill>
              </a:rPr>
              <a:t>data engineering &amp; feature design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00_environment_setup.ipynb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Installing libraries: </a:t>
            </a:r>
            <a:r>
              <a:rPr lang="en-US" dirty="0" err="1">
                <a:solidFill>
                  <a:schemeClr val="bg1"/>
                </a:solidFill>
              </a:rPr>
              <a:t>numpy</a:t>
            </a:r>
            <a:r>
              <a:rPr lang="en-US" dirty="0">
                <a:solidFill>
                  <a:schemeClr val="bg1"/>
                </a:solidFill>
              </a:rPr>
              <a:t>, pandas, </a:t>
            </a:r>
            <a:r>
              <a:rPr lang="en-US" dirty="0" err="1">
                <a:solidFill>
                  <a:schemeClr val="bg1"/>
                </a:solidFill>
              </a:rPr>
              <a:t>geopandas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rasterio</a:t>
            </a:r>
            <a:r>
              <a:rPr lang="en-US" dirty="0">
                <a:solidFill>
                  <a:schemeClr val="bg1"/>
                </a:solidFill>
              </a:rPr>
              <a:t>, scikit-learn, </a:t>
            </a:r>
            <a:r>
              <a:rPr lang="en-US" dirty="0" err="1">
                <a:solidFill>
                  <a:schemeClr val="bg1"/>
                </a:solidFill>
              </a:rPr>
              <a:t>pytorch</a:t>
            </a:r>
            <a:r>
              <a:rPr lang="en-US" dirty="0">
                <a:solidFill>
                  <a:schemeClr val="bg1"/>
                </a:solidFill>
              </a:rPr>
              <a:t>/</a:t>
            </a:r>
            <a:r>
              <a:rPr lang="en-US" dirty="0" err="1">
                <a:solidFill>
                  <a:schemeClr val="bg1"/>
                </a:solidFill>
              </a:rPr>
              <a:t>tensorflow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Setting project structure (data/raw, data/processed, models/, notebooks/)</a:t>
            </a:r>
          </a:p>
          <a:p>
            <a:r>
              <a:rPr lang="en-US" dirty="0">
                <a:solidFill>
                  <a:schemeClr val="bg1"/>
                </a:solidFill>
              </a:rPr>
              <a:t>01_data_quality_checks.ipynb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Generic utilities for missingness checks, schema validation, basic profiling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95498A-A97F-08CD-4F7E-C9863E0EB64A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926C0A-15F2-175C-F9CD-C09E90320711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C9AB63-9821-A278-EA31-15D2126051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33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3291-AF12-ADFA-1894-B8A9D5227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7A7DE80-947E-5028-76A9-1433351FC9DC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6AA17D2-E51E-105C-2A3B-6E6C54681B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3C7CC5A-3941-6FC7-05DD-666D438A83D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FD373C14-7A7E-5378-810B-ACAF7B231B9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67DA455-BF2A-2430-702D-9171D7B948E8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B45D848-3CB0-BB3D-EAF9-203F58B6B18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7E83E30A-8240-7121-0590-DD050A916D0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656061-3AC3-D558-D78C-D5B9CB6C372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A1653B-2178-3E38-1F36-0F3E2D055B86}"/>
              </a:ext>
            </a:extLst>
          </p:cNvPr>
          <p:cNvSpPr txBox="1"/>
          <p:nvPr/>
        </p:nvSpPr>
        <p:spPr>
          <a:xfrm>
            <a:off x="3413152" y="962566"/>
            <a:ext cx="829238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Slide 5 – Use Cases Overview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Use Case 1 – Wildfires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Detect fires &amp; map risk</a:t>
            </a:r>
          </a:p>
          <a:p>
            <a:r>
              <a:rPr lang="en-US" dirty="0">
                <a:solidFill>
                  <a:schemeClr val="bg1"/>
                </a:solidFill>
              </a:rPr>
              <a:t>Predict spread &amp; intensity</a:t>
            </a:r>
          </a:p>
          <a:p>
            <a:r>
              <a:rPr lang="en-US" b="1" dirty="0">
                <a:solidFill>
                  <a:schemeClr val="bg1"/>
                </a:solidFill>
              </a:rPr>
              <a:t>Use Case 2 – Mental Health via Mobile Sensing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Predict depression/PTSD symptom severity</a:t>
            </a:r>
          </a:p>
          <a:p>
            <a:r>
              <a:rPr lang="en-US" dirty="0">
                <a:solidFill>
                  <a:schemeClr val="bg1"/>
                </a:solidFill>
              </a:rPr>
              <a:t>Monitor behavior changes over time 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Explain why both were chosen: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Wildfires: tangible physical risk, climate, public safety.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Mental health: growing global burden, hard to detect early, mobile devices as scalable sensors. </a:t>
            </a:r>
          </a:p>
          <a:p>
            <a:r>
              <a:rPr lang="en-US" dirty="0">
                <a:solidFill>
                  <a:schemeClr val="bg1"/>
                </a:solidFill>
              </a:rPr>
              <a:t>Highlight: both use </a:t>
            </a:r>
            <a:r>
              <a:rPr lang="en-US" b="1" dirty="0">
                <a:solidFill>
                  <a:schemeClr val="bg1"/>
                </a:solidFill>
              </a:rPr>
              <a:t>large-scale, real-world data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ML models</a:t>
            </a:r>
            <a:r>
              <a:rPr lang="en-US" dirty="0">
                <a:solidFill>
                  <a:schemeClr val="bg1"/>
                </a:solidFill>
              </a:rPr>
              <a:t> to find patterns humans can’t see easily.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02_problem_definitions.md (or a markdown within repo)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Clear formulation: classification, regression, forecasting tasks for each use case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Definitions of targets/labels and evaluation metrics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0AB661-48E7-59FF-1EF0-70620E6B0EC2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A9BDBE-B201-E50D-7D8F-799009826E4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CF911F-98C1-DB52-1DCE-352BE88A2E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144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85BAF-B863-1482-5DA2-6A0978706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E7A2A7D-9F7D-B03E-BD1F-0DEBB7BDB5E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18E31D2-4383-3848-0647-D70214C51D7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44696EC-92D5-310D-5F30-F4E3E2E0706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F998457-67DC-D11C-9E85-A1AEE539503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A055F8C-B137-1DA8-92B9-318D2D986054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6E4D308E-DC80-0BFB-9CA4-D58D529E65B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998A316-5E3D-0AC2-169A-CE1A1CACA459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BEBEB6-DFFE-FF90-A171-962AD0E3E3D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33F1BB-7D07-5FA6-4DC2-A97FADFCD28D}"/>
              </a:ext>
            </a:extLst>
          </p:cNvPr>
          <p:cNvSpPr txBox="1"/>
          <p:nvPr/>
        </p:nvSpPr>
        <p:spPr>
          <a:xfrm>
            <a:off x="3413152" y="962566"/>
            <a:ext cx="829238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Wildfires Section</a:t>
            </a:r>
          </a:p>
          <a:p>
            <a:r>
              <a:rPr lang="en-US" b="1" dirty="0">
                <a:solidFill>
                  <a:schemeClr val="bg1"/>
                </a:solidFill>
              </a:rPr>
              <a:t>Slide 6 – Wildfires: Problem Framing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Key questions: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Where are fires likely to start?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How fast and where will they spread?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Which areas are high risk?</a:t>
            </a:r>
          </a:p>
          <a:p>
            <a:r>
              <a:rPr lang="en-US" dirty="0">
                <a:solidFill>
                  <a:schemeClr val="bg1"/>
                </a:solidFill>
              </a:rPr>
              <a:t>AI helps with: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Detection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Spread prediction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Risk/susceptibility mapping 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Describe a real scenario: policymakers, firefighters, insurance companies all need </a:t>
            </a:r>
            <a:r>
              <a:rPr lang="en-US" i="1" dirty="0">
                <a:solidFill>
                  <a:schemeClr val="bg1"/>
                </a:solidFill>
              </a:rPr>
              <a:t>probabilistic</a:t>
            </a:r>
            <a:r>
              <a:rPr lang="en-US" dirty="0">
                <a:solidFill>
                  <a:schemeClr val="bg1"/>
                </a:solidFill>
              </a:rPr>
              <a:t> insights.</a:t>
            </a:r>
          </a:p>
          <a:p>
            <a:r>
              <a:rPr lang="en-US" dirty="0">
                <a:solidFill>
                  <a:schemeClr val="bg1"/>
                </a:solidFill>
              </a:rPr>
              <a:t>Clarify problem types: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Detection:</a:t>
            </a:r>
            <a:r>
              <a:rPr lang="en-US" dirty="0">
                <a:solidFill>
                  <a:schemeClr val="bg1"/>
                </a:solidFill>
              </a:rPr>
              <a:t> image-based classification (smoke/flame vs no fire).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Risk mapping:</a:t>
            </a:r>
            <a:r>
              <a:rPr lang="en-US" dirty="0">
                <a:solidFill>
                  <a:schemeClr val="bg1"/>
                </a:solidFill>
              </a:rPr>
              <a:t> supervised learning on grids/pixels with features (weather, vegetation, topography).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10_wildfire_problem_setup.ipynb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Define label columns: </a:t>
            </a:r>
            <a:r>
              <a:rPr lang="en-US" dirty="0" err="1">
                <a:solidFill>
                  <a:schemeClr val="bg1"/>
                </a:solidFill>
              </a:rPr>
              <a:t>fire_occurred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burned_area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risk_score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Encode problem types: binary classification, regression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CC3C73-40E5-2A30-E333-8ECF0DEE062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83067-BD5A-F20A-E41D-03E585EE75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CED806-ED77-6C1B-3C4B-ECCA230BC3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37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49E89-3B28-3270-C0AD-E94AB4001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9F25A50-1457-A088-EDE3-83F7BA0BE43E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49999414-6197-72F1-5658-A51540FFF61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571B5B6-B4EF-7A7E-8AD2-D6B80161FB1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BC3CD4F-B88F-C559-2E25-AF9867CF04E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0351A66-473B-3AEA-1CBB-B975A5DF2A53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9C862115-EF4E-9789-5377-2288D545E2C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1CF0735-FD72-5695-0A42-D48BDDD278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BECB44-9C35-C6F6-5030-D763DE3995B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0FB794-8CF4-D0FE-4D3A-BD4F27AA1505}"/>
              </a:ext>
            </a:extLst>
          </p:cNvPr>
          <p:cNvSpPr txBox="1"/>
          <p:nvPr/>
        </p:nvSpPr>
        <p:spPr>
          <a:xfrm>
            <a:off x="3413152" y="962566"/>
            <a:ext cx="8292384" cy="840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Slide 7 – Wildfire Data Sources &amp; Features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Data Sources (examples)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USGS Combined Wildland Fire Dataset (fire perimeters)</a:t>
            </a:r>
          </a:p>
          <a:p>
            <a:r>
              <a:rPr lang="en-US" dirty="0">
                <a:solidFill>
                  <a:schemeClr val="bg1"/>
                </a:solidFill>
              </a:rPr>
              <a:t>NASA FIRMS (VIIRS/MODIS active fire points)</a:t>
            </a:r>
          </a:p>
          <a:p>
            <a:r>
              <a:rPr lang="en-US" dirty="0">
                <a:solidFill>
                  <a:schemeClr val="bg1"/>
                </a:solidFill>
              </a:rPr>
              <a:t>Weather data (temperature, wind, humidity)</a:t>
            </a:r>
          </a:p>
          <a:p>
            <a:r>
              <a:rPr lang="en-US" dirty="0">
                <a:solidFill>
                  <a:schemeClr val="bg1"/>
                </a:solidFill>
              </a:rPr>
              <a:t>Land cover &amp; terrain (slope, aspect, vegetation)</a:t>
            </a:r>
          </a:p>
          <a:p>
            <a:r>
              <a:rPr lang="en-US" dirty="0">
                <a:solidFill>
                  <a:schemeClr val="bg1"/>
                </a:solidFill>
              </a:rPr>
              <a:t>Kaggle / satellite image datasets for fire/smoke detection</a:t>
            </a:r>
          </a:p>
          <a:p>
            <a:r>
              <a:rPr lang="en-US" b="1" dirty="0">
                <a:solidFill>
                  <a:schemeClr val="bg1"/>
                </a:solidFill>
              </a:rPr>
              <a:t>Key Feature Types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Spatial: elevation, slope, distance to roads</a:t>
            </a:r>
          </a:p>
          <a:p>
            <a:r>
              <a:rPr lang="en-US" dirty="0">
                <a:solidFill>
                  <a:schemeClr val="bg1"/>
                </a:solidFill>
              </a:rPr>
              <a:t>Temporal: seasonality, drought index, recent rainfall</a:t>
            </a:r>
          </a:p>
          <a:p>
            <a:r>
              <a:rPr lang="en-US" dirty="0">
                <a:solidFill>
                  <a:schemeClr val="bg1"/>
                </a:solidFill>
              </a:rPr>
              <a:t>Human: population density, power lines, past fire history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Explain how geospatial + temporal data create a </a:t>
            </a:r>
            <a:r>
              <a:rPr lang="en-US" b="1" dirty="0">
                <a:solidFill>
                  <a:schemeClr val="bg1"/>
                </a:solidFill>
              </a:rPr>
              <a:t>feature cube</a:t>
            </a:r>
            <a:r>
              <a:rPr lang="en-US" dirty="0">
                <a:solidFill>
                  <a:schemeClr val="bg1"/>
                </a:solidFill>
              </a:rPr>
              <a:t> for each grid cell or image patch.</a:t>
            </a:r>
          </a:p>
          <a:p>
            <a:r>
              <a:rPr lang="en-US" dirty="0">
                <a:solidFill>
                  <a:schemeClr val="bg1"/>
                </a:solidFill>
              </a:rPr>
              <a:t>Stress data engineering complexity: reprojection, joining datasets, resampling time and space grids.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11_wildfire_data_ingestion.ipynb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Download/read USGS shapefiles, NASA FIRMS CSVs/</a:t>
            </a:r>
            <a:r>
              <a:rPr lang="en-US" dirty="0" err="1">
                <a:solidFill>
                  <a:schemeClr val="bg1"/>
                </a:solidFill>
              </a:rPr>
              <a:t>GeoTIFFs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dirty="0" err="1">
                <a:solidFill>
                  <a:schemeClr val="bg1"/>
                </a:solidFill>
              </a:rPr>
              <a:t>geopandas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rasterio</a:t>
            </a:r>
            <a:r>
              <a:rPr lang="en-US" dirty="0">
                <a:solidFill>
                  <a:schemeClr val="bg1"/>
                </a:solidFill>
              </a:rPr>
              <a:t> to: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Reproject to common CRS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Clip to region of interest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Rasterize fire perimeters to a grid</a:t>
            </a:r>
          </a:p>
          <a:p>
            <a:r>
              <a:rPr lang="en-US" dirty="0">
                <a:solidFill>
                  <a:schemeClr val="bg1"/>
                </a:solidFill>
              </a:rPr>
              <a:t>12_wildfire_feature_engineering.ipynb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Compute:</a:t>
            </a:r>
          </a:p>
          <a:p>
            <a:pPr lvl="2"/>
            <a:r>
              <a:rPr lang="en-US" dirty="0" err="1">
                <a:solidFill>
                  <a:schemeClr val="bg1"/>
                </a:solidFill>
              </a:rPr>
              <a:t>days_since_last_fire</a:t>
            </a:r>
            <a:endParaRPr lang="en-US" dirty="0">
              <a:solidFill>
                <a:schemeClr val="bg1"/>
              </a:solidFill>
            </a:endParaRPr>
          </a:p>
          <a:p>
            <a:pPr lvl="2"/>
            <a:r>
              <a:rPr lang="en-US" dirty="0">
                <a:solidFill>
                  <a:schemeClr val="bg1"/>
                </a:solidFill>
              </a:rPr>
              <a:t>Rolling mean of temperature/humidity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Vegetation indices (if using multispectral imagery)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Join all features into a single tabular dataset (X) with labels (y).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E2998C-9325-42A0-58DD-E03755613E4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A6DBD-E10B-03FE-E566-90416B5CCAC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126427-0A2B-97C7-F97D-82B1940C60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79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8E3-FAE6-A400-4738-E9D36369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BE99F8E-9D14-0E87-039A-57FD16431B44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C419719-9005-C754-348B-937ED7D11AB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F8A98013-F16B-1566-6341-7775F7C5B7D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F850809-79C0-5707-C304-26FD7F608AC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60042D3-E1BE-D6A5-F3E2-543D24B8AB23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90C9B7E-8C90-F894-E4D5-BE1EF341A5A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5326085A-9416-20DE-3100-6AEF8A4F211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29E816-CC2E-D080-FE16-1AFCE00E980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977F058-8154-ED31-8EE2-2D0B81D401F9}"/>
              </a:ext>
            </a:extLst>
          </p:cNvPr>
          <p:cNvSpPr txBox="1"/>
          <p:nvPr/>
        </p:nvSpPr>
        <p:spPr>
          <a:xfrm>
            <a:off x="3413152" y="962566"/>
            <a:ext cx="8292384" cy="840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A4F9C-1839-39D0-62CA-7DA40DD3AC41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4B9596-8783-3A0E-D95B-1FD23814F15B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4EB75B-6894-312D-9C7C-822D6024B7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33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BCC88-F880-9E35-1D6B-009C3F3DC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E56D95F-FB51-B716-CEE0-AB2A280A0444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EB98266B-C936-F28A-A543-CBD6044987C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1586D2DB-D683-6B81-7444-10574BACEF2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B051D2C-9235-E51E-EFE0-B78B1DED213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721DA46-72AE-255B-3527-7BB9D3CF052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2FE11AC-C075-5D97-4527-E20D1B457C1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CA2685D-2B75-E7F6-F6F9-6D36146C15E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1B2882-BB41-FC34-ADC7-48FE169BE19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1542209-1658-EFB7-7755-C587384D7107}"/>
              </a:ext>
            </a:extLst>
          </p:cNvPr>
          <p:cNvSpPr txBox="1"/>
          <p:nvPr/>
        </p:nvSpPr>
        <p:spPr>
          <a:xfrm>
            <a:off x="3413152" y="962566"/>
            <a:ext cx="8292384" cy="7571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8FB758-3D35-325C-652A-005FAF6D75C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8C481A-98D3-DB58-3BF9-BB3E37F6F57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1FDD8-8226-F17F-DE91-DBB72566BB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35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B9242-79A7-4801-86B6-37225A92F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E18AD35E-C65E-0408-35B3-BE5B9F575950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89D833E-08B3-D4A7-1C61-61D26FACD3B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480EF00-9F76-ABE6-F21C-556663F247D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67A8B331-75E8-0EBF-7779-92B3F8DB017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27B41A0-7681-F95B-8BC3-DF84B5F0E6DA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0E49C16-4A47-8564-7B1A-47A9493F009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12CBB588-8857-7F26-1A97-C4D52CF9F5A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346E27-A248-F046-D7B7-7AF494F186D9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721C64-16DF-81BE-2B76-8CB82C003190}"/>
              </a:ext>
            </a:extLst>
          </p:cNvPr>
          <p:cNvSpPr txBox="1"/>
          <p:nvPr/>
        </p:nvSpPr>
        <p:spPr>
          <a:xfrm>
            <a:off x="3413152" y="962566"/>
            <a:ext cx="8292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093264-6790-D23D-E6AA-F581567E157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150C17-7C82-1C00-2494-6353F415736C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1237CD-4D67-ED24-889A-7AB9F044B9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97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DB536-981A-C1B8-1B30-9F713F836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1B1285F-C40C-BF2B-0FA4-BAF13EB2C4B3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DC7B5F2-39E3-2176-4FB8-76665226A6E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CEBFD6B-1EA1-29BF-BF1A-106767898AA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4D24A44E-FA73-89F0-CEB2-46FF4222103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3EA3142-0B6C-8703-B933-F602DDE5CDF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E22D649-9DF2-4A37-7F6F-DEE485F0145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BF1E3FE-1289-FD5C-32DD-F84550FC34D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128D14C-1395-CF22-C036-463EE341B19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ED4457-9676-72BD-937B-F3237583128A}"/>
              </a:ext>
            </a:extLst>
          </p:cNvPr>
          <p:cNvSpPr txBox="1"/>
          <p:nvPr/>
        </p:nvSpPr>
        <p:spPr>
          <a:xfrm>
            <a:off x="3413152" y="962566"/>
            <a:ext cx="8292384" cy="8679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BEB57-447A-37F1-DDC2-2ACF532727E2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9985A2-EEBC-6A56-9E98-6DEE3FB64CC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921A84-828D-2DAC-1617-AA4096A512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602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D50E7-9D0D-5138-21F7-3F0CCB193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B0875B2-1492-6BCC-D68D-7C052C67258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FAB6D10-4F58-ED6D-47FB-635F280FEBA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485211B1-AB01-B188-724E-F9F1EC51C57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A0BC76F-47A3-A96A-3303-31026BDB513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D02D14A7-A043-34DF-9610-215CC416B81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2EC3961-714C-E590-0610-82E921AB989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8385B823-06A3-5BFB-F94F-C1AEC16BD99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23CEF5-BFA9-E09A-1824-4316EF19CFD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48A9471-B086-5063-E9F9-0CC0813FE437}"/>
              </a:ext>
            </a:extLst>
          </p:cNvPr>
          <p:cNvSpPr txBox="1"/>
          <p:nvPr/>
        </p:nvSpPr>
        <p:spPr>
          <a:xfrm>
            <a:off x="3413152" y="962566"/>
            <a:ext cx="8292384" cy="8679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B25BA9-17ED-E526-DC50-98FAA86BA4C7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257071-1FCC-0A26-7D4F-8AF7A3E4B4A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E94F17-FB73-59C1-48E3-DE6D331D87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004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B1083-D912-BBE8-BC64-729F3C537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3FC4EE6-9662-B52A-7D69-1B6CF3398F9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3BC2ECA-407D-1F05-4BC3-6FD6A1F959A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8DD565DA-4FA9-85C5-4F9F-DAFFEB4CE4B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9C66AC62-4E32-2C4C-E5BF-1287856602C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045ABE2-7288-BD5F-9D08-19F26A5BEF31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9DC6367-16C2-62C2-1F25-1D1C5667428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24244E1-2B8E-20B0-831C-9CC66CEB35B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F51589-6C6D-3C00-B4B1-04BCB24C5304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76F5BF-60D9-A731-A7DD-FA2098C2097E}"/>
              </a:ext>
            </a:extLst>
          </p:cNvPr>
          <p:cNvSpPr txBox="1"/>
          <p:nvPr/>
        </p:nvSpPr>
        <p:spPr>
          <a:xfrm>
            <a:off x="3413152" y="962566"/>
            <a:ext cx="82923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8F7F8-277D-E286-C925-9999896F65DF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59977D-39A5-70EA-3F60-56419514322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FABB2E-6733-BF0E-B52F-548F9B03CC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783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34AC6-76E6-E78F-2174-BE29FCDAB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4BA9F66-61AD-60CA-DFD0-BDB9694D000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AB62CAD3-C84F-1E57-B5B7-B2D6DA5C5E3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217694B-51F0-C675-964B-231CAC2FF00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B15047A0-FA11-B1F1-9263-C61A1CA9E67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A3F4944-A4DD-3DE6-2060-63EF373A16D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C99BC08-62C5-CA40-14CD-36F1ECC4640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D4DFC4C7-3BFF-400A-EE97-59BB89B8E56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AD3BF6-2B4C-A0B1-CA04-7E40D094154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8B7705E-C5BB-2B51-BC2E-0CA557826284}"/>
              </a:ext>
            </a:extLst>
          </p:cNvPr>
          <p:cNvSpPr txBox="1"/>
          <p:nvPr/>
        </p:nvSpPr>
        <p:spPr>
          <a:xfrm>
            <a:off x="3413152" y="962566"/>
            <a:ext cx="829238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19096E-47C1-2526-5DE5-6A21F0E44BEC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CCF10F-0F93-11C8-4DD3-7DAD0C9CAA41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516C0E-0FA6-3678-122C-65FF967BDD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2380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F365C-F38D-A614-4040-0D1CA5CA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72D763-F813-13DE-469C-52C0C61BB598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F2BC579D-4A9F-F7DB-688F-F6721349C00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EF7FAE2-F177-8854-6A8F-F363856405E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96209A4-514E-1704-223B-2D3647E563B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6CAD5FB-00D0-1064-DB59-73A583D8D77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A0498FE-FAF5-DD87-B8FC-E475B56C622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6E7DDDA-F5CC-5F08-AC9D-0E88B43EC50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345793-2D56-132E-EA57-4E319136CD6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C6A8757-7C75-2555-0BA0-8D6F99F98044}"/>
              </a:ext>
            </a:extLst>
          </p:cNvPr>
          <p:cNvSpPr txBox="1"/>
          <p:nvPr/>
        </p:nvSpPr>
        <p:spPr>
          <a:xfrm>
            <a:off x="3413152" y="962566"/>
            <a:ext cx="82923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B751D-7861-397C-79CE-2BAC2058DEC9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4997B7-99D4-A4B3-54E2-C1A33FD3743F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41FDF0-34A9-6A1D-ADA4-F88CA74D09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647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41E44-86AB-8337-D7AF-A3F52E55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A0B474B8-56D7-41D3-D710-D914EC6EFCFF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CEEAB86-E7A6-551D-AF1E-6212A6EB8D7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074DC27-D7AC-5159-FC7F-558988B57D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683C2828-F699-DC76-1684-E277D9E0055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95AF2486-6D9C-301E-81E7-6A3B4970459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8CA2891-B71E-02AD-4E5B-D67185A51200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6BEFE1B-E02A-752B-1915-F70FB030594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5059C42-5975-0CF2-7832-166190C7996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F17973-8A05-6B71-ADE1-741BE30BF434}"/>
              </a:ext>
            </a:extLst>
          </p:cNvPr>
          <p:cNvSpPr txBox="1"/>
          <p:nvPr/>
        </p:nvSpPr>
        <p:spPr>
          <a:xfrm>
            <a:off x="3413152" y="962566"/>
            <a:ext cx="8292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3ABC2E-4820-E1C3-70A3-1AC20FBD6C21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FBF32E-DF47-422E-6FA9-67E3B795F16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5B55F6-E7C7-E3EC-BB59-2DE8B9FC3C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15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AD84-19B8-E4B8-9C51-344D8531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C19FE885-6092-1DB1-0923-3A70B2C083E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9C624E7-DD38-0575-FEA8-5DD32196436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253A5A3-366A-011C-50B7-23E07679BB8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F466237-DACB-5D7C-8B4D-F3BAD2CF084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DDA6F0E9-B574-7391-AA3A-E772C9FEF4BA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12DA7C3-4DB6-CEE9-9AF3-CAF80D4B177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82F97AD-3216-EED4-790F-5ADB64377ACB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B25017-20C2-1A46-B5E2-338913CF5A20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F6AB51-B8A9-AC89-16BA-E5E572776B67}"/>
              </a:ext>
            </a:extLst>
          </p:cNvPr>
          <p:cNvSpPr txBox="1"/>
          <p:nvPr/>
        </p:nvSpPr>
        <p:spPr>
          <a:xfrm>
            <a:off x="3413152" y="962566"/>
            <a:ext cx="8292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564D58-D2BF-76C8-7023-B16419E9176E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720151-37B6-0744-2C11-F4F5F2348356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63933B-7F86-3212-6879-31ACEB69F4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7648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9872-5A16-D648-2F11-B4EF6EC1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6E9D4EB-DBA8-6F97-9DFD-2B5296D417C5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BB571D3-F54F-6E98-88B3-29281C8728A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D9AA2B0-87CC-8AC6-8E88-236CF450D37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D44367A-E837-BCD5-5BA6-A2C9AD52A4E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1DCDFE4-4366-058C-A76C-8C129684766C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23517DB-DA00-86C1-306B-A1E83D05AC4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5C22A7E-BF22-84C5-C0F9-8B848E4E09F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2FDD0E-5F26-C899-3B2C-57906DF73F1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362C7BF-3283-B827-65EA-37595F02D914}"/>
              </a:ext>
            </a:extLst>
          </p:cNvPr>
          <p:cNvSpPr txBox="1"/>
          <p:nvPr/>
        </p:nvSpPr>
        <p:spPr>
          <a:xfrm>
            <a:off x="3413152" y="962566"/>
            <a:ext cx="829238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“Questions</a:t>
            </a:r>
            <a:r>
              <a:rPr lang="en-US"/>
              <a:t>/Answers?”</a:t>
            </a:r>
            <a:endParaRPr lang="en-US" dirty="0"/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A5D9CF-F227-1BCF-4CEA-8492415F8D4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1C2B9A-CCC4-AA01-43CD-FB3D922D4A8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8A6805-B2AE-F06B-15BF-70F49D0FFA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032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258</TotalTime>
  <Words>21072</Words>
  <Application>Microsoft Office PowerPoint</Application>
  <PresentationFormat>Widescreen</PresentationFormat>
  <Paragraphs>2518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Prasad, Amrita</dc:creator>
  <cp:lastModifiedBy>RAVE Management</cp:lastModifiedBy>
  <cp:revision>6</cp:revision>
  <dcterms:created xsi:type="dcterms:W3CDTF">2024-10-21T18:39:22Z</dcterms:created>
  <dcterms:modified xsi:type="dcterms:W3CDTF">2025-12-05T07:47:10Z</dcterms:modified>
</cp:coreProperties>
</file>